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Lst>
  <p:sldSz cx="12192000" cy="6858000" type="custom"/>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Body"/>
          <p:cNvSpPr/>
          <p:nvPr>
            <p:ph type="body" idx="1"/>
          </p:nvPr>
        </p:nvSpPr>
        <p:spPr>
          <a:xfrm>
            <a:off x="685800" y="3505200"/>
            <a:ext cx="5486400" cy="4800600"/>
          </a:xfrm>
          <a:prstGeom prst="rect">
            <a:avLst/>
          </a:prstGeom>
        </p:spPr>
        <p:txBody>
          <a:bodyPr/>
          <a:lstStyle/>
          <a:p/>
        </p:txBody>
      </p:sp>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1 · Mini Git 실행부터 평가 설명까지</a:t>
            </a:r>
          </a:p>
          <a:p>
            <a:r>
              <a:rPr lang="ko-KR" sz="1800"/>
              <a:t/>
            </a:r>
          </a:p>
          <a:p>
            <a:r>
              <a:rPr lang="ko-KR" sz="1800"/>
              <a:t>이 자료는 AI-SW-Basic/b3-2의 실제 구현과 실행 기록을 바탕으로 만들었습니다. 순서는 실행, 검증, 원리 설명입니다. Mini Git은 파일 내용을 관리하는 완전한 Git이 아니라 커밋 메타데이터로 그래프·탐색·정렬·검색을 배우는 프로그램입니다.</a:t>
            </a:r>
          </a:p>
          <a:p>
            <a:r>
              <a:rPr lang="ko-KR" sz="1800"/>
              <a:t/>
            </a:r>
          </a:p>
          <a:p>
            <a:r>
              <a:rPr lang="ko-KR" sz="1800"/>
              <a:t>근거: 과제 · 최종검수결과.md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2 · 발표에서 답할 세 가지</a:t>
            </a:r>
          </a:p>
          <a:p>
            <a:r>
              <a:rPr lang="ko-KR" sz="1800"/>
              <a:t/>
            </a:r>
          </a:p>
          <a:p>
            <a:r>
              <a:rPr lang="ko-KR" sz="1800"/>
              <a:t>프로그램은 실행된다는 사실만으로 정답이라고 할 수 없습니다. 과제의 조건을 결과와 연결해야 합니다. 예를 들어 LOG는 출력이 있는지뿐 아니라 부모가 먼저 나오는지 봐야 합니다. 오늘의 세 가지 질문은 실행 방법, 확인 기준, 증거 위치입니다.</a:t>
            </a:r>
          </a:p>
          <a:p>
            <a:r>
              <a:rPr lang="ko-KR" sz="1800"/>
              <a:t/>
            </a:r>
          </a:p>
          <a:p>
            <a:r>
              <a:rPr lang="ko-KR" sz="1800"/>
              <a:t>상세 설명 및 문답 전체</a:t>
            </a:r>
          </a:p>
          <a:p>
            <a:r>
              <a:rPr lang="ko-KR" sz="1800"/>
              <a:t/>
            </a:r>
          </a:p>
          <a:p>
            <a:r>
              <a:rPr lang="ko-KR" sz="1800"/>
              <a:t>이 자료는 mini_git/에 구현한 CLI 기반 Mini Git이 과제 목표를 어떻게 만족하는지, 평가자 앞에서 아주 쉬운 말로 설명할 수 있</a:t>
            </a:r>
          </a:p>
          <a:p>
            <a:r>
              <a:rPr lang="ko-KR" sz="1800"/>
              <a:t>도록 정리한 문서입니다. 외워서 말하기보다, 아래 설명을 본인 말투로 바꿔서 연습하는 용도로 사용하세요. 검증 근거는 실행 결</a:t>
            </a:r>
          </a:p>
          <a:p>
            <a:r>
              <a:rPr lang="ko-KR" sz="1800"/>
              <a:t>과 (제출/실행결과.md)와 회귀 테스트 (tests/test_mini_git.py)입니다. 2026-10-09, Python 3.12.13에서 회귀 테스트 15개를</a:t>
            </a:r>
          </a:p>
          <a:p>
            <a:r>
              <a:rPr lang="ko-KR" sz="1800"/>
              <a:t>통과했습니다.</a:t>
            </a:r>
          </a:p>
          <a:p>
            <a:r>
              <a:rPr lang="ko-KR" sz="1800"/>
              <a:t/>
            </a:r>
          </a:p>
          <a:p>
            <a:r>
              <a:rPr lang="ko-KR" sz="1800"/>
              <a:t>근거: README.md · 제출/실행결과.md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3 · 먼저 폴더의 역할을 구분하세요</a:t>
            </a:r>
          </a:p>
          <a:p>
            <a:r>
              <a:rPr lang="ko-KR" sz="1800"/>
              <a:t/>
            </a:r>
          </a:p>
          <a:p>
            <a:r>
              <a:rPr lang="ko-KR" sz="1800"/>
              <a:t>모든 파일 경로는 b3-2를 기준으로 말합니다. main.py만 전달하면 내부 패키지를 찾을 수 없으므로 mini_git 폴더도 함께 있어야 합니다. 과제 원문은 요구사항, 최종검수결과는 요구사항별 판단, 평가질문_설명자료는 답변 연습 자료입니다. results의 텍스트는 실행 흔적이며 테스트 소스와 구분합니다.</a:t>
            </a:r>
          </a:p>
          <a:p>
            <a:r>
              <a:rPr lang="ko-KR" sz="1800"/>
              <a:t/>
            </a:r>
          </a:p>
          <a:p>
            <a:r>
              <a:rPr lang="ko-KR" sz="1800"/>
              <a:t>근거: b3-2/ 전체 파일 구조</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4 · 실행은 이 세 줄로 시작합니다</a:t>
            </a:r>
          </a:p>
          <a:p>
            <a:r>
              <a:rPr lang="ko-KR" sz="1800"/>
              <a:t/>
            </a:r>
          </a:p>
          <a:p>
            <a:r>
              <a:rPr lang="ko-KR" sz="1800"/>
              <a:t>터미널은 프로그램을 시작하는 장소입니다. 시작 뒤 mini-git&gt;가 보이면 그때부터는 Mini Git 명령을 입력합니다. python과 python3는 컴퓨터 설정에 따라 이름이 다릅니다. 이번 검증에 사용한 버전은 Python 3.12.13입니다. 표시된 경로가 다르면 실제 프로젝트 위치로 cd 하세요.</a:t>
            </a:r>
          </a:p>
          <a:p>
            <a:r>
              <a:rPr lang="ko-KR" sz="1800"/>
              <a:t/>
            </a:r>
          </a:p>
          <a:p>
            <a:r>
              <a:rPr lang="ko-KR" sz="1800"/>
              <a:t>근거: main.py · README.md · mini_git/cli.py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5 · 브랜치가 갈라지는 상황을 만들어 봅니다</a:t>
            </a:r>
          </a:p>
          <a:p>
            <a:r>
              <a:rPr lang="ko-KR" sz="1800"/>
              <a:t/>
            </a:r>
          </a:p>
          <a:p>
            <a:r>
              <a:rPr lang="ko-KR" sz="1800"/>
              <a:t>첫 커밋을 만든 다음 feature를 만듭니다. feature는 그 순간의 커밋을 가리키는 이름표입니다. feature에서 로그인 커밋을 만들고 main으로 돌아오면 main은 여전히 Initial을 가리킵니다. 그래서 결제 커밋도 Initial을 부모로 합니다. branch는 전환하지 않으며 switch가 전환합니다. 사용자명·메시지에 공백이 있으면 따옴표를 씁니다.</a:t>
            </a:r>
          </a:p>
          <a:p>
            <a:r>
              <a:rPr lang="ko-KR" sz="1800"/>
              <a:t/>
            </a:r>
          </a:p>
          <a:p>
            <a:r>
              <a:rPr lang="ko-KR" sz="1800"/>
              <a:t>근거: 제출/results/01_저장소_브랜치_관리.txt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6 · 출력에 무엇이 보이면 성공일까요?</a:t>
            </a:r>
          </a:p>
          <a:p>
            <a:r>
              <a:rPr lang="ko-KR" sz="1800"/>
              <a:t/>
            </a:r>
          </a:p>
          <a:p>
            <a:r>
              <a:rPr lang="ko-KR" sz="1800"/>
              <a:t>hash는 커밋의 식별자이지 외워야 할 정답이 아닙니다. 실제 화면에 나온 hash를 사용해야 합니다. 로그에서는 hash, author, timestamp, message가 식별 가능해야 합니다. 한 세션에서는 작성자가 한 명이므로 author 정렬의 순서 변화가 눈에 보이지 않을 수 있습니다. 서로 다른 작성자의 정렬은 테스트에서 별도로 확인합니다.</a:t>
            </a:r>
          </a:p>
          <a:p>
            <a:r>
              <a:rPr lang="ko-KR" sz="1800"/>
              <a:t/>
            </a:r>
          </a:p>
          <a:p>
            <a:r>
              <a:rPr lang="ko-KR" sz="1800"/>
              <a:t>근거: 제출/results/01·02·03·06 파일</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7 · PATH와 ANCESTORS는 실제 hash로 확인합니다</a:t>
            </a:r>
          </a:p>
          <a:p>
            <a:r>
              <a:rPr lang="ko-KR" sz="1800"/>
              <a:t/>
            </a:r>
          </a:p>
          <a:p>
            <a:r>
              <a:rPr lang="ko-KR" sz="1800"/>
              <a:t>mini-git&gt; 프롬프트에서 LOG로 hash를 확인한 뒤 PATH 5fa901 837f82와 ANCESTORS 837f82를 입력합니다. 이 명령은 사용자가 제시한 실행 로그의 hash를 사용한 예시이며, 로그인과 결제 커밋이 최초 커밋을 공통 부모로 갖는 흐름을 기준으로 합니다. 새 세션에서는 hash가 달라지므로 현재 LOG의 값으로 바꿉니다. PATH는 Login → Initial → Payment로 간선 두 개를 지나며, 화살표는 경로 순서입니다. ANCESTORS는 부모 방향만 따라가고 자신은 제외합니다. ANCESTORS 0a7990은 No ancestors.를 출력합니다. PATH가 자기 자신이면 간선 수는 0입니다. 경로가 없으면 No path, 존재하지 않는 hash면 Unknown commit입니다.</a:t>
            </a:r>
          </a:p>
          <a:p>
            <a:r>
              <a:rPr lang="ko-KR" sz="1800"/>
              <a:t/>
            </a:r>
          </a:p>
          <a:p>
            <a:r>
              <a:rPr lang="ko-KR" sz="1800"/>
              <a:t>근거: 사용자 실행 LOG 예시 · 제출/results/04_PATH_최단경로.txt · 05_ANCESTORS.txt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8 · 자동 검증은 한 명령으로 재현합니다</a:t>
            </a:r>
          </a:p>
          <a:p>
            <a:r>
              <a:rPr lang="ko-KR" sz="1800"/>
              <a:t/>
            </a:r>
          </a:p>
          <a:p>
            <a:r>
              <a:rPr lang="ko-KR" sz="1800"/>
              <a:t>unittest는 Python에 들어 있는 테스트 실행 도구입니다. -s tests는 tests 폴더를 검사하라는 뜻이고 -v는 검사 이름을 자세히 보여줍니다. -B는 파이썬 캐시 파일 생성을 막는 선택 옵션입니다. 각 test 함수는 여러 assert와 반복 입력을 포함합니다. FAIL 또는 ERROR가 나오면 해당 이름과 마지막 오류 메시지를 읽어야 합니다. tests의 코드는 검사 방법이며 results/11은 검사 기록입니다.</a:t>
            </a:r>
          </a:p>
          <a:p>
            <a:r>
              <a:rPr lang="ko-KR" sz="1800"/>
              <a:t/>
            </a:r>
          </a:p>
          <a:p>
            <a:r>
              <a:rPr lang="ko-KR" sz="1800"/>
              <a:t>근거: tests/test_mini_git.py · 제출/results/11_자동검증.txt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9 · 평가자에게 보여 줄 근거 위치</a:t>
            </a:r>
          </a:p>
          <a:p>
            <a:r>
              <a:rPr lang="ko-KR" sz="1800"/>
              <a:t/>
            </a:r>
          </a:p>
          <a:p>
            <a:r>
              <a:rPr lang="ko-KR" sz="1800"/>
              <a:t>01~09 및 10 중 09를 제외한 기록은 dispatch 함수에 실제 명령을 전달한 출력입니다. 09는 main.py 별도 프로세스 종료 기록입니다. 테스트 안에서도 main.py를 직접 실행합니다. 따라서 모든 텍스트를 화면 캡처라고 부르지 않습니다. 오늘 PPT와 발표 노트는 제출/발표자료에 저장합니다.</a:t>
            </a:r>
          </a:p>
          <a:p>
            <a:r>
              <a:rPr lang="ko-KR" sz="1800"/>
              <a:t/>
            </a:r>
          </a:p>
          <a:p>
            <a:r>
              <a:rPr lang="ko-KR" sz="1800"/>
              <a:t>근거: 모든 경로는 AI-SW-Basic/b3-2/ 기준</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10 · 검수에서 발견한 문제를 이렇게 고쳤습니다</a:t>
            </a:r>
          </a:p>
          <a:p>
            <a:r>
              <a:rPr lang="ko-KR" sz="1800"/>
              <a:t/>
            </a:r>
          </a:p>
          <a:p>
            <a:r>
              <a:rPr lang="ko-KR" sz="1800"/>
              <a:t>회귀 테스트는 한 번 고친 문제가 다시 생기지 않게 하는 검사입니다. 중복 검색은 메시지 login login LOGIN으로 확인합니다. 검색 결과는 단어 등장 횟수가 아니라 커밋 개수입니다. branch main을 다른 브랜치에서 호출해도 main이 이동하지 않아야 합니다. Python 3.9.6의 과거 검수 대신 3.12.13 검증을 기준으로 설명합니다.</a:t>
            </a:r>
          </a:p>
          <a:p>
            <a:r>
              <a:rPr lang="ko-KR" sz="1800"/>
              <a:t/>
            </a:r>
          </a:p>
          <a:p>
            <a:r>
              <a:rPr lang="ko-KR" sz="1800"/>
              <a:t>근거: 제출/results/10_보완_회귀검증.txt · tests/test_mini_git.py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11 · 입력과 알고리즘을 나눈 이유</a:t>
            </a:r>
          </a:p>
          <a:p>
            <a:r>
              <a:rPr lang="ko-KR" sz="1800"/>
              <a:t/>
            </a:r>
          </a:p>
          <a:p>
            <a:r>
              <a:rPr lang="ko-KR" sz="1800"/>
              <a:t>초보자가 코드를 읽을 때는 실행 시작점부터 따라가면 됩니다. cli는 입력 문장을 해석하고 repository 메서드를 호출합니다. repository는 상태를 바꾸거나 알고리즘에 조회를 부탁합니다. 이를 함수와 클래스로 나누는 것은 과제의 필수 제약이기도 합니다. 테스트는 화면을 거치지 않고 알고리즘을 직접 호출할 수 있습니다.</a:t>
            </a:r>
          </a:p>
          <a:p>
            <a:r>
              <a:rPr lang="ko-KR" sz="1800"/>
              <a:t/>
            </a:r>
          </a:p>
          <a:p>
            <a:r>
              <a:rPr lang="ko-KR" sz="1800"/>
              <a:t>상세 설명 및 문답 전체</a:t>
            </a:r>
          </a:p>
          <a:p>
            <a:r>
              <a:rPr lang="ko-KR" sz="1800"/>
              <a:t/>
            </a:r>
          </a:p>
          <a:p>
            <a:r>
              <a:rPr lang="ko-KR" sz="1800"/>
              <a:t>이번 과제는 그래프 전용 라이브러리와 sorted()/list.sort() 없이, 커밋 그래프 탐색(위상 정렬·최단 경로·조상)과 정렬 알고리즘</a:t>
            </a:r>
          </a:p>
          <a:p>
            <a:r>
              <a:rPr lang="ko-KR" sz="1800"/>
              <a:t>을 직접 구현해 만든 CLI 기반 Mini Git입니다.</a:t>
            </a:r>
          </a:p>
          <a:p>
            <a:r>
              <a:rPr lang="ko-KR" sz="1800"/>
              <a:t/>
            </a:r>
          </a:p>
          <a:p>
            <a:r>
              <a:rPr lang="ko-KR" sz="1800"/>
              <a:t>main.py                 ← 엔트리 포인트</a:t>
            </a:r>
          </a:p>
          <a:p>
            <a:r>
              <a:rPr lang="ko-KR" sz="1800"/>
              <a:t>mini_git/</a:t>
            </a:r>
          </a:p>
          <a:p>
            <a:r>
              <a:rPr lang="ko-KR" sz="1800"/>
              <a:t>├── cli.py                REPL, 명령어 파싱, 출력 포맷팅</a:t>
            </a:r>
          </a:p>
          <a:p>
            <a:r>
              <a:rPr lang="ko-KR" sz="1800"/>
              <a:t>├── repository.py          저장소 상태(브랜치/HEAD/사용자) 관리</a:t>
            </a:r>
          </a:p>
          <a:p>
            <a:r>
              <a:rPr lang="ko-KR" sz="1800"/>
              <a:t>├── commit.py               Commit 노드 + 세션 내 유일한 hash 생성</a:t>
            </a:r>
          </a:p>
          <a:p>
            <a:r>
              <a:rPr lang="ko-KR" sz="1800"/>
              <a:t>├── traversal.py             위상 정렬 / 최단 경로 / 조상 탐색</a:t>
            </a:r>
          </a:p>
          <a:p>
            <a:r>
              <a:rPr lang="ko-KR" sz="1800"/>
              <a:t>├── sorting.py                직접 구현한 병합 정렬</a:t>
            </a:r>
          </a:p>
          <a:p>
            <a:r>
              <a:rPr lang="ko-KR" sz="1800"/>
              <a:t>├── index.py                   역색인</a:t>
            </a:r>
          </a:p>
          <a:p>
            <a:r>
              <a:rPr lang="ko-KR" sz="1800"/>
              <a:t>└── errors.py                   표준 에러 예외 클래스</a:t>
            </a:r>
          </a:p>
          <a:p>
            <a:r>
              <a:rPr lang="ko-KR" sz="1800"/>
              <a:t/>
            </a:r>
          </a:p>
          <a:p>
            <a:r>
              <a:rPr lang="ko-KR" sz="1800"/>
              <a:t>INIT/BRANCH/SWITCH/COMMIT(저장소·브랜치 관리) + LOG/LOG --sort-by(로그) + PATH/ANCESTORS(탐색) + SEARC</a:t>
            </a:r>
          </a:p>
          <a:p>
            <a:r>
              <a:rPr lang="ko-KR" sz="1800"/>
              <a:t>H(검색), 총 8개 명령이 모두 동작합니다.</a:t>
            </a:r>
          </a:p>
          <a:p>
            <a:r>
              <a:rPr lang="ko-KR" sz="1800"/>
              <a:t/>
            </a:r>
          </a:p>
          <a:p>
            <a:r>
              <a:rPr lang="ko-KR" sz="1800"/>
              <a:t>근거: main.py · mini_git/cli.py · repository.py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12 · 커밋 그래프는 왜 DAG인가요?</a:t>
            </a:r>
          </a:p>
          <a:p>
            <a:r>
              <a:rPr lang="ko-KR" sz="1800"/>
              <a:t/>
            </a:r>
          </a:p>
          <a:p>
            <a:r>
              <a:rPr lang="ko-KR" sz="1800"/>
              <a:t>평가 답변: DAG는 Directed Acyclic Graph의 약자로, 방향성 비순환 그래프입니다. 커밋 하나가 노드이고, 자식 커밋에서 부모 커밋으로 향하는 참조가 간선이므로 방향성이 있습니다. 새 커밋은 이미 만들어진 커밋만 부모로 참조하며, 기존 커밋의 부모 참조는 바꾸지 않습니다. 따라서 부모를 한 번 따라갈 때마다 생성 순서가 반드시 더 이전으로 갑니다. 더 이전으로만 이동해서는 출발 커밋으로 돌아올 수 없으므로 순환이 없습니다. 이 두 조건을 만족하여 커밋 그래프는 DAG입니다.</a:t>
            </a:r>
          </a:p>
          <a:p>
            <a:r>
              <a:rPr lang="ko-KR" sz="1800"/>
              <a:t/>
            </a:r>
          </a:p>
          <a:p>
            <a:r>
              <a:rPr lang="ko-KR" sz="1800"/>
              <a:t>그림 설명: A를 먼저 만들고, A를 부모로 하는 B와 C를 만듭니다. B → A와 C → A는 가능하지만 A가 나중에 생긴 B나 C를 부모로 참조하지는 않습니다. B → A → B처럼 화살표를 따라 출발점으로 돌아오는 경로가 있으면 순환이며 DAG가 아닙니다.</a:t>
            </a:r>
          </a:p>
          <a:p>
            <a:r>
              <a:rPr lang="ko-KR" sz="1800"/>
              <a:t/>
            </a:r>
          </a:p>
          <a:p>
            <a:r>
              <a:rPr lang="ko-KR" sz="1800"/>
              <a:t>주의: 여기서 이전은 timestamp 값이 아니라 생성 순서를 뜻합니다. PC 시계가 바뀌어도 부모는 생성 당시 존재한 커밋입니다. 병합으로 두 경로가 합쳐져도, 새 병합 커밋이 기존 커밋들을 부모로 참조하고 기존 부모 참조가 유지되면 방향성 순환은 생기지 않습니다. DAG는 반드시 트리일 필요가 없습니다. Mini Git의 정상 COMMIT 명령은 기존 HEAD를 부모로 저장하며 기존 커밋의 parents를 수정하지 않습니다. Commit 클래스 자체는 변경 가능한 Python 객체이므로 외부 코드가 parents를 임의로 변경하는 상황까지 이 생성 규칙이 보장하는 것은 아닙니다. CLI MERGE는 구현하지 않았고, 다중 부모는 자료구조와 테스트에서 지원합니다.</a:t>
            </a:r>
          </a:p>
          <a:p>
            <a:r>
              <a:rPr lang="ko-KR" sz="1800"/>
              <a:t/>
            </a:r>
          </a:p>
          <a:p>
            <a:r>
              <a:rPr lang="ko-KR" sz="1800"/>
              <a:t>상세 설명 및 문답 전체</a:t>
            </a:r>
          </a:p>
          <a:p>
            <a:r>
              <a:rPr lang="ko-KR" sz="1800"/>
              <a:t/>
            </a:r>
          </a:p>
          <a:p>
            <a:r>
              <a:rPr lang="ko-KR" sz="1800"/>
              <a:t>아주 쉬운 설명: 커밋 하나는 commit.py의 Commit 클래스로 표현됩니다.</a:t>
            </a:r>
          </a:p>
          <a:p>
            <a:r>
              <a:rPr lang="ko-KR" sz="1800"/>
              <a:t/>
            </a:r>
          </a:p>
          <a:p>
            <a:r>
              <a:rPr lang="ko-KR" sz="1800"/>
              <a:t>class Commit:</a:t>
            </a:r>
          </a:p>
          <a:p>
            <a:r>
              <a:rPr lang="ko-KR" sz="1800"/>
              <a:t>    def __init__(self, commit_hash, message, author, timestamp, parents, branch):</a:t>
            </a:r>
          </a:p>
          <a:p>
            <a:r>
              <a:rPr lang="ko-KR" sz="1800"/>
              <a:t>        self.hash = commit_hash</a:t>
            </a:r>
          </a:p>
          <a:p>
            <a:r>
              <a:rPr lang="ko-KR" sz="1800"/>
              <a:t>        self.message = message</a:t>
            </a:r>
          </a:p>
          <a:p>
            <a:r>
              <a:rPr lang="ko-KR" sz="1800"/>
              <a:t>        self.author = author</a:t>
            </a:r>
          </a:p>
          <a:p>
            <a:r>
              <a:rPr lang="ko-KR" sz="1800"/>
              <a:t>        self.timestamp = timestamp</a:t>
            </a:r>
          </a:p>
          <a:p>
            <a:r>
              <a:rPr lang="ko-KR" sz="1800"/>
              <a:t>        self.parents = list(parents)  # 0개, 1개, 또는 2개(병합) 부모 hash</a:t>
            </a:r>
          </a:p>
          <a:p>
            <a:r>
              <a:rPr lang="ko-KR" sz="1800"/>
              <a:t>        self.branch = branch</a:t>
            </a:r>
          </a:p>
          <a:p>
            <a:r>
              <a:rPr lang="ko-KR" sz="1800"/>
              <a:t/>
            </a:r>
          </a:p>
          <a:p>
            <a:r>
              <a:rPr lang="ko-KR" sz="1800"/>
              <a:t>각 커밋은 parents로 "자신보다 먼저 존재했던" 커밋(들)만 가리킵니다. 이 참조들을 전부 모으면, 커밋을 노드로 하고 "자식 →</a:t>
            </a:r>
          </a:p>
          <a:p>
            <a:r>
              <a:rPr lang="ko-KR" sz="1800"/>
              <a:t>부모" 참조를 간선으로 하는 그래프가 만들어집니다.</a:t>
            </a:r>
          </a:p>
          <a:p>
            <a:r>
              <a:rPr lang="ko-KR" sz="1800"/>
              <a:t/>
            </a:r>
          </a:p>
          <a:p>
            <a:r>
              <a:rPr lang="ko-KR" sz="1800"/>
              <a:t>왜 방향성(Directed)인가: parents 참조는 항상 "과거"만 가리킵니다. 커밋 B가 커밋 A를 부모로 가진다는 것은 "B가 A보다 나중</a:t>
            </a:r>
          </a:p>
          <a:p>
            <a:r>
              <a:rPr lang="ko-KR" sz="1800"/>
              <a:t>에 만들어졌다"는 뜻이고, 이 관계는 절대 뒤집힐 수 없습니다(A가 B의 부모이면서 동시에 B가 A의 부모일 수 없음). 그래서 간선</a:t>
            </a:r>
          </a:p>
          <a:p>
            <a:r>
              <a:rPr lang="ko-KR" sz="1800"/>
              <a:t>에 방향이 있습니다.</a:t>
            </a:r>
          </a:p>
          <a:p>
            <a:r>
              <a:rPr lang="ko-KR" sz="1800"/>
              <a:t/>
            </a:r>
          </a:p>
          <a:p>
            <a:r>
              <a:rPr lang="ko-KR" sz="1800"/>
              <a:t>왜 비순환(Acyclic)인가: 순환이 있으려면 "A → B → C → A"처럼 자기 자신에게 돌아오는 경로가 있어야 하는데, 이는 "A가 자기</a:t>
            </a:r>
          </a:p>
          <a:p>
            <a:r>
              <a:rPr lang="ko-KR" sz="1800"/>
              <a:t>자신보다 나중에 만들어졌다"는 모순을 뜻합니다. COMMIT 명령이 항상 "현재 시점의 HEAD를 부모로 하는 새 커밋"만 만들 수</a:t>
            </a:r>
          </a:p>
          <a:p>
            <a:r>
              <a:rPr lang="ko-KR" sz="1800"/>
              <a:t>있게 되어 있어서(repository.commit()), 구조적으로 이미 존재하는 커밋을 미래의 부모로 되돌릴 방법이 없습니다.</a:t>
            </a:r>
          </a:p>
          <a:p>
            <a:r>
              <a:rPr lang="ko-KR" sz="1800"/>
              <a:t/>
            </a:r>
          </a:p>
          <a:p>
            <a:r>
              <a:rPr lang="ko-KR" sz="1800"/>
              <a:t>방향이 있으면서 사이클이 없는 그래프 = DAG(Directed Acyclic Graph)이고, 병합 커밋으로 부모가 2개가 되어도(브랜치 두 개</a:t>
            </a:r>
          </a:p>
          <a:p>
            <a:r>
              <a:rPr lang="ko-KR" sz="1800"/>
              <a:t>가 합쳐져도) 이 두 성질은 그대로 유지됩니다.</a:t>
            </a:r>
          </a:p>
          <a:p>
            <a:r>
              <a:rPr lang="ko-KR" sz="1800"/>
              <a:t/>
            </a:r>
          </a:p>
          <a:p>
            <a:r>
              <a:rPr lang="ko-KR" sz="1800"/>
              <a:t>Q1. 병합 커밋(부모 2개)이 생기면 DAG 성질이 깨지지 않는가?</a:t>
            </a:r>
          </a:p>
          <a:p>
            <a:r>
              <a:rPr lang="ko-KR" sz="1800"/>
              <a:t/>
            </a:r>
          </a:p>
          <a:p>
            <a:r>
              <a:rPr lang="ko-KR" sz="1800"/>
              <a:t>깨지지 않습니다. 부모가 1개든 2개든, "자식이 부모보다 나중에 만들어졌다"는 방향성과 "자기 자신으로 돌아오는 경로가 없다"</a:t>
            </a:r>
          </a:p>
          <a:p>
            <a:r>
              <a:rPr lang="ko-KR" sz="1800"/>
              <a:t>는 비순환성은 그대로 유지됩니다. traversal.py의 세 함수(위상 정렬/최단 경로/조상) 모두 commit.parents의 길이를 가정하지</a:t>
            </a:r>
          </a:p>
          <a:p>
            <a:r>
              <a:rPr lang="ko-KR" sz="1800"/>
              <a:t>않고 일반적으로 순회하도록 작성해서, 병합 커밋이 있어도 코드 수정 없이 그대로 동작합니다(단위 테스트에서 다이아몬드형 그</a:t>
            </a:r>
          </a:p>
          <a:p>
            <a:r>
              <a:rPr lang="ko-KR" sz="1800"/>
              <a:t>래프로 이미 검증).</a:t>
            </a:r>
          </a:p>
          <a:p>
            <a:r>
              <a:rPr lang="ko-KR" sz="1800"/>
              <a:t/>
            </a:r>
          </a:p>
          <a:p>
            <a:r>
              <a:rPr lang="ko-KR" sz="1800"/>
              <a:t>근거: mini_git/commit.py · repository.py: commit()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13 · 브랜치와 HEAD는 ‘끝을 가리키는 이름표’</a:t>
            </a:r>
          </a:p>
          <a:p>
            <a:r>
              <a:rPr lang="ko-KR" sz="1800"/>
              <a:t/>
            </a:r>
          </a:p>
          <a:p>
            <a:r>
              <a:rPr lang="ko-KR" sz="1800"/>
              <a:t>HEAD를 커밋 하나를 담는 별도 객체라고 생각할 필요는 없습니다. 이 구현에서는 current_branch가 현재 브랜치를 나타내고 branches[current_branch]가 현재 커밋입니다. branch는 저장된 커밋을 복제하지 않습니다. 같은 커밋을 가리키는 이름표를 추가합니다. COMMIT은 현재 브랜치만 앞으로 이동시킵니다.</a:t>
            </a:r>
          </a:p>
          <a:p>
            <a:r>
              <a:rPr lang="ko-KR" sz="1800"/>
              <a:t/>
            </a:r>
          </a:p>
          <a:p>
            <a:r>
              <a:rPr lang="ko-KR" sz="1800"/>
              <a:t>근거: mini_git/repository.py: branch(), switch(), commit()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14 · LOG: 선수과목을 먼저 출력하는 방식</a:t>
            </a:r>
          </a:p>
          <a:p>
            <a:r>
              <a:rPr lang="ko-KR" sz="1800"/>
              <a:t/>
            </a:r>
          </a:p>
          <a:p>
            <a:r>
              <a:rPr lang="ko-KR" sz="1800"/>
              <a:t>진입차수라는 어려운 용어는 아직 처리되지 않은 선수과목 수라고 풀어 설명합니다. FIFO는 먼저 들어온 것이 먼저 나오는 줄입니다. 동시에 후보가 된 커밋은 이 큐 순서를 따릅니다. 최신순 정렬은 요구사항을 만족하지 않습니다. 위상 정렬은 날짜가 아니라 관계를 사용하므로 부모 우선을 보장합니다. 시간복잡도는 V개 커밋과 E개 연결을 처리하는 O(V+E)입니다.</a:t>
            </a:r>
          </a:p>
          <a:p>
            <a:r>
              <a:rPr lang="ko-KR" sz="1800"/>
              <a:t/>
            </a:r>
          </a:p>
          <a:p>
            <a:r>
              <a:rPr lang="ko-KR" sz="1800"/>
              <a:t>상세 설명 및 문답 전체</a:t>
            </a:r>
          </a:p>
          <a:p>
            <a:r>
              <a:rPr lang="ko-KR" sz="1800"/>
              <a:t/>
            </a:r>
          </a:p>
          <a:p>
            <a:r>
              <a:rPr lang="ko-KR" sz="1800"/>
              <a:t>traversal.topological_order는 Kahn의 알고리즘을 씁니다. 커밋의 부모 참조(자식→부모)를 뒤집어 부모→자식 간선으로 처리</a:t>
            </a:r>
          </a:p>
          <a:p>
            <a:r>
              <a:rPr lang="ko-KR" sz="1800"/>
              <a:t>하므로 부모 수가 이 그래프의 진입차수가 됩니다.</a:t>
            </a:r>
          </a:p>
          <a:p>
            <a:r>
              <a:rPr lang="ko-KR" sz="1800"/>
              <a:t/>
            </a:r>
          </a:p>
          <a:p>
            <a:r>
              <a:rPr lang="ko-KR" sz="1800"/>
              <a:t>in_degree = {h: len(c.parents) for h, c in commits.items()}</a:t>
            </a:r>
          </a:p>
          <a:p>
            <a:r>
              <a:rPr lang="ko-KR" sz="1800"/>
              <a:t>children = {h: [] for h in commits}</a:t>
            </a:r>
          </a:p>
          <a:p>
            <a:r>
              <a:rPr lang="ko-KR" sz="1800"/>
              <a:t>for h, c in commits.items():</a:t>
            </a:r>
          </a:p>
          <a:p>
            <a:r>
              <a:rPr lang="ko-KR" sz="1800"/>
              <a:t>    for p in c.parents:</a:t>
            </a:r>
          </a:p>
          <a:p>
            <a:r>
              <a:rPr lang="ko-KR" sz="1800"/>
              <a:t>        children[p].append(h)</a:t>
            </a:r>
          </a:p>
          <a:p>
            <a:r>
              <a:rPr lang="ko-KR" sz="1800"/>
              <a:t/>
            </a:r>
          </a:p>
          <a:p>
            <a:r>
              <a:rPr lang="ko-KR" sz="1800"/>
              <a:t>queue = [h for h in commits if in_degree[h] == 0]  # 부모 없는 커밋부터 시작</a:t>
            </a:r>
          </a:p>
          <a:p>
            <a:r>
              <a:rPr lang="ko-KR" sz="1800"/>
              <a:t>result = []</a:t>
            </a:r>
          </a:p>
          <a:p>
            <a:r>
              <a:rPr lang="ko-KR" sz="1800"/>
              <a:t>head = 0</a:t>
            </a:r>
          </a:p>
          <a:p>
            <a:r>
              <a:rPr lang="ko-KR" sz="1800"/>
              <a:t>while head &lt; len(queue):</a:t>
            </a:r>
          </a:p>
          <a:p>
            <a:r>
              <a:rPr lang="ko-KR" sz="1800"/>
              <a:t>    current = queue[head]</a:t>
            </a:r>
          </a:p>
          <a:p>
            <a:r>
              <a:rPr lang="ko-KR" sz="1800"/>
              <a:t>    head += 1</a:t>
            </a:r>
          </a:p>
          <a:p>
            <a:r>
              <a:rPr lang="ko-KR" sz="1800"/>
              <a:t>    result.append(current)</a:t>
            </a:r>
          </a:p>
          <a:p>
            <a:r>
              <a:rPr lang="ko-KR" sz="1800"/>
              <a:t>    for child in children[current]:</a:t>
            </a:r>
          </a:p>
          <a:p>
            <a:r>
              <a:rPr lang="ko-KR" sz="1800"/>
              <a:t/>
            </a:r>
          </a:p>
          <a:p>
            <a:r>
              <a:rPr lang="ko-KR" sz="1800"/>
              <a:t>        in_degree[child] -= 1</a:t>
            </a:r>
          </a:p>
          <a:p>
            <a:r>
              <a:rPr lang="ko-KR" sz="1800"/>
              <a:t>        if in_degree[child] == 0:</a:t>
            </a:r>
          </a:p>
          <a:p>
            <a:r>
              <a:rPr lang="ko-KR" sz="1800"/>
              <a:t>            queue.append(child)</a:t>
            </a:r>
          </a:p>
          <a:p>
            <a:r>
              <a:rPr lang="ko-KR" sz="1800"/>
              <a:t/>
            </a:r>
          </a:p>
          <a:p>
            <a:r>
              <a:rPr lang="ko-KR" sz="1800"/>
              <a:t>아주 쉬운 설명: "진입차수"는 "이 커밋을 출력하기 전에 먼저 출력돼야 하는 다른 커밋이 몇 개 남았는가"입니다(= 아직 안 나온</a:t>
            </a:r>
          </a:p>
          <a:p>
            <a:r>
              <a:rPr lang="ko-KR" sz="1800"/>
              <a:t>부모의 수). 부모가 0개인 커밋(뿌리)부터 출력 후보에 넣고, 하나를 출력할 때마다 그 커밋을 부모로 둔 자식들의 "남은 부모 수"</a:t>
            </a:r>
          </a:p>
          <a:p>
            <a:r>
              <a:rPr lang="ko-KR" sz="1800"/>
              <a:t>를 하나씩 지웁니다. 0이 되는 순간 그 자식도 이제 출력해도 되는 상태가 되어 후보에 추가됩니다. 이 과정을 반복하면 "부모가</a:t>
            </a:r>
          </a:p>
          <a:p>
            <a:r>
              <a:rPr lang="ko-KR" sz="1800"/>
              <a:t>항상 자식보다 먼저 나오는" 순서가 자연스럽게 만들어집니다.</a:t>
            </a:r>
          </a:p>
          <a:p>
            <a:r>
              <a:rPr lang="ko-KR" sz="1800"/>
              <a:t/>
            </a:r>
          </a:p>
          <a:p>
            <a:r>
              <a:rPr lang="ko-KR" sz="1800"/>
              <a:t>단순 정렬로는 안 되는 이유: "최신순"이라면 timestamp로 정렬하면 그만이지만, "부모가 먼저"라는 조건은 timestamp 하나만</a:t>
            </a:r>
          </a:p>
          <a:p>
            <a:r>
              <a:rPr lang="ko-KR" sz="1800"/>
              <a:t>으로는 보장되지 않습니다(이론적으로 시계가 부정확하거나 동시각에 커밋되면 꼬일 수 있음). 반면 위상 정렬은 애초에 그래프</a:t>
            </a:r>
          </a:p>
          <a:p>
            <a:r>
              <a:rPr lang="ko-KR" sz="1800"/>
              <a:t>의 부모-자식 "관계"만 보고 순서를 결정하므로, 시각 정보와 무관하게 항상 정확합니다.</a:t>
            </a:r>
          </a:p>
          <a:p>
            <a:r>
              <a:rPr lang="ko-KR" sz="1800"/>
              <a:t/>
            </a:r>
          </a:p>
          <a:p>
            <a:r>
              <a:rPr lang="ko-KR" sz="1800"/>
              <a:t>실제 확인: 제출/results/02_LOG_위상정렬.txt에서 뿌리 커밋(Initial commit)이 항상 맨 위에 오고, 그 뒤로 두 브랜치(feature/</a:t>
            </a:r>
          </a:p>
          <a:p>
            <a:r>
              <a:rPr lang="ko-KR" sz="1800"/>
              <a:t>main)에서 갈라진 자식 커밋들이 나오는 것을 확인했습니다. 단위 테스트에서는 병합 커밋까지 있는 다이아몬드형 그래프로 "부</a:t>
            </a:r>
          </a:p>
          <a:p>
            <a:r>
              <a:rPr lang="ko-KR" sz="1800"/>
              <a:t>모가 항상 자식보다 앞선 위치"라는 성질을 모든 간선에 대해 검증했습니다(tests/test_mini_git.py).</a:t>
            </a:r>
          </a:p>
          <a:p>
            <a:r>
              <a:rPr lang="ko-KR" sz="1800"/>
              <a:t/>
            </a:r>
          </a:p>
          <a:p>
            <a:r>
              <a:rPr lang="ko-KR" sz="1800"/>
              <a:t>Q1. 위상 정렬에서 동시에 진입차수가 0이 되는 커밋이 여러 개면 어떤 순서로 나오는가?</a:t>
            </a:r>
          </a:p>
          <a:p>
            <a:r>
              <a:rPr lang="ko-KR" sz="1800"/>
              <a:t/>
            </a:r>
          </a:p>
          <a:p>
            <a:r>
              <a:rPr lang="ko-KR" sz="1800"/>
              <a:t>FIFO 큐(리스트를 인덱스로 순회)를 쓰기 때문에, "먼저 큐에 들어온" 순서가 그대로 유지됩니다. 이 프로젝트의 전형적인 시나리</a:t>
            </a:r>
          </a:p>
          <a:p>
            <a:r>
              <a:rPr lang="ko-KR" sz="1800"/>
              <a:t>오(하나의 뿌리 커밋에서 여러 브랜치가 갈라지는 경우)에서는 이 순서가 대체로 "먼저 생성된 순서"와 일치합니다. 과제 명세도 "</a:t>
            </a:r>
          </a:p>
          <a:p>
            <a:r>
              <a:rPr lang="ko-KR" sz="1800"/>
              <a:t>학습 목적상 부모가 자식보다 먼저"라는 조건만 요구할 뿐 동률 처리 규칙은 정하지 않았으므로, 이 방식은 결정적이고 설명 가능</a:t>
            </a:r>
          </a:p>
          <a:p>
            <a:r>
              <a:rPr lang="ko-KR" sz="1800"/>
              <a:t>한 선택입니다.</a:t>
            </a:r>
          </a:p>
          <a:p>
            <a:r>
              <a:rPr lang="ko-KR" sz="1800"/>
              <a:t/>
            </a:r>
          </a:p>
          <a:p>
            <a:r>
              <a:rPr lang="ko-KR" sz="1800"/>
              <a:t>근거: mini_git/traversal.py: topological_order()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15 · PATH: 한 칸씩 넓혀 가면 가장 짧은 길</a:t>
            </a:r>
          </a:p>
          <a:p>
            <a:r>
              <a:rPr lang="ko-KR" sz="1800"/>
              <a:t/>
            </a:r>
          </a:p>
          <a:p>
            <a:r>
              <a:rPr lang="ko-KR" sz="1800"/>
              <a:t>BFS는 Breadth First Search, 너비 우선 탐색입니다. 물결이 가까운 곳부터 퍼진다고 생각하면 됩니다. 간선마다 비용이 같으므로 먼저 발견한 단계가 최단 거리입니다. PATH는 Git 부모 참조를 그대로 한 방향으로 따라가는 기능이 아니라 과제가 정한 무방향 경로입니다. 같은 출발지와 목적지는 거리 0입니다.</a:t>
            </a:r>
          </a:p>
          <a:p>
            <a:r>
              <a:rPr lang="ko-KR" sz="1800"/>
              <a:t/>
            </a:r>
          </a:p>
          <a:p>
            <a:r>
              <a:rPr lang="ko-KR" sz="1800"/>
              <a:t>상세 설명 및 문답 전체</a:t>
            </a:r>
          </a:p>
          <a:p>
            <a:r>
              <a:rPr lang="ko-KR" sz="1800"/>
              <a:t/>
            </a:r>
          </a:p>
          <a:p>
            <a:r>
              <a:rPr lang="ko-KR" sz="1800"/>
              <a:t>과제 명세는 "커밋-부모 연결을 무방향 간선으로 간주"하라고 명시합니다. 즉 부모 방향만이 아니라 자식 방향으로도 이동할 수</a:t>
            </a:r>
          </a:p>
          <a:p>
            <a:r>
              <a:rPr lang="ko-KR" sz="1800"/>
              <a:t>있는 별도 그래프를 만들어야 합니다.</a:t>
            </a:r>
          </a:p>
          <a:p>
            <a:r>
              <a:rPr lang="ko-KR" sz="1800"/>
              <a:t/>
            </a:r>
          </a:p>
          <a:p>
            <a:r>
              <a:rPr lang="ko-KR" sz="1800"/>
              <a:t>def _undirected_adjacency(commits):</a:t>
            </a:r>
          </a:p>
          <a:p>
            <a:r>
              <a:rPr lang="ko-KR" sz="1800"/>
              <a:t>    adjacency = {h: [] for h in commits}</a:t>
            </a:r>
          </a:p>
          <a:p>
            <a:r>
              <a:rPr lang="ko-KR" sz="1800"/>
              <a:t>    for h, c in commits.items():</a:t>
            </a:r>
          </a:p>
          <a:p>
            <a:r>
              <a:rPr lang="ko-KR" sz="1800"/>
              <a:t>        for p in c.parents:</a:t>
            </a:r>
          </a:p>
          <a:p>
            <a:r>
              <a:rPr lang="ko-KR" sz="1800"/>
              <a:t>            adjacency[h].append(p)</a:t>
            </a:r>
          </a:p>
          <a:p>
            <a:r>
              <a:rPr lang="ko-KR" sz="1800"/>
              <a:t>            adjacency[p].append(h)   # 양방향 간선</a:t>
            </a:r>
          </a:p>
          <a:p>
            <a:r>
              <a:rPr lang="ko-KR" sz="1800"/>
              <a:t>    return adjacency</a:t>
            </a:r>
          </a:p>
          <a:p>
            <a:r>
              <a:rPr lang="ko-KR" sz="1800"/>
              <a:t/>
            </a:r>
          </a:p>
          <a:p>
            <a:r>
              <a:rPr lang="ko-KR" sz="1800"/>
              <a:t>최단 거리 자체는 이 무방향 그래프에서 BFS 한 번(O(V+E))이면 구해집니다. 문제는 "최단 경로가 여러 개일 때 사전순으로 가장</a:t>
            </a:r>
          </a:p>
          <a:p>
            <a:r>
              <a:rPr lang="ko-KR" sz="1800"/>
              <a:t>작은 것"을 골라야 한다는 점입니다. 이를 위해 시작점(start_hash)과 끝점(end_hash) 양쪽에서 각각 BFS 거리를 구해둔 뒤, 시</a:t>
            </a:r>
          </a:p>
          <a:p>
            <a:r>
              <a:rPr lang="ko-KR" sz="1800"/>
              <a:t>작점부터 한 걸음씩 전진하면서 "이 지점까지의 최단 거리 + 여기서 목적지까지 남은 최단 거리 = 전체 최단 거리"를 만족하는 이</a:t>
            </a:r>
          </a:p>
          <a:p>
            <a:r>
              <a:rPr lang="ko-KR" sz="1800"/>
              <a:t>웃들(=반드시 어떤 최단 경로 위에 있는 이웃) 중 hash 문자열이 가장 작은 것을 매번 고릅니다.</a:t>
            </a:r>
          </a:p>
          <a:p>
            <a:r>
              <a:rPr lang="ko-KR" sz="1800"/>
              <a:t/>
            </a:r>
          </a:p>
          <a:p>
            <a:r>
              <a:rPr lang="ko-KR" sz="1800"/>
              <a:t>근거: mini_git/traversal.py: _bfs_distances(), shortest_path()</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16 · 최단 경로가 둘이면 hash 사전순으로</a:t>
            </a:r>
          </a:p>
          <a:p>
            <a:r>
              <a:rPr lang="ko-KR" sz="1800"/>
              <a:t/>
            </a:r>
          </a:p>
          <a:p>
            <a:r>
              <a:rPr lang="ko-KR" sz="1800"/>
              <a:t>이 그림은 부모가 둘인 병합 노드를 포함한 테스트용 다이아몬드 그래프입니다. CLI에서 merge를 실행해서 만든 것이 아닙니다. dStart[next]=dStart[current]+1과 dEnd[next]=dEnd[current]-1 조건을 확인합니다. 작은 hash만 보고 아무 길이나 선택하면 더 긴 경로로 빠질 수 있으므로 최단 조건이 먼저입니다. 모든 최단 경로를 열거하지 않고 두 BFS와 경로 복원으로 계산합니다.</a:t>
            </a:r>
          </a:p>
          <a:p>
            <a:r>
              <a:rPr lang="ko-KR" sz="1800"/>
              <a:t/>
            </a:r>
          </a:p>
          <a:p>
            <a:r>
              <a:rPr lang="ko-KR" sz="1800"/>
              <a:t>상세 설명 및 문답 전체</a:t>
            </a:r>
          </a:p>
          <a:p>
            <a:r>
              <a:rPr lang="ko-KR" sz="1800"/>
              <a:t/>
            </a:r>
          </a:p>
          <a:p>
            <a:r>
              <a:rPr lang="ko-KR" sz="1800"/>
              <a:t>while current != end_hash:</a:t>
            </a:r>
          </a:p>
          <a:p>
            <a:r>
              <a:rPr lang="ko-KR" sz="1800"/>
              <a:t>    best_next = None</a:t>
            </a:r>
          </a:p>
          <a:p>
            <a:r>
              <a:rPr lang="ko-KR" sz="1800"/>
              <a:t>    for neighbor in adjacency[current]:</a:t>
            </a:r>
          </a:p>
          <a:p>
            <a:r>
              <a:rPr lang="ko-KR" sz="1800"/>
              <a:t>        on_shortest_path = (</a:t>
            </a:r>
          </a:p>
          <a:p>
            <a:r>
              <a:rPr lang="ko-KR" sz="1800"/>
              <a:t>            dist_from_start.get(neighbor) == dist_from_start[current] + 1</a:t>
            </a:r>
          </a:p>
          <a:p>
            <a:r>
              <a:rPr lang="ko-KR" sz="1800"/>
              <a:t>            and dist_from_end.get(neighbor) == dist_from_end[current] - 1</a:t>
            </a:r>
          </a:p>
          <a:p>
            <a:r>
              <a:rPr lang="ko-KR" sz="1800"/>
              <a:t>        )</a:t>
            </a:r>
          </a:p>
          <a:p>
            <a:r>
              <a:rPr lang="ko-KR" sz="1800"/>
              <a:t>        if on_shortest_path and (best_next is None or neighbor &lt; best_next):</a:t>
            </a:r>
          </a:p>
          <a:p>
            <a:r>
              <a:rPr lang="ko-KR" sz="1800"/>
              <a:t>            best_next = neighbor</a:t>
            </a:r>
          </a:p>
          <a:p>
            <a:r>
              <a:rPr lang="ko-KR" sz="1800"/>
              <a:t>    current = best_next</a:t>
            </a:r>
          </a:p>
          <a:p>
            <a:r>
              <a:rPr lang="ko-KR" sz="1800"/>
              <a:t>    path.append(current)</a:t>
            </a:r>
          </a:p>
          <a:p>
            <a:r>
              <a:rPr lang="ko-KR" sz="1800"/>
              <a:t/>
            </a:r>
          </a:p>
          <a:p>
            <a:r>
              <a:rPr lang="ko-KR" sz="1800"/>
              <a:t>왜 이 방법이 맞는가: 경로를 문자열로 이어붙였을 때 "사전순으로 가장 작다"는 것은, 첫 글자(첫 커밋)부터 비교해서 더 작은 쪽</a:t>
            </a:r>
          </a:p>
          <a:p>
            <a:r>
              <a:rPr lang="ko-KR" sz="1800"/>
              <a:t>이 이기고, 같으면 다음 글자(다음 커밋)를 비교하는 방식입니다. 그래서 "지금까지는 같은데, 바로 다음 한 걸음에서 더 작은 쪽을</a:t>
            </a:r>
          </a:p>
          <a:p>
            <a:r>
              <a:rPr lang="ko-KR" sz="1800"/>
              <a:t>고른다"를 매 단계 반복하면, 결과적으로 전체 문자열이 사전순으로 가장 작은 경로가 완성됩니다(단, 매 걸음에서 선택지가 "실</a:t>
            </a:r>
          </a:p>
          <a:p>
            <a:r>
              <a:rPr lang="ko-KR" sz="1800"/>
              <a:t>제로 최단 경로를 유지하는" 이웃으로 한정되어 있어야 하며, 그 조건이 바로 위 on_shortest_path 체크입니다).</a:t>
            </a:r>
          </a:p>
          <a:p>
            <a:r>
              <a:rPr lang="ko-KR" sz="1800"/>
              <a:t/>
            </a:r>
          </a:p>
          <a:p>
            <a:r>
              <a:rPr lang="ko-KR" sz="1800"/>
              <a:t>실제 확인: 단위 테스트에서 root가 b1→c1과 b2→c2 두 브랜치를 거쳐 merge(병합 커밋)로 합쳐지는 그래프를 만들어, 두 경로</a:t>
            </a:r>
          </a:p>
          <a:p>
            <a:r>
              <a:rPr lang="ko-KR" sz="1800"/>
              <a:t>모두 길이가 3으로 동일할 때 사전순으로 더 작은 root→b1→c1→merge가 정확히 선택됨을 확인했습니다(tests/test_mini_git.p</a:t>
            </a:r>
          </a:p>
          <a:p>
            <a:r>
              <a:rPr lang="ko-KR" sz="1800"/>
              <a:t>y). REPL에서도 제출/results/04_PATH_최단경로.txt에서 직접 연결(길이 1)과 공통 부모를 거치는 간접 연결(길이 2)을 모두 확</a:t>
            </a:r>
          </a:p>
          <a:p>
            <a:r>
              <a:rPr lang="ko-KR" sz="1800"/>
              <a:t>인했습니다.</a:t>
            </a:r>
          </a:p>
          <a:p>
            <a:r>
              <a:rPr lang="ko-KR" sz="1800"/>
              <a:t/>
            </a:r>
          </a:p>
          <a:p>
            <a:r>
              <a:rPr lang="ko-KR" sz="1800"/>
              <a:t>Q2. PATH의 사전순 타이브레이크 로직을 O(n²)이 아니라 왜 더 효율적으로 만들 수 있었는가?</a:t>
            </a:r>
          </a:p>
          <a:p>
            <a:r>
              <a:rPr lang="ko-KR" sz="1800"/>
              <a:t/>
            </a:r>
          </a:p>
          <a:p>
            <a:r>
              <a:rPr lang="ko-KR" sz="1800"/>
              <a:t>모든 최단 경로를 일일이 나열해서(경로 개수가 그래프 구조에 따라 지수적으로 늘어날 수 있음) 문자열 비교로 최솟값을 고르는</a:t>
            </a:r>
          </a:p>
          <a:p>
            <a:r>
              <a:rPr lang="ko-KR" sz="1800"/>
              <a:t>방식도 가능은 하지만, 이 구현은 그 대신 "매 걸음마다 가능한 다음 후보 중 최솟값만 탐욕적으로 선택"하는 방식을 씁니다. 시작</a:t>
            </a:r>
          </a:p>
          <a:p>
            <a:r>
              <a:rPr lang="ko-KR" sz="1800"/>
              <a:t>점/끝점 양방향 BFS(O(V+E))를 한 번씩 미리 해두면, 이후 경로 재구성은 경로 길이만큼의 반복 × 각 지점의 이웃 수 정도로 끝</a:t>
            </a:r>
          </a:p>
          <a:p>
            <a:r>
              <a:rPr lang="ko-KR" sz="1800"/>
              <a:t>나 훨씬 효율적입니다.</a:t>
            </a:r>
          </a:p>
          <a:p>
            <a:r>
              <a:rPr lang="ko-KR" sz="1800"/>
              <a:t/>
            </a:r>
          </a:p>
          <a:p>
            <a:r>
              <a:rPr lang="ko-KR" sz="1800"/>
              <a:t>근거: tests/test_mini_git.py: test_merge_ancestors_and_lexicographic_path</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17 · ANCESTORS: 부모의 부모를 빠짐없이 찾기</a:t>
            </a:r>
          </a:p>
          <a:p>
            <a:r>
              <a:rPr lang="ko-KR" sz="1800"/>
              <a:t/>
            </a:r>
          </a:p>
          <a:p>
            <a:r>
              <a:rPr lang="ko-KR" sz="1800"/>
              <a:t>가족의 조상 목록을 만드는 것과 비슷하지만 여러 부모 경로가 같은 조상에 합쳐질 수 있습니다. set은 이미 본 hash를 빠르게 확인하는 집합입니다. 초기 큐에는 조회 대상의 부모만 넣으므로 자신은 결과에 들어가지 않습니다. 이전의 list.pop(0)은 원소들을 당겨야 했고, 지금은 head 인덱스를 이동하여 큐 비용을 줄였습니다.</a:t>
            </a:r>
          </a:p>
          <a:p>
            <a:r>
              <a:rPr lang="ko-KR" sz="1800"/>
              <a:t/>
            </a:r>
          </a:p>
          <a:p>
            <a:r>
              <a:rPr lang="ko-KR" sz="1800"/>
              <a:t>상세 설명 및 문답 전체</a:t>
            </a:r>
          </a:p>
          <a:p>
            <a:r>
              <a:rPr lang="ko-KR" sz="1800"/>
              <a:t/>
            </a:r>
          </a:p>
          <a:p>
            <a:r>
              <a:rPr lang="ko-KR" sz="1800"/>
              <a:t>def ancestors(commits, commit_hash):</a:t>
            </a:r>
          </a:p>
          <a:p>
            <a:r>
              <a:rPr lang="ko-KR" sz="1800"/>
              <a:t>    visited = set()</a:t>
            </a:r>
          </a:p>
          <a:p>
            <a:r>
              <a:rPr lang="ko-KR" sz="1800"/>
              <a:t>    queue = list(commits[commit_hash].parents)</a:t>
            </a:r>
          </a:p>
          <a:p>
            <a:r>
              <a:rPr lang="ko-KR" sz="1800"/>
              <a:t>    result = []</a:t>
            </a:r>
          </a:p>
          <a:p>
            <a:r>
              <a:rPr lang="ko-KR" sz="1800"/>
              <a:t>    head = 0</a:t>
            </a:r>
          </a:p>
          <a:p>
            <a:r>
              <a:rPr lang="ko-KR" sz="1800"/>
              <a:t>    while head &lt; len(queue):</a:t>
            </a:r>
          </a:p>
          <a:p>
            <a:r>
              <a:rPr lang="ko-KR" sz="1800"/>
              <a:t>        h = queue[head]</a:t>
            </a:r>
          </a:p>
          <a:p>
            <a:r>
              <a:rPr lang="ko-KR" sz="1800"/>
              <a:t>        head += 1</a:t>
            </a:r>
          </a:p>
          <a:p>
            <a:r>
              <a:rPr lang="ko-KR" sz="1800"/>
              <a:t>        if h in visited:</a:t>
            </a:r>
          </a:p>
          <a:p>
            <a:r>
              <a:rPr lang="ko-KR" sz="1800"/>
              <a:t>            continue</a:t>
            </a:r>
          </a:p>
          <a:p>
            <a:r>
              <a:rPr lang="ko-KR" sz="1800"/>
              <a:t>        visited.add(h)</a:t>
            </a:r>
          </a:p>
          <a:p>
            <a:r>
              <a:rPr lang="ko-KR" sz="1800"/>
              <a:t>        result.append(h)</a:t>
            </a:r>
          </a:p>
          <a:p>
            <a:r>
              <a:rPr lang="ko-KR" sz="1800"/>
              <a:t>        queue.extend(commits[h].parents)</a:t>
            </a:r>
          </a:p>
          <a:p>
            <a:r>
              <a:rPr lang="ko-KR" sz="1800"/>
              <a:t>    return result</a:t>
            </a:r>
          </a:p>
          <a:p>
            <a:r>
              <a:rPr lang="ko-KR" sz="1800"/>
              <a:t/>
            </a:r>
          </a:p>
          <a:p>
            <a:r>
              <a:rPr lang="ko-KR" sz="1800"/>
              <a:t>아주 쉬운 설명: "부모의 부모의 부모..."를 계속 따라 올라가는 탐색입니다. 부모 목록에서 하나씩 꺼내 방문 처리하고, 그 커밋의</a:t>
            </a:r>
          </a:p>
          <a:p>
            <a:r>
              <a:rPr lang="ko-KR" sz="1800"/>
              <a:t>부모도 다시 큐에 넣는 식으로 반복합니다. 병합 커밋 때문에 같은 조상에 여러 경로로 도달할 수 있어(예: 다이아몬드형 구조), vi</a:t>
            </a:r>
          </a:p>
          <a:p>
            <a:r>
              <a:rPr lang="ko-KR" sz="1800"/>
              <a:t>sited 집합으로 이미 본 커밋은 건너뛰어 중복과 무한 루프를 막습니다. 큐는 앞의 원소를 삭제하지 않고 인덱스로 읽으므로 O(V</a:t>
            </a:r>
          </a:p>
          <a:p>
            <a:r>
              <a:rPr lang="ko-KR" sz="1800"/>
              <a:t>+E)로 탐색합니다.</a:t>
            </a:r>
          </a:p>
          <a:p>
            <a:r>
              <a:rPr lang="ko-KR" sz="1800"/>
              <a:t/>
            </a:r>
          </a:p>
          <a:p>
            <a:r>
              <a:rPr lang="ko-KR" sz="1800"/>
              <a:t>근거: mini_git/traversal.py: ancestors()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18 · 정렬은 병합 정렬을 직접 구현했습니다</a:t>
            </a:r>
          </a:p>
          <a:p>
            <a:r>
              <a:rPr lang="ko-KR" sz="1800"/>
              <a:t/>
            </a:r>
          </a:p>
          <a:p>
            <a:r>
              <a:rPr lang="ko-KR" sz="1800"/>
              <a:t>표준 sorted와 list.sort를 사용하는 것은 금지되어 있습니다. key 함수는 비교할 값을 꺼내는 도구입니다. date에서는 timestamp, author에서는 author를 꺼냅니다. 일반적인 병합 정렬은 임시 배열 공간 O(n)을 사용합니다. 퀵 정렬이 언제나 나쁜 것은 아니며, 이 과제에서는 최악 시간과 안정성이 설명하기 쉬운 병합 정렬을 선택했습니다.</a:t>
            </a:r>
          </a:p>
          <a:p>
            <a:r>
              <a:rPr lang="ko-KR" sz="1800"/>
              <a:t/>
            </a:r>
          </a:p>
          <a:p>
            <a:r>
              <a:rPr lang="ko-KR" sz="1800"/>
              <a:t>상세 설명 및 문답 전체</a:t>
            </a:r>
          </a:p>
          <a:p>
            <a:r>
              <a:rPr lang="ko-KR" sz="1800"/>
              <a:t/>
            </a:r>
          </a:p>
          <a:p>
            <a:r>
              <a:rPr lang="ko-KR" sz="1800"/>
              <a:t>sorting.merge_sort는 병합 정렬을 일반화된 형태(비교 키를 함수로 받음)로 구현했습니다.</a:t>
            </a:r>
          </a:p>
          <a:p>
            <a:r>
              <a:rPr lang="ko-KR" sz="1800"/>
              <a:t/>
            </a:r>
          </a:p>
          <a:p>
            <a:r>
              <a:rPr lang="ko-KR" sz="1800"/>
              <a:t>def merge_sort(items, key):</a:t>
            </a:r>
          </a:p>
          <a:p>
            <a:r>
              <a:rPr lang="ko-KR" sz="1800"/>
              <a:t>    if len(items) &lt;= 1:</a:t>
            </a:r>
          </a:p>
          <a:p>
            <a:r>
              <a:rPr lang="ko-KR" sz="1800"/>
              <a:t>        return list(items)</a:t>
            </a:r>
          </a:p>
          <a:p>
            <a:r>
              <a:rPr lang="ko-KR" sz="1800"/>
              <a:t>    mid = len(items) // 2</a:t>
            </a:r>
          </a:p>
          <a:p>
            <a:r>
              <a:rPr lang="ko-KR" sz="1800"/>
              <a:t>    left = merge_sort(items[:mid], key)</a:t>
            </a:r>
          </a:p>
          <a:p>
            <a:r>
              <a:rPr lang="ko-KR" sz="1800"/>
              <a:t>    right = merge_sort(items[mid:], key)</a:t>
            </a:r>
          </a:p>
          <a:p>
            <a:r>
              <a:rPr lang="ko-KR" sz="1800"/>
              <a:t>    return _merge(left, right, key)</a:t>
            </a:r>
          </a:p>
          <a:p>
            <a:r>
              <a:rPr lang="ko-KR" sz="1800"/>
              <a:t/>
            </a:r>
          </a:p>
          <a:p>
            <a:r>
              <a:rPr lang="ko-KR" sz="1800"/>
              <a:t>def _merge(left, right, key):</a:t>
            </a:r>
          </a:p>
          <a:p>
            <a:r>
              <a:rPr lang="ko-KR" sz="1800"/>
              <a:t>    merged = []</a:t>
            </a:r>
          </a:p>
          <a:p>
            <a:r>
              <a:rPr lang="ko-KR" sz="1800"/>
              <a:t>    i = j = 0</a:t>
            </a:r>
          </a:p>
          <a:p>
            <a:r>
              <a:rPr lang="ko-KR" sz="1800"/>
              <a:t>    while i &lt; len(left) and j &lt; len(right):</a:t>
            </a:r>
          </a:p>
          <a:p>
            <a:r>
              <a:rPr lang="ko-KR" sz="1800"/>
              <a:t>        if key(left[i]) &lt;= key(right[j]):   # &lt;=  → 안정 정렬의 핵심</a:t>
            </a:r>
          </a:p>
          <a:p>
            <a:r>
              <a:rPr lang="ko-KR" sz="1800"/>
              <a:t>            merged.append(left[i]); i += 1</a:t>
            </a:r>
          </a:p>
          <a:p>
            <a:r>
              <a:rPr lang="ko-KR" sz="1800"/>
              <a:t>        else:</a:t>
            </a:r>
          </a:p>
          <a:p>
            <a:r>
              <a:rPr lang="ko-KR" sz="1800"/>
              <a:t/>
            </a:r>
          </a:p>
          <a:p>
            <a:r>
              <a:rPr lang="ko-KR" sz="1800"/>
              <a:t>            merged.append(right[j]); j += 1</a:t>
            </a:r>
          </a:p>
          <a:p>
            <a:r>
              <a:rPr lang="ko-KR" sz="1800"/>
              <a:t>    merged.extend(left[i:])</a:t>
            </a:r>
          </a:p>
          <a:p>
            <a:r>
              <a:rPr lang="ko-KR" sz="1800"/>
              <a:t>    merged.extend(right[j:])</a:t>
            </a:r>
          </a:p>
          <a:p>
            <a:r>
              <a:rPr lang="ko-KR" sz="1800"/>
              <a:t>    return merged</a:t>
            </a:r>
          </a:p>
          <a:p>
            <a:r>
              <a:rPr lang="ko-KR" sz="1800"/>
              <a:t/>
            </a:r>
          </a:p>
          <a:p>
            <a:r>
              <a:rPr lang="ko-KR" sz="1800"/>
              <a:t>근거: mini_git/sorting.py: merge_sort(), _merge()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19 · O(n log n)과 안정 정렬을 쉬운 말로</a:t>
            </a:r>
          </a:p>
          <a:p>
            <a:r>
              <a:rPr lang="ko-KR" sz="1800"/>
              <a:t/>
            </a:r>
          </a:p>
          <a:p>
            <a:r>
              <a:rPr lang="ko-KR" sz="1800"/>
              <a:t>시간복잡도는 실제 초 단위 실행 시간이 아니라 입력이 커질 때 작업량이 얼마나 늘어나는지 표현합니다. 안정성은 프로그램이 안 죽는다는 뜻이 아니라 같은 비교값끼리 원래 순서를 지킨다는 뜻입니다. &lt;=를 쓰면 두 값이 같을 때 원래 앞에 있던 왼쪽 원소를 먼저 꺼냅니다. 테스트는 순서뿐 아니라 원본 목록이 바뀌지 않았는지도 확인합니다.</a:t>
            </a:r>
          </a:p>
          <a:p>
            <a:r>
              <a:rPr lang="ko-KR" sz="1800"/>
              <a:t/>
            </a:r>
          </a:p>
          <a:p>
            <a:r>
              <a:rPr lang="ko-KR" sz="1800"/>
              <a:t>상세 설명 및 문답 전체</a:t>
            </a:r>
          </a:p>
          <a:p>
            <a:r>
              <a:rPr lang="ko-KR" sz="1800"/>
              <a:t/>
            </a:r>
          </a:p>
          <a:p>
            <a:r>
              <a:rPr lang="ko-KR" sz="1800"/>
              <a:t>시간복잡도: 리스트를 절반씩 나누는 분할 과정은 입력이 어떻게 배치돼 있든 항상 정확히 반으로 쪼개지므로, 재귀 깊이가 log₂n</a:t>
            </a:r>
          </a:p>
          <a:p>
            <a:r>
              <a:rPr lang="ko-KR" sz="1800"/>
              <a:t>입니다. 각 깊이 층에서 이루어지는 병합 작업의 총량은 그 층에 있는 원소 전체 개수인 n입니다. 따라서 전체 시간은 O(n) × O(l</a:t>
            </a:r>
          </a:p>
          <a:p>
            <a:r>
              <a:rPr lang="ko-KR" sz="1800"/>
              <a:t>og n) = O(n log n)이며, 이는 입력의 초기 배치와 무관하게 항상 성립하므로 평균과 최악이 동일하게 O(n log n)입니다. (참고로</a:t>
            </a:r>
          </a:p>
          <a:p>
            <a:r>
              <a:rPr lang="ko-KR" sz="1800"/>
              <a:t>퀵 정렬은 평균은 O(n log n)이지만, 피벗을 잘못 고르면(예: 이미 정렬된 배열에서 항상 첫 원소를 피벗으로 고르는 구현) 최악의</a:t>
            </a:r>
          </a:p>
          <a:p>
            <a:r>
              <a:rPr lang="ko-KR" sz="1800"/>
              <a:t>경우 O(n²)까지 나빠질 수 있습니다 — 병합 정렬은 이런 입력 의존성이 없습니다.)</a:t>
            </a:r>
          </a:p>
          <a:p>
            <a:r>
              <a:rPr lang="ko-KR" sz="1800"/>
              <a:t/>
            </a:r>
          </a:p>
          <a:p>
            <a:r>
              <a:rPr lang="ko-KR" sz="1800"/>
              <a:t>안정 정렬 여부: _merge에서 두 값을 비교할 때 &lt;가 아니라 &lt;=를 씁니다. 즉 두 값이 같을 때도 "왼쪽 그룹(원래 앞쪽에 있던 원</a:t>
            </a:r>
          </a:p>
          <a:p>
            <a:r>
              <a:rPr lang="ko-KR" sz="1800"/>
              <a:t>소들)"을 먼저 채택합니다. 그 결과, 정렬 기준 값이 동일한 원소들끼리는 정렬하기 전의 상대적 순서가 정렬 후에도 그대로 유지</a:t>
            </a:r>
          </a:p>
          <a:p>
            <a:r>
              <a:rPr lang="ko-KR" sz="1800"/>
              <a:t>됩니다 — 이것이 안정 정렬(Stable Sort)의 정의입니다.</a:t>
            </a:r>
          </a:p>
          <a:p>
            <a:r>
              <a:rPr lang="ko-KR" sz="1800"/>
              <a:t/>
            </a:r>
          </a:p>
          <a:p>
            <a:r>
              <a:rPr lang="ko-KR" sz="1800"/>
              <a:t>이게 왜 중요한가: LOG --sort-by=author에서 같은 작성자가 커밋을 여러 개 가진 경우, "동률 처리 규칙은 자유"라는 과제 조</a:t>
            </a:r>
          </a:p>
          <a:p>
            <a:r>
              <a:rPr lang="ko-KR" sz="1800"/>
              <a:t>건 안에서 "원래(위상 정렬) 순서를 유지한다"는 직관적이고 재현 가능한 규칙을 별도 코드 없이 안정 정렬의 성질만으로 얻을 수</a:t>
            </a:r>
          </a:p>
          <a:p>
            <a:r>
              <a:rPr lang="ko-KR" sz="1800"/>
              <a:t>있습니다.</a:t>
            </a:r>
          </a:p>
          <a:p>
            <a:r>
              <a:rPr lang="ko-KR" sz="1800"/>
              <a:t/>
            </a:r>
          </a:p>
          <a:p>
            <a:r>
              <a:rPr lang="ko-KR" sz="1800"/>
              <a:t>실제 확인: 단위 테스트에서 작성자가 Charlie/Alice/Bob/Alice인 가짜 커밋 4개를 만들어 author 키로 정렬한 결과, 두 Alice 커</a:t>
            </a:r>
          </a:p>
          <a:p>
            <a:r>
              <a:rPr lang="ko-KR" sz="1800"/>
              <a:t>밋 중 원본에서 먼저 나온 것이 정렬 후에도 먼저 나옴을 확인했습니다. 또한 무작위 데이터 1,000개에서 정렬 순서, 원소 보존,</a:t>
            </a:r>
          </a:p>
          <a:p>
            <a:r>
              <a:rPr lang="ko-KR" sz="1800"/>
              <a:t>원본 불변, 같은 키의 상대 순서 보존을 확인했습니다(tests/test_mini_git.py).</a:t>
            </a:r>
          </a:p>
          <a:p>
            <a:r>
              <a:rPr lang="ko-KR" sz="1800"/>
              <a:t/>
            </a:r>
          </a:p>
          <a:p>
            <a:r>
              <a:rPr lang="ko-KR" sz="1800"/>
              <a:t>Q3. 병합 정렬 대신 퀵 정렬을 선택했다면 무엇이 달라졌을까?</a:t>
            </a:r>
          </a:p>
          <a:p>
            <a:r>
              <a:rPr lang="ko-KR" sz="1800"/>
              <a:t/>
            </a:r>
          </a:p>
          <a:p>
            <a:r>
              <a:rPr lang="ko-KR" sz="1800"/>
              <a:t>퀵 정렬은 평균 O(n log n)으로 병합 정렬과 같지만, (a) 최악의 경우 O(n²)로 나빠질 수 있고 (b) 일반적인 구현은 원소 교환(sw</a:t>
            </a:r>
          </a:p>
          <a:p>
            <a:r>
              <a:rPr lang="ko-KR" sz="1800"/>
              <a:t>ap) 방식이라 안정 정렬이 아닙니다(같은 값이라도 위치가 바뀔 수 있음). 이 과제는 "동률 처리"가 중요한 LOG --sort-by에 정</a:t>
            </a:r>
          </a:p>
          <a:p>
            <a:r>
              <a:rPr lang="ko-KR" sz="1800"/>
              <a:t>렬 결과를 쓰므로, 안정성이 보장되고 시간복잡도가 입력에 흔들리지 않는 병합 정렬을 선택했습니다.</a:t>
            </a:r>
          </a:p>
          <a:p>
            <a:r>
              <a:rPr lang="ko-KR" sz="1800"/>
              <a:t/>
            </a:r>
          </a:p>
          <a:p>
            <a:r>
              <a:rPr lang="ko-KR" sz="1800"/>
              <a:t>근거: mini_git/sorting.py · tests/test_mini_git.py: test_sort_keys_and_stability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20 · 역색인: 책 뒤의 ‘찾아보기’</a:t>
            </a:r>
          </a:p>
          <a:p>
            <a:r>
              <a:rPr lang="ko-KR" sz="1800"/>
              <a:t/>
            </a:r>
          </a:p>
          <a:p>
            <a:r>
              <a:rPr lang="ko-KR" sz="1800"/>
              <a:t>역색인의 역은 커밋에서 단어를 찾는 대신 단어에서 커밋을 찾는다는 의미입니다. 키워드를 담는 dict와 작성자를 담는 dict 두 종류를 사용합니다. 한 메시지의 login이 세 번 반복되어도 그 커밋 hash는 해당 목록에 한 번만 들어갑니다. 쓰기 시점의 색인 비용과 추가 메모리 대신 검색 속도를 얻습니다. 해싱과 정규화는 문자열 길이만큼 비용이 별도로 듭니다.</a:t>
            </a:r>
          </a:p>
          <a:p>
            <a:r>
              <a:rPr lang="ko-KR" sz="1800"/>
              <a:t/>
            </a:r>
          </a:p>
          <a:p>
            <a:r>
              <a:rPr lang="ko-KR" sz="1800"/>
              <a:t>상세 설명 및 문답 전체</a:t>
            </a:r>
          </a:p>
          <a:p>
            <a:r>
              <a:rPr lang="ko-KR" sz="1800"/>
              <a:t/>
            </a:r>
          </a:p>
          <a:p>
            <a:r>
              <a:rPr lang="ko-KR" sz="1800"/>
              <a:t>index.py의 InvertedIndex는 커밋이 만들어질 때마다(COMMIT 실행 시) 메시지를 미리 분해해 색인해 둡니다.</a:t>
            </a:r>
          </a:p>
          <a:p>
            <a:r>
              <a:rPr lang="ko-KR" sz="1800"/>
              <a:t/>
            </a:r>
          </a:p>
          <a:p>
            <a:r>
              <a:rPr lang="ko-KR" sz="1800"/>
              <a:t>def add_commit(self, commit):</a:t>
            </a:r>
          </a:p>
          <a:p>
            <a:r>
              <a:rPr lang="ko-KR" sz="1800"/>
              <a:t>    tokens = tuple(token.lower() for token in commit.message.split())</a:t>
            </a:r>
          </a:p>
          <a:p>
            <a:r>
              <a:rPr lang="ko-KR" sz="1800"/>
              <a:t>    self._message_tokens[commit.hash] = tokens</a:t>
            </a:r>
          </a:p>
          <a:p>
            <a:r>
              <a:rPr lang="ko-KR" sz="1800"/>
              <a:t>    for keyword in dict.fromkeys(tokens):  # 한 커밋 안의 반복 단어 제거</a:t>
            </a:r>
          </a:p>
          <a:p>
            <a:r>
              <a:rPr lang="ko-KR" sz="1800"/>
              <a:t>        self._keyword_index.setdefault(keyword, []).append(commit.hash)</a:t>
            </a:r>
          </a:p>
          <a:p>
            <a:r>
              <a:rPr lang="ko-KR" sz="1800"/>
              <a:t>    self._author_index.setdefault(commit.author, []).append(commit.hash)</a:t>
            </a:r>
          </a:p>
          <a:p>
            <a:r>
              <a:rPr lang="ko-KR" sz="1800"/>
              <a:t/>
            </a:r>
          </a:p>
          <a:p>
            <a:r>
              <a:rPr lang="ko-KR" sz="1800"/>
              <a:t>아주 쉬운 설명: 책 뒤에 붙어있는 "찾아보기(색인)"와 같은 원리입니다. 책을 읽을 때마다 처음부터 그 단어를 찾는 대신, 미리 "</a:t>
            </a:r>
          </a:p>
          <a:p>
            <a:r>
              <a:rPr lang="ko-KR" sz="1800"/>
              <a:t>이 단어는 몇 페이지에 나온다"를 정리해 둔 목록을 보고 바로 그 페이지로 넘어가는 것과 같습니다. 여기서는 "이 단어는 어떤 커</a:t>
            </a:r>
          </a:p>
          <a:p>
            <a:r>
              <a:rPr lang="ko-KR" sz="1800"/>
              <a:t>밋(들)에 나온다"를 미리 정리해 둡니다.</a:t>
            </a:r>
          </a:p>
          <a:p>
            <a:r>
              <a:rPr lang="ko-KR" sz="1800"/>
              <a:t/>
            </a:r>
          </a:p>
          <a:p>
            <a:r>
              <a:rPr lang="ko-KR" sz="1800"/>
              <a:t>시간복잡도 비교:</a:t>
            </a:r>
          </a:p>
          <a:p>
            <a:r>
              <a:rPr lang="ko-KR" sz="1800"/>
              <a:t/>
            </a:r>
          </a:p>
          <a:p>
            <a:r>
              <a:rPr lang="ko-KR" sz="1800"/>
              <a:t>| 방식 | SEARCH 처리 방법 | 시간복잡도 | |---|---|---| | 순회 검색(역색인 없음) | 커밋 N개를 전부 훑으며 메시지 안에 키워</a:t>
            </a:r>
          </a:p>
          <a:p>
            <a:r>
              <a:rPr lang="ko-KR" sz="1800"/>
              <a:t>드가 있는지 매번 검사 | O(N) | | 단어 역색인 검색 | keyword_index[키워드]를 딕셔너리에서 바로 조회 | 평균 O(1) + 결과 복</a:t>
            </a:r>
          </a:p>
          <a:p>
            <a:r>
              <a:rPr lang="ko-KR" sz="1800"/>
              <a:t>사 O(k), 검색어 정규화 비용 별도 |</a:t>
            </a:r>
          </a:p>
          <a:p>
            <a:r>
              <a:rPr lang="ko-KR" sz="1800"/>
              <a:t/>
            </a:r>
          </a:p>
          <a:p>
            <a:r>
              <a:rPr lang="ko-KR" sz="1800"/>
              <a:t>커밋이 10개면 차이가 크게 안 느껴지지만, 커밋이 100만 개라면 순회 검색은 매번 100만 번을 다 훑어야 하는 반면, 역색인은</a:t>
            </a:r>
          </a:p>
          <a:p>
            <a:r>
              <a:rPr lang="ko-KR" sz="1800"/>
              <a:t>여전히 거의 즉시 결과를 돌려줍니다. 대신 "커밋을 만들 때마다 미리 색인해두는" 비용(메시지 길이에 비례하는 O(m))을 매번 지</a:t>
            </a:r>
          </a:p>
          <a:p>
            <a:r>
              <a:rPr lang="ko-KR" sz="1800"/>
              <a:t>불하는 트레이드오프입니다 — 검색이 저장보다 훨씬 자주 일어나는 상황(Git 로그처럼 한 번 만든 커밋을 여러 번 찾아보는 경우</a:t>
            </a:r>
          </a:p>
          <a:p>
            <a:r>
              <a:rPr lang="ko-KR" sz="1800"/>
              <a:t>)에 유리한 구조입니다.</a:t>
            </a:r>
          </a:p>
          <a:p>
            <a:r>
              <a:rPr lang="ko-KR" sz="1800"/>
              <a:t/>
            </a:r>
          </a:p>
          <a:p>
            <a:r>
              <a:rPr lang="ko-KR" sz="1800"/>
              <a:t>author 검색도 같은 원리: author_index[작성자명]으로 바로 조회하므로, "이 사람이 만든 커밋을 모두 보여줘"도 전체 순회 없</a:t>
            </a:r>
          </a:p>
          <a:p>
            <a:r>
              <a:rPr lang="ko-KR" sz="1800"/>
              <a:t>이 평균 O(1) 조회와 O(k) 결과 복사로 처리됩니다. 이름 길이에 따른 해싱 비용은 별도입니다.</a:t>
            </a:r>
          </a:p>
          <a:p>
            <a:r>
              <a:rPr lang="ko-KR" sz="1800"/>
              <a:t/>
            </a:r>
          </a:p>
          <a:p>
            <a:r>
              <a:rPr lang="ko-KR" sz="1800"/>
              <a:t>실제 확인: 제출/results/06_SEARCH.txt에서 search login이 정확히 1건(Add login feature)을, search --author="Alice Kim</a:t>
            </a:r>
          </a:p>
          <a:p>
            <a:r>
              <a:rPr lang="ko-KR" sz="1800"/>
              <a:t>"이 3건(전체)을, 없는 키워드는 0건을 반환함을 확인했습니다. 대소문자가 섞인 메시지도 "Login"으로 검색하면 매칭되는지(소</a:t>
            </a:r>
          </a:p>
          <a:p>
            <a:r>
              <a:rPr lang="ko-KR" sz="1800"/>
              <a:t>문자 정규화 확인) 별도 단위 테스트로도 검증했습니다(tests/test_mini_git.py).</a:t>
            </a:r>
          </a:p>
          <a:p>
            <a:r>
              <a:rPr lang="ko-KR" sz="1800"/>
              <a:t/>
            </a:r>
          </a:p>
          <a:p>
            <a:r>
              <a:rPr lang="ko-KR" sz="1800"/>
              <a:t>근거: mini_git/index.py: add_commit(), search_keyword(), search_author()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21 · 공백 포함 검색은 ‘연속 구문’으로</a:t>
            </a:r>
          </a:p>
          <a:p>
            <a:r>
              <a:rPr lang="ko-KR" sz="1800"/>
              <a:t/>
            </a:r>
          </a:p>
          <a:p>
            <a:r>
              <a:rPr lang="ko-KR" sz="1800"/>
              <a:t>이 검색은 부분 문자열 검색이 아닙니다. login으로 logging을 찾지 않습니다. 여러 단어를 검색할 때 단어가 다 있다는 사실만으로는 부족합니다. 붙어 있는지, 순서가 맞는지, 같은 단어를 반복한 구문인지 확인해야 합니다. 모든 커밋에 흔한 단어라면 후보가 많아질 수 있으므로 모든 검색이 O(1)이라고 말하지 않습니다.</a:t>
            </a:r>
          </a:p>
          <a:p>
            <a:r>
              <a:rPr lang="ko-KR" sz="1800"/>
              <a:t/>
            </a:r>
          </a:p>
          <a:p>
            <a:r>
              <a:rPr lang="ko-KR" sz="1800"/>
              <a:t>상세 설명 및 문답 전체</a:t>
            </a:r>
          </a:p>
          <a:p>
            <a:r>
              <a:rPr lang="ko-KR" sz="1800"/>
              <a:t/>
            </a:r>
          </a:p>
          <a:p>
            <a:r>
              <a:rPr lang="ko-KR" sz="1800"/>
              <a:t>공백 포함 구문 검색: SEARCH "login feature"는 가장 드문 단어의 역색인 후보만 가져와 메시지 토큰이 연속해서 일치하는지</a:t>
            </a:r>
          </a:p>
          <a:p>
            <a:r>
              <a:rPr lang="ko-KR" sz="1800"/>
              <a:t>검사합니다. 토큰의 순서와 반복 횟수는 구분하고 대소문자와 공백 수는 무시합니다. 구문 길이를 q, 후보 메시지들의 토큰 수 합</a:t>
            </a:r>
          </a:p>
          <a:p>
            <a:r>
              <a:rPr lang="ko-KR" sz="1800"/>
              <a:t>을 T라 하면 후보 검사는 최악 O(T·q)이며, 결과 출력 O(k)와 검색어 정규화 비용이 추가됩니다. 후보가 전체 커밋에 해당할 수</a:t>
            </a:r>
          </a:p>
          <a:p>
            <a:r>
              <a:rPr lang="ko-KR" sz="1800"/>
              <a:t>있으므로 구문 검색을 항상 O(1)이라 말할 수는 없습니다.</a:t>
            </a:r>
          </a:p>
          <a:p>
            <a:r>
              <a:rPr lang="ko-KR" sz="1800"/>
              <a:t/>
            </a:r>
          </a:p>
          <a:p>
            <a:r>
              <a:rPr lang="ko-KR" sz="1800"/>
              <a:t>근거: mini_git/index.py: search_keyword() · 제출/results/10_보완_회귀검증.txt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22 · 평가 질문: dict와 hash를 왜 썼나요?</a:t>
            </a:r>
          </a:p>
          <a:p>
            <a:r>
              <a:rPr lang="ko-KR" sz="1800"/>
              <a:t/>
            </a:r>
          </a:p>
          <a:p>
            <a:r>
              <a:rPr lang="ko-KR" sz="1800"/>
              <a:t>hash는 이 구현에서 짧은 문자열 식별자입니다. 같은 내용을 다시 커밋해도 시퀀스가 바뀌어 새로운 입력으로 해싱합니다. 서로 다른 입력의 출력이 같을 수 있으므로 존재 여부 검사와 재시도가 핵심입니다. 6자리 공간은 16의 6승으로 유한하다는 한계도 있습니다. 강제로 같은 digest가 나오게 만든 테스트로 재시도를 확인했습니다.</a:t>
            </a:r>
          </a:p>
          <a:p>
            <a:r>
              <a:rPr lang="ko-KR" sz="1800"/>
              <a:t/>
            </a:r>
          </a:p>
          <a:p>
            <a:r>
              <a:rPr lang="ko-KR" sz="1800"/>
              <a:t>상세 설명 및 문답 전체</a:t>
            </a:r>
          </a:p>
          <a:p>
            <a:r>
              <a:rPr lang="ko-KR" sz="1800"/>
              <a:t/>
            </a:r>
          </a:p>
          <a:p>
            <a:r>
              <a:rPr lang="ko-KR" sz="1800"/>
              <a:t>Q2. 커밋 저장소로 왜 dict를 썼는가? list로도 되지 않는가?</a:t>
            </a:r>
          </a:p>
          <a:p>
            <a:r>
              <a:rPr lang="ko-KR" sz="1800"/>
              <a:t/>
            </a:r>
          </a:p>
          <a:p>
            <a:r>
              <a:rPr lang="ko-KR" sz="1800"/>
              <a:t>PATH/ANCESTORS/COMMIT(부모 조회) 등 대부분의 연산이 "이 hash를 가진 커밋을 찾아라"라는 형태입니다. list에서 특정</a:t>
            </a:r>
          </a:p>
          <a:p>
            <a:r>
              <a:rPr lang="ko-KR" sz="1800"/>
              <a:t>값을 찾으려면 처음부터 끝까지 훑어야 해서 O(n)이지만, dict(해시맵)는 평균 O(1)에 바로 찾을 수 있습니다. 과제 명세도 "커밋</a:t>
            </a:r>
          </a:p>
          <a:p>
            <a:r>
              <a:rPr lang="ko-KR" sz="1800"/>
              <a:t>저장소는 커밋 hash로 빠르게 찾을 수 있어야 한다(예: 해시맵 기반)"고 명시하고 있고, 이 과제는 dict 사용을 허용하므로 (b3-1</a:t>
            </a:r>
          </a:p>
          <a:p>
            <a:r>
              <a:rPr lang="ko-KR" sz="1800"/>
              <a:t>의 Mini Redis와 달리 dict/list/set은 자유롭게 사용 가능) 표준 dict를 그대로 활용했습니다.</a:t>
            </a:r>
          </a:p>
          <a:p>
            <a:r>
              <a:rPr lang="ko-KR" sz="1800"/>
              <a:t/>
            </a:r>
          </a:p>
          <a:p>
            <a:r>
              <a:rPr lang="ko-KR" sz="1800"/>
              <a:t>Q3. 커밋 hash 중복은 어떻게 막았는가?</a:t>
            </a:r>
          </a:p>
          <a:p>
            <a:r>
              <a:rPr lang="ko-KR" sz="1800"/>
              <a:t/>
            </a:r>
          </a:p>
          <a:p>
            <a:r>
              <a:rPr lang="ko-KR" sz="1800"/>
              <a:t>commit.py의 generate_commit_hash는 메시지/작성자/시각/부모 목록에 더해 세션 동안 계속 증가하기만 하는 카운터를 함께</a:t>
            </a:r>
          </a:p>
          <a:p>
            <a:r>
              <a:rPr lang="ko-KR" sz="1800"/>
              <a:t>SHA-1으로 해싱합니다. 같은 내용도 시퀀스 번호를 바꾸어 새로운 입력으로 해싱합니다. 서로 다른 입력도 같은 출력 hash를 만</a:t>
            </a:r>
          </a:p>
          <a:p>
            <a:r>
              <a:rPr lang="ko-KR" sz="1800"/>
              <a:t>들 수 있으므로, 유일성을 보장하는 핵심은 기존 hash와 비교하고 충돌하면 재시도하는 검사입니다. 6자리 공간은 166개로 유한</a:t>
            </a:r>
          </a:p>
          <a:p>
            <a:r>
              <a:rPr lang="ko-KR" sz="1800"/>
              <a:t>합니다. 충돌을 강제로 발생시키는 회귀 테스트로 재시도 동작을 확인했습니다.</a:t>
            </a:r>
          </a:p>
          <a:p>
            <a:r>
              <a:rPr lang="ko-KR" sz="1800"/>
              <a:t/>
            </a:r>
          </a:p>
          <a:p>
            <a:r>
              <a:rPr lang="ko-KR" sz="1800"/>
              <a:t>근거: mini_git/commit.py · repository.py · test_hash_collision_retry</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23 · 평가 질문: CLI 정책을 설명해 보세요</a:t>
            </a:r>
          </a:p>
          <a:p>
            <a:r>
              <a:rPr lang="ko-KR" sz="1800"/>
              <a:t/>
            </a:r>
          </a:p>
          <a:p>
            <a:r>
              <a:rPr lang="ko-KR" sz="1800"/>
              <a:t>기존 설명 문서에는 BRANCH 덮어쓰기 정책이 남아 있었지만 현재 코드는 중복 이름을 거부합니다. 발표에서는 현재 구현을 기준으로 답합니다. [branch]는 커밋의 생성 당시 메타데이터라 지금 브랜치가 가리키는 곳이라는 의미가 아닙니다. 표준 오류에는 Invalid args, Unknown branch, Unknown commit이 있고, 초기화 전 안내는 별도 확장입니다. 재초기화는 저장 데이터를 없애므로 데모를 다시 시작할 때 사용합니다.</a:t>
            </a:r>
          </a:p>
          <a:p>
            <a:r>
              <a:rPr lang="ko-KR" sz="1800"/>
              <a:t/>
            </a:r>
          </a:p>
          <a:p>
            <a:r>
              <a:rPr lang="ko-KR" sz="1800"/>
              <a:t>상세 설명 및 문답 전체</a:t>
            </a:r>
          </a:p>
          <a:p>
            <a:r>
              <a:rPr lang="ko-KR" sz="1800"/>
              <a:t/>
            </a:r>
          </a:p>
          <a:p>
            <a:r>
              <a:rPr lang="ko-KR" sz="1800"/>
              <a:t>Q1. LOG의 [branch] 표시는 과제 예시와 다르게 --sort-by 결과에도 항상 나오게 했는데, 왜인가?</a:t>
            </a:r>
          </a:p>
          <a:p>
            <a:r>
              <a:rPr lang="ko-KR" sz="1800"/>
              <a:t/>
            </a:r>
          </a:p>
          <a:p>
            <a:r>
              <a:rPr lang="ko-KR" sz="1800"/>
              <a:t>과제 예시는 --sort-by 결과에서 [branch] 태그를 생략했지만, "출력 포맷은 자유이나 hash/author/timestamp/message가 식</a:t>
            </a:r>
          </a:p>
          <a:p>
            <a:r>
              <a:rPr lang="ko-KR" sz="1800"/>
              <a:t>별 가능해야 한다"고만 명시되어 있어 형식 선택의 여지가 있었습니다. 정보가 더 많은 쪽이 유용하다고 판단해 두 출력 모두 일관</a:t>
            </a:r>
          </a:p>
          <a:p>
            <a:r>
              <a:rPr lang="ko-KR" sz="1800"/>
              <a:t>되게 [branch]를 포함시켰습니다.</a:t>
            </a:r>
          </a:p>
          <a:p>
            <a:r>
              <a:rPr lang="ko-KR" sz="1800"/>
              <a:t/>
            </a:r>
          </a:p>
          <a:p>
            <a:r>
              <a:rPr lang="ko-KR" sz="1800"/>
              <a:t>Q2. INIT을 다시 호출하면 기존 데이터는 어떻게 되는가?</a:t>
            </a:r>
          </a:p>
          <a:p>
            <a:r>
              <a:rPr lang="ko-KR" sz="1800"/>
              <a:t/>
            </a:r>
          </a:p>
          <a:p>
            <a:r>
              <a:rPr lang="ko-KR" sz="1800"/>
              <a:t>저장소 전체(커밋/브랜치/역색인)를 새로 초기화합니다. 과제 명세가 "INIT은 저장소 초기화"라고 정의하고 있고, 별도의 "재초기</a:t>
            </a:r>
          </a:p>
          <a:p>
            <a:r>
              <a:rPr lang="ko-KR" sz="1800"/>
              <a:t>화 방지" 요구사항이 없었기 때문에 매번 새로 시작하는 것이 가장 직관적이라고 판단했습니다.</a:t>
            </a:r>
          </a:p>
          <a:p>
            <a:r>
              <a:rPr lang="ko-KR" sz="1800"/>
              <a:t/>
            </a:r>
          </a:p>
          <a:p>
            <a:r>
              <a:rPr lang="ko-KR" sz="1800"/>
              <a:t>Q3. BRANCH를 이미 존재하는 이름으로 다시 호출하면?</a:t>
            </a:r>
          </a:p>
          <a:p>
            <a:r>
              <a:rPr lang="ko-KR" sz="1800"/>
              <a:t/>
            </a:r>
          </a:p>
          <a:p>
            <a:r>
              <a:rPr lang="ko-KR" sz="1800"/>
              <a:t>Invalid args로 거부하고 기존 브랜치의 HEAD를 보존합니다. BRANCH는 새 이름표를 추가하는 기능이므로 기존 이름표를 조용</a:t>
            </a:r>
          </a:p>
          <a:p>
            <a:r>
              <a:rPr lang="ko-KR" sz="1800"/>
              <a:t>히 이동시키지 않습니다. 다른 브랜치에서 BRANCH main을 입력해도 모든 브랜치 포인터와 현재 브랜치가 유지되는지 회귀 테</a:t>
            </a:r>
          </a:p>
          <a:p>
            <a:r>
              <a:rPr lang="ko-KR" sz="1800"/>
              <a:t>스트로 확인했습니다.</a:t>
            </a:r>
          </a:p>
          <a:p>
            <a:r>
              <a:rPr lang="ko-KR" sz="1800"/>
              <a:t/>
            </a:r>
          </a:p>
          <a:p>
            <a:r>
              <a:rPr lang="ko-KR" sz="1800"/>
              <a:t>Q4. INIT 이전에 다른 명령을 입력하면 어떻게 되는가?</a:t>
            </a:r>
          </a:p>
          <a:p>
            <a:r>
              <a:rPr lang="ko-KR" sz="1800"/>
              <a:t/>
            </a:r>
          </a:p>
          <a:p>
            <a:r>
              <a:rPr lang="ko-KR" sz="1800"/>
              <a:t>Repository not initialized. Run INIT first.라는 안내 메시지를 반환합니다. 이는 과제 명세의 최소 3종 표준 에러에는 없지만, "</a:t>
            </a:r>
          </a:p>
          <a:p>
            <a:r>
              <a:rPr lang="ko-KR" sz="1800"/>
              <a:t>잘못된 입력에 대한 최소 에러 메시지를 표준화한다"는 조항이 그 3개가 전부라고 못박지는 않았기 때문에, 사용성을 위해 추가한</a:t>
            </a:r>
          </a:p>
          <a:p>
            <a:r>
              <a:rPr lang="ko-KR" sz="1800"/>
              <a:t>확장입니다.</a:t>
            </a:r>
          </a:p>
          <a:p>
            <a:r>
              <a:rPr lang="ko-KR" sz="1800"/>
              <a:t/>
            </a:r>
          </a:p>
          <a:p>
            <a:r>
              <a:rPr lang="ko-KR" sz="1800"/>
              <a:t>근거: mini_git/cli.py · repository.py · tests/test_mini_git.py</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24 · 평가 질문: 과제 제약을 지켰나요?</a:t>
            </a:r>
          </a:p>
          <a:p>
            <a:r>
              <a:rPr lang="ko-KR" sz="1800"/>
              <a:t/>
            </a:r>
          </a:p>
          <a:p>
            <a:r>
              <a:rPr lang="ko-KR" sz="1800"/>
              <a:t>AST는 파이썬 코드를 문법 구조로 읽은 것입니다. 주석에 sorted라는 단어가 있어도 실제 호출인지 구분할 수 있습니다. 현재 구현의 호출 AST를 검사하고 import 문도 직접 확인했습니다. 테스트 자체의 무작위 정렬 검증도 표준 정렬 결과에 기대지 않고 오름차순, 원소 보존, 안정성을 확인합니다. 기본 자료형은 허용되므로 dict를 직접 만들 필요는 없습니다.</a:t>
            </a:r>
          </a:p>
          <a:p>
            <a:r>
              <a:rPr lang="ko-KR" sz="1800"/>
              <a:t/>
            </a:r>
          </a:p>
          <a:p>
            <a:r>
              <a:rPr lang="ko-KR" sz="1800"/>
              <a:t>상세 설명 및 문답 전체</a:t>
            </a:r>
          </a:p>
          <a:p>
            <a:r>
              <a:rPr lang="ko-KR" sz="1800"/>
              <a:t/>
            </a:r>
          </a:p>
          <a:p>
            <a:r>
              <a:rPr lang="ko-KR" sz="1800"/>
              <a:t>Q1. sorted()/list.sort()를 정말 하나도 안 썼는가?</a:t>
            </a:r>
          </a:p>
          <a:p>
            <a:r>
              <a:rPr lang="ko-KR" sz="1800"/>
              <a:t/>
            </a:r>
          </a:p>
          <a:p>
            <a:r>
              <a:rPr lang="ko-KR" sz="1800"/>
              <a:t>파이썬에는 sorted()와 list.sort()라는 기본 정렬 기능이 있습니다. 이 과제는 정렬 원리를 직접 구현하는 연습이므로, 기본 기능 대신 직접 만든 merge_sort()를 사용했습니다.</a:t>
            </a:r>
          </a:p>
          <a:p>
            <a:r>
              <a:rPr lang="ko-KR" sz="1800"/>
              <a:t/>
            </a:r>
          </a:p>
          <a:p>
            <a:r>
              <a:rPr lang="ko-KR" sz="1800"/>
              <a:t>코드에서 sorted()나 .sort()를 실제로 호출했는지 검사했습니다. 주석에 이름만 적힌 것은 사용한 것이 아닙니다. AST 검사는 코드를 문법 구조로 분석해 실제 함수 호출을 확인하는 방법입니다.</a:t>
            </a:r>
          </a:p>
          <a:p>
            <a:r>
              <a:rPr lang="ko-KR" sz="1800"/>
              <a:t/>
            </a:r>
          </a:p>
          <a:p>
            <a:r>
              <a:rPr lang="ko-KR" sz="1800"/>
              <a:t>정렬 결과도 확인했습니다.</a:t>
            </a:r>
          </a:p>
          <a:p>
            <a:r>
              <a:rPr lang="ko-KR" sz="1800"/>
              <a:t>• 오름차순: 작은 값부터 나오는가?</a:t>
            </a:r>
          </a:p>
          <a:p>
            <a:r>
              <a:rPr lang="ko-KR" sz="1800"/>
              <a:t>• 원소 보존: 데이터가 빠지거나 추가되지 않았는가?</a:t>
            </a:r>
          </a:p>
          <a:p>
            <a:r>
              <a:rPr lang="ko-KR" sz="1800"/>
              <a:t>• 같은 값의 순서 유지: Alice①이 Alice②보다 앞에 남는가?</a:t>
            </a:r>
          </a:p>
          <a:p>
            <a:r>
              <a:rPr lang="ko-KR" sz="1800"/>
              <a:t>• 원본 불변: 입력 데이터는 그대로인가?</a:t>
            </a:r>
          </a:p>
          <a:p>
            <a:r>
              <a:rPr lang="ko-KR" sz="1800"/>
              <a:t/>
            </a:r>
          </a:p>
          <a:p>
            <a:r>
              <a:rPr lang="ko-KR" sz="1800"/>
              <a:t>발표 답변: 기본 정렬 함수 대신 병합 정렬을 직접 구현했습니다. 금지된 함수 사용 여부와 정렬 결과를 테스트했습니다.</a:t>
            </a:r>
          </a:p>
          <a:p>
            <a:r>
              <a:rPr lang="ko-KR" sz="1800"/>
              <a:t/>
            </a:r>
          </a:p>
          <a:p>
            <a:r>
              <a:rPr lang="ko-KR" sz="1800"/>
              <a:t>Q2. 그래프 전용 라이브러리를 안 썼다는 건 어떻게 확인했는가?</a:t>
            </a:r>
          </a:p>
          <a:p>
            <a:r>
              <a:rPr lang="ko-KR" sz="1800"/>
              <a:t/>
            </a:r>
          </a:p>
          <a:p>
            <a:r>
              <a:rPr lang="ko-KR" sz="1800"/>
              <a:t>import와 from은 다른 파일이나 도구의 기능을 가져오는 명령입니다. 이 명령들을 살펴보면 어떤 도구를 사용했는지 알 수 있습니다.</a:t>
            </a:r>
          </a:p>
          <a:p>
            <a:r>
              <a:rPr lang="ko-KR" sz="1800"/>
              <a:t/>
            </a:r>
          </a:p>
          <a:p>
            <a:r>
              <a:rPr lang="ko-KR" sz="1800"/>
              <a:t>가져온 도구와 용도는 다음과 같습니다.</a:t>
            </a:r>
          </a:p>
          <a:p>
            <a:r>
              <a:rPr lang="ko-KR" sz="1800"/>
              <a:t>• hashlib: 커밋 hash 생성</a:t>
            </a:r>
          </a:p>
          <a:p>
            <a:r>
              <a:rPr lang="ko-KR" sz="1800"/>
              <a:t>• itertools: 순번 생성</a:t>
            </a:r>
          </a:p>
          <a:p>
            <a:r>
              <a:rPr lang="ko-KR" sz="1800"/>
              <a:t>• datetime: 날짜·시간 처리</a:t>
            </a:r>
          </a:p>
          <a:p>
            <a:r>
              <a:rPr lang="ko-KR" sz="1800"/>
              <a:t>• shlex: 입력 명령과 따옴표 해석</a:t>
            </a:r>
          </a:p>
          <a:p>
            <a:r>
              <a:rPr lang="ko-KR" sz="1800"/>
              <a:t>• mini_git 내부 모듈: 프로젝트에서 직접 작성한 코드</a:t>
            </a:r>
          </a:p>
          <a:p>
            <a:r>
              <a:rPr lang="ko-KR" sz="1800"/>
              <a:t/>
            </a:r>
          </a:p>
          <a:p>
            <a:r>
              <a:rPr lang="ko-KR" sz="1800"/>
              <a:t>그래프 탐색을 대신 해주는 networkx 같은 라이브러리는 사용하지 않았습니다.</a:t>
            </a:r>
          </a:p>
          <a:p>
            <a:r>
              <a:rPr lang="ko-KR" sz="1800"/>
              <a:t/>
            </a:r>
          </a:p>
          <a:p>
            <a:r>
              <a:rPr lang="ko-KR" sz="1800"/>
              <a:t>발표 답변: 코드의 import 문을 확인했습니다. 날짜나 hash 생성 도구와 직접 작성한 코드만 사용했고, 그래프 탐색은 직접 구현했습니다.</a:t>
            </a:r>
          </a:p>
          <a:p>
            <a:r>
              <a:rPr lang="ko-KR" sz="1800"/>
              <a:t/>
            </a:r>
          </a:p>
          <a:p>
            <a:r>
              <a:rPr lang="ko-KR" sz="1800"/>
              <a:t>Q3. dict/list/set을 자유롭게 쓸 수 있다는 걸 어떻게 활용했는가?</a:t>
            </a:r>
          </a:p>
          <a:p>
            <a:r>
              <a:rPr lang="ko-KR" sz="1800"/>
              <a:t/>
            </a:r>
          </a:p>
          <a:p>
            <a:r>
              <a:rPr lang="ko-KR" sz="1800"/>
              <a:t>쉽게 말하면 “파이썬의 기본 보관함 세 가지를 용도에 맞게 사용했다”는 뜻입니다.</a:t>
            </a:r>
          </a:p>
          <a:p>
            <a:r>
              <a:rPr lang="ko-KR" sz="1800"/>
              <a:t/>
            </a:r>
          </a:p>
          <a:p>
            <a:r>
              <a:rPr lang="ko-KR" sz="1800"/>
              <a:t>dict: 이름표로 값을 찾는 보관함입니다. hash로 커밋을 찾고, 브랜치와 검색 색인을 관리합니다.</a:t>
            </a:r>
          </a:p>
          <a:p>
            <a:r>
              <a:rPr lang="ko-KR" sz="1800"/>
              <a:t>  커밋 저장소: "5f8188" → 해당 커밋</a:t>
            </a:r>
          </a:p>
          <a:p>
            <a:r>
              <a:rPr lang="ko-KR" sz="1800"/>
              <a:t>  브랜치 관리: "main" → 마지막 커밋의 hash</a:t>
            </a:r>
          </a:p>
          <a:p>
            <a:r>
              <a:rPr lang="ko-KR" sz="1800"/>
              <a:t>  검색 색인: "login" → 해당 커밋들의 hash 목록</a:t>
            </a:r>
          </a:p>
          <a:p>
            <a:r>
              <a:rPr lang="ko-KR" sz="1800"/>
              <a:t/>
            </a:r>
          </a:p>
          <a:p>
            <a:r>
              <a:rPr lang="ko-KR" sz="1800"/>
              <a:t>list: 여러 값을 순서대로 담는 목록입니다. 부모 커밋 목록, 탐색 대기 목록, 결과 목록에 사용합니다.</a:t>
            </a:r>
          </a:p>
          <a:p>
            <a:r>
              <a:rPr lang="ko-KR" sz="1800"/>
              <a:t/>
            </a:r>
          </a:p>
          <a:p>
            <a:r>
              <a:rPr lang="ko-KR" sz="1800"/>
              <a:t>set: 같은 값이 중복되지 않는 모음입니다. 이미 방문한 커밋을 기록합니다.</a:t>
            </a:r>
          </a:p>
          <a:p>
            <a:r>
              <a:rPr lang="ko-KR" sz="1800"/>
              <a:t>  A를 처음 발견 → 방문 기록에 넣기</a:t>
            </a:r>
          </a:p>
          <a:p>
            <a:r>
              <a:rPr lang="ko-KR" sz="1800"/>
              <a:t>  A를 다시 발견 → 이미 방문했으므로 건너뛰기</a:t>
            </a:r>
          </a:p>
          <a:p>
            <a:r>
              <a:rPr lang="ko-KR" sz="1800"/>
              <a:t>따라서 같은 조상 A를 결과에 여러 번 넣지 않습니다. 방문 여부 확인도 평균적으로 빠릅니다.</a:t>
            </a:r>
          </a:p>
          <a:p>
            <a:r>
              <a:rPr lang="ko-KR" sz="1800"/>
              <a:t/>
            </a:r>
          </a:p>
          <a:p>
            <a:r>
              <a:rPr lang="ko-KR" sz="1800"/>
              <a:t>과제에서 이 기본 자료형은 사용을 허용하므로 활용했습니다. 탐색과 정렬 알고리즘은 직접 구현했습니다.</a:t>
            </a:r>
          </a:p>
          <a:p>
            <a:r>
              <a:rPr lang="ko-KR" sz="1800"/>
              <a:t/>
            </a:r>
          </a:p>
          <a:p>
            <a:r>
              <a:rPr lang="ko-KR" sz="1800"/>
              <a:t>발표 답변: dict는 커밋과 검색 정보를 빠르게 찾는 데, list는 부모와 결과 목록을 담는 데, set은 중복 방문을 막는 데 사용했습니다.</a:t>
            </a:r>
          </a:p>
          <a:p>
            <a:r>
              <a:rPr lang="ko-KR" sz="1800"/>
              <a:t/>
            </a:r>
          </a:p>
          <a:p>
            <a:r>
              <a:rPr lang="ko-KR" sz="1800"/>
              <a:t>Q4. 네트워크/파일 추적/영속성을 구현하지 않은 이유는?</a:t>
            </a:r>
          </a:p>
          <a:p>
            <a:r>
              <a:rPr lang="ko-KR" sz="1800"/>
              <a:t/>
            </a:r>
          </a:p>
          <a:p>
            <a:r>
              <a:rPr lang="ko-KR" sz="1800"/>
              <a:t>과제에서 이 기능들을 만들 필요가 없다고 정했기 때문입니다. 이번 과제는 커밋 사이의 관계와 탐색·정렬·검색 원리를 배우는 데 집중합니다.</a:t>
            </a:r>
          </a:p>
          <a:p>
            <a:r>
              <a:rPr lang="ko-KR" sz="1800"/>
              <a:t/>
            </a:r>
          </a:p>
          <a:p>
            <a:r>
              <a:rPr lang="ko-KR" sz="1800"/>
              <a:t>• 네트워크 통신: GitHub 같은 다른 서버로 데이터를 보내거나 받는 기능입니다. 이번에는 구현하지 않았습니다.</a:t>
            </a:r>
          </a:p>
          <a:p>
            <a:r>
              <a:rPr lang="ko-KR" sz="1800"/>
              <a:t>• 파일 내용 추적: 실제 소스 파일의 내용과 변경 사항을 기록하는 기능입니다. 이번에는 hash·메시지·작성자·시각·부모 관계 같은 커밋 정보만 관리합니다.</a:t>
            </a:r>
          </a:p>
          <a:p>
            <a:r>
              <a:rPr lang="ko-KR" sz="1800"/>
              <a:t>• 영속성: 프로그램을 종료해도 데이터가 남도록 파일 등에 저장하는 기능입니다. 이번에는 메모리에만 보관하므로 종료 후 다시 실행하면 커밋과 브랜치가 사라집니다.</a:t>
            </a:r>
          </a:p>
          <a:p>
            <a:r>
              <a:rPr lang="ko-KR" sz="1800"/>
              <a:t/>
            </a:r>
          </a:p>
          <a:p>
            <a:r>
              <a:rPr lang="ko-KR" sz="1800"/>
              <a:t>발표 답변: 과제 범위에 따라 파일 내용과 네트워크 기능은 생략했고, 저장도 메모리에서만 합니다. 커밋 그래프의 탐색·정렬·검색을 직접 구현하는 데 집중했습니다.</a:t>
            </a:r>
          </a:p>
          <a:p>
            <a:r>
              <a:rPr lang="ko-KR" sz="1800"/>
              <a:t/>
            </a:r>
          </a:p>
          <a:p>
            <a:r>
              <a:rPr lang="ko-KR" sz="1800"/>
              <a:t>근거: 과제: 제약 사항 · tests/test_mini_git.py: AST 검사</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25 · 평가 질문: 알고리즘을 어떻게 믿을 수 있나요?</a:t>
            </a:r>
          </a:p>
          <a:p>
            <a:r>
              <a:rPr lang="ko-KR" sz="1800"/>
              <a:t/>
            </a:r>
          </a:p>
          <a:p>
            <a:r>
              <a:rPr lang="ko-KR" sz="1800"/>
              <a:t>정답 검증용 방식은 제품 알고리즘과 다른 것이 좋습니다. PATH 구현은 BFS를 쓰고, 작은 그래프의 검증은 모든 단순 경로를 열거하여 길이와 문자열을 비교합니다. 이 느린 방식은 작은 테스트에만 사용합니다. 무작위 DAG는 고정 seed를 사용해 다시 같은 입력을 만들 수 있습니다. 과제 예시와는 hash 값이 아니라 흐름과 조건을 비교합니다. 15개 통과가 모든 가능한 입력의 무결함을 증명하는 것은 아닙니다.</a:t>
            </a:r>
          </a:p>
          <a:p>
            <a:r>
              <a:rPr lang="ko-KR" sz="1800"/>
              <a:t/>
            </a:r>
          </a:p>
          <a:p>
            <a:r>
              <a:rPr lang="ko-KR" sz="1800"/>
              <a:t>상세 설명 및 문답 전체</a:t>
            </a:r>
          </a:p>
          <a:p>
            <a:r>
              <a:rPr lang="ko-KR" sz="1800"/>
              <a:t/>
            </a:r>
          </a:p>
          <a:p>
            <a:r>
              <a:rPr lang="ko-KR" sz="1800"/>
              <a:t>Q1. 각 알고리즘이 올바르게 동작하는지 어떻게 검증했는가?</a:t>
            </a:r>
          </a:p>
          <a:p>
            <a:r>
              <a:rPr lang="ko-KR" sz="1800"/>
              <a:t/>
            </a:r>
          </a:p>
          <a:p>
            <a:r>
              <a:rPr lang="ko-KR" sz="1800"/>
              <a:t>REPL을 통한 통합 테스트 외에, sorting.py/traversal.py/index.py를 직접 import해서 모듈 단위로도 검증했습니다. 병합 정렬</a:t>
            </a:r>
          </a:p>
          <a:p>
            <a:r>
              <a:rPr lang="ko-KR" sz="1800"/>
              <a:t>은 서로 다른 작성자·시각을 가진 가짜 커밋과 무작위 정수 1,000개로, 그래프 탐색은 병합 커밋이 있는 다이아몬드형 구조를 직</a:t>
            </a:r>
          </a:p>
          <a:p>
            <a:r>
              <a:rPr lang="ko-KR" sz="1800"/>
              <a:t>접 만들어 위상 정렬 순서·최단 경로의 사전순 타이브레이크·조상 집합을 모두 정밀 검증했습니다 (제출/실행결과.md의 "알고리</a:t>
            </a:r>
          </a:p>
          <a:p>
            <a:r>
              <a:rPr lang="ko-KR" sz="1800"/>
              <a:t>즘 검증" 및 tests/test_mini_git.py 참고).</a:t>
            </a:r>
          </a:p>
          <a:p>
            <a:r>
              <a:rPr lang="ko-KR" sz="1800"/>
              <a:t/>
            </a:r>
          </a:p>
          <a:p>
            <a:r>
              <a:rPr lang="ko-KR" sz="1800"/>
              <a:t>Q2. 과제의 "8. 결과 예시"와 실제 실행 결과가 일치하는가?</a:t>
            </a:r>
          </a:p>
          <a:p>
            <a:r>
              <a:rPr lang="ko-KR" sz="1800"/>
              <a:t/>
            </a:r>
          </a:p>
          <a:p>
            <a:r>
              <a:rPr lang="ko-KR" sz="1800"/>
              <a:t>명령의 구조(초기화→커밋→브랜치→전환→커밋→LOG→PATH→SEARCH)와 각 명령의 출력 형식(Initialized repository. / [bra</a:t>
            </a:r>
          </a:p>
          <a:p>
            <a:r>
              <a:rPr lang="ko-KR" sz="1800"/>
              <a:t>nch hash] message / commit hash (author, timestamp) [branch] / Path: h1 -&gt; h2 / Found N commit(s):)이 모두 예시와</a:t>
            </a:r>
          </a:p>
          <a:p>
            <a:r>
              <a:rPr lang="ko-KR" sz="1800"/>
              <a:t>동일하게 재현됩니다. 실제 hash 값은 SHA-1 기반으로 매 실행마다 새로 생성되므로 예시의 a1b2c3과는 다르지만, 과제 원문도</a:t>
            </a:r>
          </a:p>
          <a:p>
            <a:r>
              <a:rPr lang="ko-KR" sz="1800"/>
              <a:t>"실제 문구와 디자인은 달라도 된다"고 명시하고 있어 문제가 되지 않습니다.</a:t>
            </a:r>
          </a:p>
          <a:p>
            <a:r>
              <a:rPr lang="ko-KR" sz="1800"/>
              <a:t/>
            </a:r>
          </a:p>
          <a:p>
            <a:r>
              <a:rPr lang="ko-KR" sz="1800"/>
              <a:t>막히는 질문이 나오면 README.md, 실제 코드(cli.py → repository.py → traversal.py/sorting.py/index.py 순서), 그리고 제</a:t>
            </a:r>
          </a:p>
          <a:p>
            <a:r>
              <a:rPr lang="ko-KR" sz="1800"/>
              <a:t>출/실행결과.md와 제출/results/의 실제 실행 결과를 같이 보여주면서 설명하는 것이 가장 확실합니다.</a:t>
            </a:r>
          </a:p>
          <a:p>
            <a:r>
              <a:rPr lang="ko-KR" sz="1800"/>
              <a:t/>
            </a:r>
          </a:p>
          <a:p>
            <a:r>
              <a:rPr lang="ko-KR" sz="1800"/>
              <a:t>근거: tests/test_mini_git.py · 제출/results/11_자동검증.txt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26 · 이제 내 말로 1분 동안 설명해 보세요</a:t>
            </a:r>
          </a:p>
          <a:p>
            <a:r>
              <a:rPr lang="ko-KR" sz="1800"/>
              <a:t/>
            </a:r>
          </a:p>
          <a:p>
            <a:r>
              <a:rPr lang="ko-KR" sz="1800"/>
              <a:t>연습 답변: 저는 커밋 메타데이터를 관리하는 Mini Git을 만들었습니다. b3-2에서 실행하고 브랜치를 나누어 부모 관계를 확인했습니다. LOG는 부모가 먼저 나오도록 위상 정렬하고, PATH는 연결을 양방향으로 보아 BFS로 최단 거리를 구합니다. 조상은 부모 방향으로 찾고, 정렬은 병합 정렬, 검색은 역색인으로 구현했습니다. Python 3.12.13에서 테스트 15개가 통과했으며 결과와 코드는 제출/results와 tests 폴더에 있습니다. 질문을 받으면 해당 소스 파일과 결과를 함께 보여 주세요.</a:t>
            </a:r>
          </a:p>
          <a:p>
            <a:r>
              <a:rPr lang="ko-KR" sz="1800"/>
              <a:t/>
            </a:r>
          </a:p>
          <a:p>
            <a:r>
              <a:rPr lang="ko-KR" sz="1800"/>
              <a:t>상세 설명 및 문답 전체</a:t>
            </a:r>
          </a:p>
          <a:p>
            <a:r>
              <a:rPr lang="ko-KR" sz="1800"/>
              <a:t/>
            </a:r>
          </a:p>
          <a:p>
            <a:r>
              <a:rPr lang="ko-KR" sz="1800"/>
              <a:t>&gt; "커밋은 부모 hash 목록만 들고 있는 노드이고, 이 참조들이 모여 DAG를 &gt; 이룹니다. LOG는 Kahn의 위상 정렬로 부모가 항</a:t>
            </a:r>
          </a:p>
          <a:p>
            <a:r>
              <a:rPr lang="ko-KR" sz="1800"/>
              <a:t>상 자식보다 먼저 나오게 &gt; 했고, PATH는 부모-자식 연결을 무방향 간선으로 보고 양쪽에서 BFS 거리를 &gt; 구해 사전순으로 가</a:t>
            </a:r>
          </a:p>
          <a:p>
            <a:r>
              <a:rPr lang="ko-KR" sz="1800"/>
              <a:t>장 작은 최단 경로를 탐욕적으로 재구성했습니다. &gt; ANCESTORS는 부모 방향 BFS로 도달 가능한 모든 조상을 찾습니다. 정렬은</a:t>
            </a:r>
          </a:p>
          <a:p>
            <a:r>
              <a:rPr lang="ko-KR" sz="1800"/>
              <a:t>&gt; sorted() 없이 병합 정렬을 직접 구현해 O(n log n)을 항상 보장하고 &gt; 안정 정렬 성질로 동률 처리를 자연스럽게 해결했습니</a:t>
            </a:r>
          </a:p>
          <a:p>
            <a:r>
              <a:rPr lang="ko-KR" sz="1800"/>
              <a:t>다. 검색은 커밋 &gt; 생성 시점에 미리 만들어두는 역색인으로 후보를 가져옵니다. 단어·작성자 조회는 &gt; 평균 O(1)에 결과 처리 O(</a:t>
            </a:r>
          </a:p>
          <a:p>
            <a:r>
              <a:rPr lang="ko-KR" sz="1800"/>
              <a:t>k)가 추가되고, 구문 검색은 후보 메시지를 확인합니다."</a:t>
            </a:r>
          </a:p>
          <a:p>
            <a:r>
              <a:rPr lang="ko-KR" sz="1800"/>
              <a:t/>
            </a:r>
          </a:p>
          <a:p>
            <a:r>
              <a:rPr lang="ko-KR" sz="1800"/>
              <a:t>근거: README.md · 최종검수결과.md · 제출/실행결과.md</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Mini Git 실행부터 평가 설명까지">
    <p:bg>
      <p:bgPr>
        <a:solidFill>
          <a:srgbClr val="142536"/>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E9B55B"/>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E9B55B"/>
                </a:solidFill>
                <a:latin typeface="Arial"/>
                <a:ea typeface="Malgun Gothic"/>
                <a:cs typeface="Arial"/>
              </a:rPr>
              <a:t xml:space="preserve">START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FFFFFF"/>
                </a:solidFill>
                <a:latin typeface="Arial"/>
                <a:ea typeface="Malgun Gothic"/>
                <a:cs typeface="Arial"/>
              </a:rPr>
              <a:t xml:space="preserve">01 / 26</a:t>
            </a:r>
            <a:endParaRPr lang="ko-KR" sz="1250"/>
          </a:p>
        </p:txBody>
      </p:sp>
      <p:sp>
        <p:nvSpPr>
          <p:cNvPr id="5" name="Text 5"/>
          <p:cNvSpPr txBox="1"/>
          <p:nvPr/>
        </p:nvSpPr>
        <p:spPr>
          <a:xfrm>
            <a:off x="603250" y="1151093"/>
            <a:ext cx="6985000" cy="1531471"/>
          </a:xfrm>
          <a:prstGeom prst="rect">
            <a:avLst/>
          </a:prstGeom>
          <a:noFill/>
          <a:ln>
            <a:noFill/>
          </a:ln>
        </p:spPr>
        <p:txBody>
          <a:bodyPr wrap="square" lIns="0" tIns="0" rIns="0" bIns="0" anchor="t">
            <a:noAutofit/>
          </a:bodyPr>
          <a:lstStyle/>
          <a:p>
            <a:pPr algn="l">
              <a:lnSpc>
                <a:spcPts val="5850"/>
              </a:lnSpc>
            </a:pPr>
            <a:r>
              <a:rPr lang="ko-KR" sz="4500" b="1">
                <a:solidFill>
                  <a:srgbClr val="FFFFFF"/>
                </a:solidFill>
                <a:latin typeface="Arial"/>
                <a:ea typeface="Malgun Gothic"/>
                <a:cs typeface="Arial"/>
              </a:rPr>
              <a:t xml:space="preserve">Mini Git</a:t>
            </a:r>
            <a:endParaRPr lang="ko-KR" sz="4500"/>
          </a:p>
          <a:p>
            <a:pPr algn="l">
              <a:lnSpc>
                <a:spcPts val="5850"/>
              </a:lnSpc>
            </a:pPr>
            <a:r>
              <a:rPr lang="ko-KR" sz="4500" b="1">
                <a:solidFill>
                  <a:srgbClr val="FFFFFF"/>
                </a:solidFill>
                <a:latin typeface="Arial"/>
                <a:ea typeface="Malgun Gothic"/>
                <a:cs typeface="Arial"/>
              </a:rPr>
              <a:t xml:space="preserve">실행부터 평가 설명까지</a:t>
            </a:r>
            <a:endParaRPr lang="ko-KR" sz="4500"/>
          </a:p>
        </p:txBody>
      </p:sp>
      <p:sp>
        <p:nvSpPr>
          <p:cNvPr id="6" name="Text 6"/>
          <p:cNvSpPr txBox="1"/>
          <p:nvPr/>
        </p:nvSpPr>
        <p:spPr>
          <a:xfrm>
            <a:off x="635000" y="2861235"/>
            <a:ext cx="6858000" cy="689162"/>
          </a:xfrm>
          <a:prstGeom prst="rect">
            <a:avLst/>
          </a:prstGeom>
          <a:noFill/>
          <a:ln>
            <a:noFill/>
          </a:ln>
        </p:spPr>
        <p:txBody>
          <a:bodyPr wrap="square" lIns="0" tIns="0" rIns="0" bIns="0" anchor="t">
            <a:noAutofit/>
          </a:bodyPr>
          <a:lstStyle/>
          <a:p>
            <a:pPr algn="l">
              <a:lnSpc>
                <a:spcPts val="2730"/>
              </a:lnSpc>
            </a:pPr>
            <a:r>
              <a:rPr lang="ko-KR" sz="2100" b="0">
                <a:solidFill>
                  <a:srgbClr val="E9B55B"/>
                </a:solidFill>
                <a:latin typeface="Arial"/>
                <a:ea typeface="Malgun Gothic"/>
                <a:cs typeface="Arial"/>
              </a:rPr>
              <a:t xml:space="preserve">직접 실행하고, 근거로 확인하고, 내 말로 설명하기</a:t>
            </a:r>
            <a:endParaRPr lang="ko-KR" sz="2100"/>
          </a:p>
        </p:txBody>
      </p:sp>
      <p:sp>
        <p:nvSpPr>
          <p:cNvPr id="7" name="Text 7"/>
          <p:cNvSpPr txBox="1"/>
          <p:nvPr/>
        </p:nvSpPr>
        <p:spPr>
          <a:xfrm>
            <a:off x="635000" y="3907740"/>
            <a:ext cx="3302000" cy="265455"/>
          </a:xfrm>
          <a:prstGeom prst="rect">
            <a:avLst/>
          </a:prstGeom>
          <a:noFill/>
          <a:ln>
            <a:noFill/>
          </a:ln>
        </p:spPr>
        <p:txBody>
          <a:bodyPr wrap="square" lIns="0" tIns="0" rIns="0" bIns="0" anchor="t">
            <a:noAutofit/>
          </a:bodyPr>
          <a:lstStyle/>
          <a:p>
            <a:pPr algn="l">
              <a:lnSpc>
                <a:spcPts val="1690"/>
              </a:lnSpc>
            </a:pPr>
            <a:r>
              <a:rPr lang="ko-KR" sz="1300" b="1">
                <a:solidFill>
                  <a:srgbClr val="E9B55B"/>
                </a:solidFill>
                <a:latin typeface="Arial"/>
                <a:ea typeface="Malgun Gothic"/>
                <a:cs typeface="Arial"/>
              </a:rPr>
              <a:t xml:space="preserve">과제</a:t>
            </a:r>
            <a:endParaRPr lang="ko-KR" sz="1300"/>
          </a:p>
        </p:txBody>
      </p:sp>
      <p:sp>
        <p:nvSpPr>
          <p:cNvPr id="8" name="Text 8"/>
          <p:cNvSpPr txBox="1"/>
          <p:nvPr/>
        </p:nvSpPr>
        <p:spPr>
          <a:xfrm>
            <a:off x="635000" y="4224244"/>
            <a:ext cx="3302000" cy="449231"/>
          </a:xfrm>
          <a:prstGeom prst="rect">
            <a:avLst/>
          </a:prstGeom>
          <a:noFill/>
          <a:ln>
            <a:noFill/>
          </a:ln>
        </p:spPr>
        <p:txBody>
          <a:bodyPr wrap="square" lIns="0" tIns="0" rIns="0" bIns="0" anchor="t">
            <a:noAutofit/>
          </a:bodyPr>
          <a:lstStyle/>
          <a:p>
            <a:pPr algn="l">
              <a:lnSpc>
                <a:spcPts val="1885"/>
              </a:lnSpc>
            </a:pPr>
            <a:r>
              <a:rPr lang="ko-KR" sz="1450" b="0">
                <a:solidFill>
                  <a:srgbClr val="FFFFFF"/>
                </a:solidFill>
                <a:latin typeface="Arial"/>
                <a:ea typeface="Malgun Gothic"/>
                <a:cs typeface="Arial"/>
              </a:rPr>
              <a:t xml:space="preserve">B3-2 · 자료구조와 알고리즘</a:t>
            </a:r>
            <a:endParaRPr lang="ko-KR" sz="1450"/>
          </a:p>
        </p:txBody>
      </p:sp>
      <p:sp>
        <p:nvSpPr>
          <p:cNvPr id="9" name="Text 9"/>
          <p:cNvSpPr txBox="1"/>
          <p:nvPr/>
        </p:nvSpPr>
        <p:spPr>
          <a:xfrm>
            <a:off x="4222750" y="3907740"/>
            <a:ext cx="3302000" cy="265455"/>
          </a:xfrm>
          <a:prstGeom prst="rect">
            <a:avLst/>
          </a:prstGeom>
          <a:noFill/>
          <a:ln>
            <a:noFill/>
          </a:ln>
        </p:spPr>
        <p:txBody>
          <a:bodyPr wrap="square" lIns="0" tIns="0" rIns="0" bIns="0" anchor="t">
            <a:noAutofit/>
          </a:bodyPr>
          <a:lstStyle/>
          <a:p>
            <a:pPr algn="l">
              <a:lnSpc>
                <a:spcPts val="1690"/>
              </a:lnSpc>
            </a:pPr>
            <a:r>
              <a:rPr lang="ko-KR" sz="1300" b="1">
                <a:solidFill>
                  <a:srgbClr val="E9B55B"/>
                </a:solidFill>
                <a:latin typeface="Arial"/>
                <a:ea typeface="Malgun Gothic"/>
                <a:cs typeface="Arial"/>
              </a:rPr>
              <a:t xml:space="preserve">검증</a:t>
            </a:r>
            <a:endParaRPr lang="ko-KR" sz="1300"/>
          </a:p>
        </p:txBody>
      </p:sp>
      <p:sp>
        <p:nvSpPr>
          <p:cNvPr id="10" name="Text 10"/>
          <p:cNvSpPr txBox="1"/>
          <p:nvPr/>
        </p:nvSpPr>
        <p:spPr>
          <a:xfrm>
            <a:off x="4222750" y="4224244"/>
            <a:ext cx="3302000" cy="449231"/>
          </a:xfrm>
          <a:prstGeom prst="rect">
            <a:avLst/>
          </a:prstGeom>
          <a:noFill/>
          <a:ln>
            <a:noFill/>
          </a:ln>
        </p:spPr>
        <p:txBody>
          <a:bodyPr wrap="square" lIns="0" tIns="0" rIns="0" bIns="0" anchor="t">
            <a:noAutofit/>
          </a:bodyPr>
          <a:lstStyle/>
          <a:p>
            <a:pPr algn="l">
              <a:lnSpc>
                <a:spcPts val="1885"/>
              </a:lnSpc>
            </a:pPr>
            <a:r>
              <a:rPr lang="ko-KR" sz="1450" b="0">
                <a:solidFill>
                  <a:srgbClr val="FFFFFF"/>
                </a:solidFill>
                <a:latin typeface="Arial"/>
                <a:ea typeface="Malgun Gothic"/>
                <a:cs typeface="Arial"/>
              </a:rPr>
              <a:t xml:space="preserve">Python 3.12.13 · 테스트 15개 통과</a:t>
            </a:r>
            <a:endParaRPr lang="ko-KR" sz="1450"/>
          </a:p>
        </p:txBody>
      </p:sp>
      <p:sp>
        <p:nvSpPr>
          <p:cNvPr id="11" name="Text 11"/>
          <p:cNvSpPr txBox="1"/>
          <p:nvPr/>
        </p:nvSpPr>
        <p:spPr>
          <a:xfrm>
            <a:off x="7810500" y="3907740"/>
            <a:ext cx="3302000" cy="265455"/>
          </a:xfrm>
          <a:prstGeom prst="rect">
            <a:avLst/>
          </a:prstGeom>
          <a:noFill/>
          <a:ln>
            <a:noFill/>
          </a:ln>
        </p:spPr>
        <p:txBody>
          <a:bodyPr wrap="square" lIns="0" tIns="0" rIns="0" bIns="0" anchor="t">
            <a:noAutofit/>
          </a:bodyPr>
          <a:lstStyle/>
          <a:p>
            <a:pPr algn="l">
              <a:lnSpc>
                <a:spcPts val="1690"/>
              </a:lnSpc>
            </a:pPr>
            <a:r>
              <a:rPr lang="ko-KR" sz="1300" b="1">
                <a:solidFill>
                  <a:srgbClr val="E9B55B"/>
                </a:solidFill>
                <a:latin typeface="Arial"/>
                <a:ea typeface="Malgun Gothic"/>
                <a:cs typeface="Arial"/>
              </a:rPr>
              <a:t xml:space="preserve">대상</a:t>
            </a:r>
            <a:endParaRPr lang="ko-KR" sz="1300"/>
          </a:p>
        </p:txBody>
      </p:sp>
      <p:sp>
        <p:nvSpPr>
          <p:cNvPr id="12" name="Text 12"/>
          <p:cNvSpPr txBox="1"/>
          <p:nvPr/>
        </p:nvSpPr>
        <p:spPr>
          <a:xfrm>
            <a:off x="7810500" y="4224244"/>
            <a:ext cx="3302000" cy="449231"/>
          </a:xfrm>
          <a:prstGeom prst="rect">
            <a:avLst/>
          </a:prstGeom>
          <a:noFill/>
          <a:ln>
            <a:noFill/>
          </a:ln>
        </p:spPr>
        <p:txBody>
          <a:bodyPr wrap="square" lIns="0" tIns="0" rIns="0" bIns="0" anchor="t">
            <a:noAutofit/>
          </a:bodyPr>
          <a:lstStyle/>
          <a:p>
            <a:pPr algn="l">
              <a:lnSpc>
                <a:spcPts val="1885"/>
              </a:lnSpc>
            </a:pPr>
            <a:r>
              <a:rPr lang="ko-KR" sz="1450" b="0">
                <a:solidFill>
                  <a:srgbClr val="FFFFFF"/>
                </a:solidFill>
                <a:latin typeface="Arial"/>
                <a:ea typeface="Malgun Gothic"/>
                <a:cs typeface="Arial"/>
              </a:rPr>
              <a:t xml:space="preserve">처음 배우는 학습자 · 평가 발표 준비</a:t>
            </a:r>
            <a:endParaRPr lang="ko-KR" sz="1450"/>
          </a:p>
        </p:txBody>
      </p:sp>
      <p:cxnSp>
        <p:nvCxnSpPr>
          <p:cNvPr id="13" name="Edge 13"/>
          <p:cNvCxnSpPr/>
          <p:nvPr/>
        </p:nvCxnSpPr>
        <p:spPr>
          <a:xfrm flipH="0" flipV="1">
            <a:off x="8413750" y="1329765"/>
            <a:ext cx="1365250" cy="663637"/>
          </a:xfrm>
          <a:prstGeom prst="line">
            <a:avLst/>
          </a:prstGeom>
          <a:ln w="31750">
            <a:solidFill>
              <a:srgbClr val="E9B55B"/>
            </a:solidFill>
            <a:tailEnd type="triangle" w="med" len="med"/>
          </a:ln>
        </p:spPr>
      </p:cxnSp>
      <p:cxnSp>
        <p:nvCxnSpPr>
          <p:cNvPr id="14" name="Edge 14"/>
          <p:cNvCxnSpPr/>
          <p:nvPr/>
        </p:nvCxnSpPr>
        <p:spPr>
          <a:xfrm flipH="0" flipV="0">
            <a:off x="8413750" y="1993402"/>
            <a:ext cx="1365250" cy="663637"/>
          </a:xfrm>
          <a:prstGeom prst="line">
            <a:avLst/>
          </a:prstGeom>
          <a:ln w="31750">
            <a:solidFill>
              <a:srgbClr val="168B82"/>
            </a:solidFill>
            <a:tailEnd type="triangle" w="med" len="med"/>
          </a:ln>
        </p:spPr>
      </p:cxnSp>
      <p:sp>
        <p:nvSpPr>
          <p:cNvPr id="15" name="Shape 15"/>
          <p:cNvSpPr/>
          <p:nvPr/>
        </p:nvSpPr>
        <p:spPr>
          <a:xfrm>
            <a:off x="7683500" y="1738157"/>
            <a:ext cx="1428750" cy="510490"/>
          </a:xfrm>
          <a:prstGeom prst="roundRect">
            <a:avLst/>
          </a:prstGeom>
          <a:solidFill>
            <a:srgbClr val="168B82"/>
          </a:solidFill>
          <a:ln>
            <a:noFill/>
          </a:ln>
        </p:spPr>
      </p:sp>
      <p:sp>
        <p:nvSpPr>
          <p:cNvPr id="16" name="Text 16"/>
          <p:cNvSpPr txBox="1"/>
          <p:nvPr/>
        </p:nvSpPr>
        <p:spPr>
          <a:xfrm>
            <a:off x="7747000" y="1850465"/>
            <a:ext cx="1301750" cy="377763"/>
          </a:xfrm>
          <a:prstGeom prst="rect">
            <a:avLst/>
          </a:prstGeom>
          <a:noFill/>
          <a:ln>
            <a:noFill/>
          </a:ln>
        </p:spPr>
        <p:txBody>
          <a:bodyPr wrap="square" lIns="0" tIns="0" rIns="0" bIns="0" anchor="t">
            <a:noAutofit/>
          </a:bodyPr>
          <a:lstStyle/>
          <a:p>
            <a:pPr algn="ctr">
              <a:lnSpc>
                <a:spcPts val="2210"/>
              </a:lnSpc>
            </a:pPr>
            <a:r>
              <a:rPr lang="ko-KR" sz="1700" b="1">
                <a:solidFill>
                  <a:srgbClr val="FFFFFF"/>
                </a:solidFill>
                <a:latin typeface="Arial"/>
                <a:ea typeface="Malgun Gothic"/>
                <a:cs typeface="Arial"/>
              </a:rPr>
              <a:t xml:space="preserve">COMMIT</a:t>
            </a:r>
            <a:endParaRPr lang="ko-KR" sz="1700"/>
          </a:p>
        </p:txBody>
      </p:sp>
      <p:sp>
        <p:nvSpPr>
          <p:cNvPr id="17" name="Shape 17"/>
          <p:cNvSpPr/>
          <p:nvPr/>
        </p:nvSpPr>
        <p:spPr>
          <a:xfrm>
            <a:off x="9779000" y="1074520"/>
            <a:ext cx="1333500" cy="510490"/>
          </a:xfrm>
          <a:prstGeom prst="roundRect">
            <a:avLst/>
          </a:prstGeom>
          <a:solidFill>
            <a:srgbClr val="E9B55B"/>
          </a:solidFill>
          <a:ln>
            <a:noFill/>
          </a:ln>
        </p:spPr>
      </p:sp>
      <p:sp>
        <p:nvSpPr>
          <p:cNvPr id="18" name="Text 18"/>
          <p:cNvSpPr txBox="1"/>
          <p:nvPr/>
        </p:nvSpPr>
        <p:spPr>
          <a:xfrm>
            <a:off x="9842500" y="1186827"/>
            <a:ext cx="1206500" cy="377763"/>
          </a:xfrm>
          <a:prstGeom prst="rect">
            <a:avLst/>
          </a:prstGeom>
          <a:noFill/>
          <a:ln>
            <a:noFill/>
          </a:ln>
        </p:spPr>
        <p:txBody>
          <a:bodyPr wrap="square" lIns="0" tIns="0" rIns="0" bIns="0" anchor="t">
            <a:noAutofit/>
          </a:bodyPr>
          <a:lstStyle/>
          <a:p>
            <a:pPr algn="ctr">
              <a:lnSpc>
                <a:spcPts val="2210"/>
              </a:lnSpc>
            </a:pPr>
            <a:r>
              <a:rPr lang="ko-KR" sz="1700" b="1">
                <a:solidFill>
                  <a:srgbClr val="FFFFFF"/>
                </a:solidFill>
                <a:latin typeface="Arial"/>
                <a:ea typeface="Malgun Gothic"/>
                <a:cs typeface="Arial"/>
              </a:rPr>
              <a:t xml:space="preserve">LOG</a:t>
            </a:r>
            <a:endParaRPr lang="ko-KR" sz="1700"/>
          </a:p>
        </p:txBody>
      </p:sp>
      <p:sp>
        <p:nvSpPr>
          <p:cNvPr id="19" name="Shape 19"/>
          <p:cNvSpPr/>
          <p:nvPr/>
        </p:nvSpPr>
        <p:spPr>
          <a:xfrm>
            <a:off x="9779000" y="2401794"/>
            <a:ext cx="1333500" cy="510490"/>
          </a:xfrm>
          <a:prstGeom prst="roundRect">
            <a:avLst/>
          </a:prstGeom>
          <a:solidFill>
            <a:srgbClr val="168B82"/>
          </a:solidFill>
          <a:ln>
            <a:noFill/>
          </a:ln>
        </p:spPr>
      </p:sp>
      <p:sp>
        <p:nvSpPr>
          <p:cNvPr id="20" name="Text 20"/>
          <p:cNvSpPr txBox="1"/>
          <p:nvPr/>
        </p:nvSpPr>
        <p:spPr>
          <a:xfrm>
            <a:off x="9842500" y="2514102"/>
            <a:ext cx="1206500" cy="377763"/>
          </a:xfrm>
          <a:prstGeom prst="rect">
            <a:avLst/>
          </a:prstGeom>
          <a:noFill/>
          <a:ln>
            <a:noFill/>
          </a:ln>
        </p:spPr>
        <p:txBody>
          <a:bodyPr wrap="square" lIns="0" tIns="0" rIns="0" bIns="0" anchor="t">
            <a:noAutofit/>
          </a:bodyPr>
          <a:lstStyle/>
          <a:p>
            <a:pPr algn="ctr">
              <a:lnSpc>
                <a:spcPts val="2210"/>
              </a:lnSpc>
            </a:pPr>
            <a:r>
              <a:rPr lang="ko-KR" sz="1700" b="1">
                <a:solidFill>
                  <a:srgbClr val="FFFFFF"/>
                </a:solidFill>
                <a:latin typeface="Arial"/>
                <a:ea typeface="Malgun Gothic"/>
                <a:cs typeface="Arial"/>
              </a:rPr>
              <a:t xml:space="preserve">SEARCH</a:t>
            </a:r>
            <a:endParaRPr lang="ko-KR" sz="1700"/>
          </a:p>
        </p:txBody>
      </p:sp>
      <p:sp>
        <p:nvSpPr>
          <p:cNvPr id="21" name="Shape 21"/>
          <p:cNvSpPr/>
          <p:nvPr/>
        </p:nvSpPr>
        <p:spPr>
          <a:xfrm>
            <a:off x="508000" y="4851400"/>
            <a:ext cx="11176000" cy="927100"/>
          </a:xfrm>
          <a:prstGeom prst="roundRect">
            <a:avLst/>
          </a:prstGeom>
          <a:solidFill>
            <a:srgbClr val="234456"/>
          </a:solidFill>
          <a:ln>
            <a:noFill/>
          </a:ln>
        </p:spPr>
      </p:sp>
      <p:sp>
        <p:nvSpPr>
          <p:cNvPr id="22" name="Text 22"/>
          <p:cNvSpPr txBox="1"/>
          <p:nvPr/>
        </p:nvSpPr>
        <p:spPr>
          <a:xfrm>
            <a:off x="730250" y="492760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E9B55B"/>
                </a:solidFill>
                <a:latin typeface="Arial"/>
                <a:ea typeface="Malgun Gothic"/>
                <a:cs typeface="Arial"/>
              </a:rPr>
              <a:t xml:space="preserve">상세 설명</a:t>
            </a:r>
            <a:endParaRPr lang="ko-KR" sz="1200"/>
          </a:p>
        </p:txBody>
      </p:sp>
      <p:sp>
        <p:nvSpPr>
          <p:cNvPr id="23" name="Text 23"/>
          <p:cNvSpPr txBox="1"/>
          <p:nvPr/>
        </p:nvSpPr>
        <p:spPr>
          <a:xfrm>
            <a:off x="730250" y="5194300"/>
            <a:ext cx="10731500" cy="495300"/>
          </a:xfrm>
          <a:prstGeom prst="rect">
            <a:avLst/>
          </a:prstGeom>
          <a:noFill/>
          <a:ln>
            <a:noFill/>
          </a:ln>
        </p:spPr>
        <p:txBody>
          <a:bodyPr wrap="square" lIns="0" tIns="0" rIns="0" bIns="0" anchor="t">
            <a:noAutofit/>
          </a:bodyPr>
          <a:lstStyle/>
          <a:p>
            <a:pPr algn="l">
              <a:lnSpc>
                <a:spcPts val="1950"/>
              </a:lnSpc>
            </a:pPr>
            <a:r>
              <a:rPr lang="ko-KR" sz="1500" b="0">
                <a:solidFill>
                  <a:srgbClr val="FFFFFF"/>
                </a:solidFill>
                <a:latin typeface="Arial"/>
                <a:ea typeface="Malgun Gothic"/>
                <a:cs typeface="Arial"/>
              </a:rPr>
              <a:t xml:space="preserve">이 자료는 AI-SW-Basic/b3-2의 실제 구현과 실행 기록을 바탕으로 만들었습니다. 순서는 실행, 검증, 원리 설명입니다. Mini Git은 파일 내용을 관</a:t>
            </a:r>
            <a:endParaRPr lang="ko-KR" sz="1500"/>
          </a:p>
          <a:p>
            <a:pPr algn="l">
              <a:lnSpc>
                <a:spcPts val="1950"/>
              </a:lnSpc>
            </a:pPr>
            <a:r>
              <a:rPr lang="ko-KR" sz="1500" b="0">
                <a:solidFill>
                  <a:srgbClr val="FFFFFF"/>
                </a:solidFill>
                <a:latin typeface="Arial"/>
                <a:ea typeface="Malgun Gothic"/>
                <a:cs typeface="Arial"/>
              </a:rPr>
              <a:t xml:space="preserve">리하는 완전한 Git이 아니라 커밋 메타데이터로 그래프·탐색·정렬·검색을 배우는 프로그램입니다.</a:t>
            </a:r>
            <a:endParaRPr lang="ko-KR" sz="1500"/>
          </a:p>
        </p:txBody>
      </p:sp>
      <p:sp>
        <p:nvSpPr>
          <p:cNvPr id="24" name="Text 24"/>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D7DFDB"/>
                </a:solidFill>
                <a:latin typeface="Arial"/>
                <a:ea typeface="Malgun Gothic"/>
                <a:cs typeface="Arial"/>
              </a:rPr>
              <a:t xml:space="preserve">근거: 과제 · 최종검수결과.md</a:t>
            </a:r>
            <a:endParaRPr lang="ko-KR"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발표에서 답할 세 가지">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START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02 / 26</a:t>
            </a:r>
            <a:endParaRPr lang="ko-KR" sz="1250"/>
          </a:p>
        </p:txBody>
      </p:sp>
      <p:sp>
        <p:nvSpPr>
          <p:cNvPr id="5" name="Text 5"/>
          <p:cNvSpPr txBox="1"/>
          <p:nvPr/>
        </p:nvSpPr>
        <p:spPr>
          <a:xfrm>
            <a:off x="508000" y="793750"/>
            <a:ext cx="11176000" cy="635000"/>
          </a:xfrm>
          <a:prstGeom prst="rect">
            <a:avLst/>
          </a:prstGeom>
          <a:noFill/>
          <a:ln>
            <a:noFill/>
          </a:ln>
        </p:spPr>
        <p:txBody>
          <a:bodyPr wrap="square" lIns="0" tIns="0" rIns="0" bIns="0" anchor="t">
            <a:noAutofit/>
          </a:bodyPr>
          <a:lstStyle/>
          <a:p>
            <a:pPr algn="l">
              <a:lnSpc>
                <a:spcPts val="3900"/>
              </a:lnSpc>
            </a:pPr>
            <a:r>
              <a:rPr lang="ko-KR" sz="3000" b="1">
                <a:solidFill>
                  <a:srgbClr val="142536"/>
                </a:solidFill>
                <a:latin typeface="Arial"/>
                <a:ea typeface="Malgun Gothic"/>
                <a:cs typeface="Arial"/>
              </a:rPr>
              <a:t xml:space="preserve">발표에서 답할 세 가지</a:t>
            </a:r>
            <a:endParaRPr lang="ko-KR" sz="3000"/>
          </a:p>
        </p:txBody>
      </p:sp>
      <p:sp>
        <p:nvSpPr>
          <p:cNvPr id="6" name="Text 6"/>
          <p:cNvSpPr txBox="1"/>
          <p:nvPr/>
        </p:nvSpPr>
        <p:spPr>
          <a:xfrm>
            <a:off x="571500" y="1492250"/>
            <a:ext cx="3683000" cy="24130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핵심 · 그림 · 실행</a:t>
            </a:r>
            <a:endParaRPr lang="ko-KR" sz="1300"/>
          </a:p>
        </p:txBody>
      </p:sp>
      <p:sp>
        <p:nvSpPr>
          <p:cNvPr id="7" name="Text 7"/>
          <p:cNvSpPr txBox="1"/>
          <p:nvPr/>
        </p:nvSpPr>
        <p:spPr>
          <a:xfrm>
            <a:off x="4508500" y="1492250"/>
            <a:ext cx="7175500" cy="24130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상세 설명 · 코드 · 문답 전체</a:t>
            </a:r>
            <a:endParaRPr lang="ko-KR" sz="1300"/>
          </a:p>
        </p:txBody>
      </p:sp>
      <p:sp>
        <p:nvSpPr>
          <p:cNvPr id="8" name="Shape 8"/>
          <p:cNvSpPr/>
          <p:nvPr/>
        </p:nvSpPr>
        <p:spPr>
          <a:xfrm>
            <a:off x="4349750" y="1778000"/>
            <a:ext cx="12700" cy="4381500"/>
          </a:xfrm>
          <a:prstGeom prst="rect">
            <a:avLst/>
          </a:prstGeom>
          <a:solidFill>
            <a:srgbClr val="D7DFDB"/>
          </a:solidFill>
          <a:ln>
            <a:noFill/>
          </a:ln>
        </p:spPr>
      </p:sp>
      <p:sp>
        <p:nvSpPr>
          <p:cNvPr id="9" name="Text 9"/>
          <p:cNvSpPr txBox="1"/>
          <p:nvPr/>
        </p:nvSpPr>
        <p:spPr>
          <a:xfrm>
            <a:off x="571500" y="1809750"/>
            <a:ext cx="3683000" cy="243840"/>
          </a:xfrm>
          <a:prstGeom prst="rect">
            <a:avLst/>
          </a:prstGeom>
          <a:noFill/>
          <a:ln>
            <a:noFill/>
          </a:ln>
        </p:spPr>
        <p:txBody>
          <a:bodyPr wrap="square" lIns="0" tIns="0" rIns="0" bIns="0" anchor="t">
            <a:noAutofit/>
          </a:bodyPr>
          <a:lstStyle/>
          <a:p>
            <a:pPr algn="l">
              <a:lnSpc>
                <a:spcPts val="1820"/>
              </a:lnSpc>
            </a:pPr>
            <a:r>
              <a:rPr lang="ko-KR" sz="1400" b="1">
                <a:solidFill>
                  <a:srgbClr val="168B82"/>
                </a:solidFill>
                <a:latin typeface="Arial"/>
                <a:ea typeface="Malgun Gothic"/>
                <a:cs typeface="Arial"/>
              </a:rPr>
              <a:t xml:space="preserve">01 어떻게 실행했나요?</a:t>
            </a:r>
            <a:endParaRPr lang="ko-KR" sz="1400"/>
          </a:p>
        </p:txBody>
      </p:sp>
      <p:sp>
        <p:nvSpPr>
          <p:cNvPr id="10" name="Text 10"/>
          <p:cNvSpPr txBox="1"/>
          <p:nvPr/>
        </p:nvSpPr>
        <p:spPr>
          <a:xfrm>
            <a:off x="571500" y="2104390"/>
            <a:ext cx="3683000" cy="47498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Arial"/>
                <a:ea typeface="Malgun Gothic"/>
                <a:cs typeface="Arial"/>
              </a:rPr>
              <a:t xml:space="preserve">b3-2 폴더에서 python main.py 명령을 한 줄씩 입력</a:t>
            </a:r>
            <a:endParaRPr lang="ko-KR" sz="1400"/>
          </a:p>
          <a:p>
            <a:pPr algn="l">
              <a:lnSpc>
                <a:spcPts val="1820"/>
              </a:lnSpc>
            </a:pPr>
            <a:r>
              <a:rPr lang="ko-KR" sz="1400" b="0">
                <a:solidFill>
                  <a:srgbClr val="142536"/>
                </a:solidFill>
                <a:latin typeface="Arial"/>
                <a:ea typeface="Malgun Gothic"/>
                <a:cs typeface="Arial"/>
              </a:rPr>
              <a:t xml:space="preserve">합니다.</a:t>
            </a:r>
            <a:endParaRPr lang="ko-KR" sz="1400"/>
          </a:p>
        </p:txBody>
      </p:sp>
      <p:sp>
        <p:nvSpPr>
          <p:cNvPr id="11" name="Text 11"/>
          <p:cNvSpPr txBox="1"/>
          <p:nvPr/>
        </p:nvSpPr>
        <p:spPr>
          <a:xfrm>
            <a:off x="571500" y="2630170"/>
            <a:ext cx="3683000" cy="243840"/>
          </a:xfrm>
          <a:prstGeom prst="rect">
            <a:avLst/>
          </a:prstGeom>
          <a:noFill/>
          <a:ln>
            <a:noFill/>
          </a:ln>
        </p:spPr>
        <p:txBody>
          <a:bodyPr wrap="square" lIns="0" tIns="0" rIns="0" bIns="0" anchor="t">
            <a:noAutofit/>
          </a:bodyPr>
          <a:lstStyle/>
          <a:p>
            <a:pPr algn="l">
              <a:lnSpc>
                <a:spcPts val="1820"/>
              </a:lnSpc>
            </a:pPr>
            <a:r>
              <a:rPr lang="ko-KR" sz="1400" b="1">
                <a:solidFill>
                  <a:srgbClr val="168B82"/>
                </a:solidFill>
                <a:latin typeface="Arial"/>
                <a:ea typeface="Malgun Gothic"/>
                <a:cs typeface="Arial"/>
              </a:rPr>
              <a:t xml:space="preserve">02 어떻게 검증하나요?</a:t>
            </a:r>
            <a:endParaRPr lang="ko-KR" sz="1400"/>
          </a:p>
        </p:txBody>
      </p:sp>
      <p:sp>
        <p:nvSpPr>
          <p:cNvPr id="12" name="Text 12"/>
          <p:cNvSpPr txBox="1"/>
          <p:nvPr/>
        </p:nvSpPr>
        <p:spPr>
          <a:xfrm>
            <a:off x="571500" y="2924810"/>
            <a:ext cx="3683000" cy="47498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Arial"/>
                <a:ea typeface="Malgun Gothic"/>
                <a:cs typeface="Arial"/>
              </a:rPr>
              <a:t xml:space="preserve">화면의 결과를 확인하고 자동 테스트를 실행합니다. 정</a:t>
            </a:r>
            <a:endParaRPr lang="ko-KR" sz="1400"/>
          </a:p>
          <a:p>
            <a:pPr algn="l">
              <a:lnSpc>
                <a:spcPts val="1820"/>
              </a:lnSpc>
            </a:pPr>
            <a:r>
              <a:rPr lang="ko-KR" sz="1400" b="0">
                <a:solidFill>
                  <a:srgbClr val="142536"/>
                </a:solidFill>
                <a:latin typeface="Arial"/>
                <a:ea typeface="Malgun Gothic"/>
                <a:cs typeface="Arial"/>
              </a:rPr>
              <a:t xml:space="preserve">상·오류·경계 입력을 비교합니다.</a:t>
            </a:r>
            <a:endParaRPr lang="ko-KR" sz="1400"/>
          </a:p>
        </p:txBody>
      </p:sp>
      <p:sp>
        <p:nvSpPr>
          <p:cNvPr id="13" name="Text 13"/>
          <p:cNvSpPr txBox="1"/>
          <p:nvPr/>
        </p:nvSpPr>
        <p:spPr>
          <a:xfrm>
            <a:off x="571500" y="3450590"/>
            <a:ext cx="3683000" cy="243840"/>
          </a:xfrm>
          <a:prstGeom prst="rect">
            <a:avLst/>
          </a:prstGeom>
          <a:noFill/>
          <a:ln>
            <a:noFill/>
          </a:ln>
        </p:spPr>
        <p:txBody>
          <a:bodyPr wrap="square" lIns="0" tIns="0" rIns="0" bIns="0" anchor="t">
            <a:noAutofit/>
          </a:bodyPr>
          <a:lstStyle/>
          <a:p>
            <a:pPr algn="l">
              <a:lnSpc>
                <a:spcPts val="1820"/>
              </a:lnSpc>
            </a:pPr>
            <a:r>
              <a:rPr lang="ko-KR" sz="1400" b="1">
                <a:solidFill>
                  <a:srgbClr val="168B82"/>
                </a:solidFill>
                <a:latin typeface="Arial"/>
                <a:ea typeface="Malgun Gothic"/>
                <a:cs typeface="Arial"/>
              </a:rPr>
              <a:t xml:space="preserve">03 근거는 어디 있나요?</a:t>
            </a:r>
            <a:endParaRPr lang="ko-KR" sz="1400"/>
          </a:p>
        </p:txBody>
      </p:sp>
      <p:sp>
        <p:nvSpPr>
          <p:cNvPr id="14" name="Text 14"/>
          <p:cNvSpPr txBox="1"/>
          <p:nvPr/>
        </p:nvSpPr>
        <p:spPr>
          <a:xfrm>
            <a:off x="571500" y="3745230"/>
            <a:ext cx="3683000" cy="24384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Arial"/>
                <a:ea typeface="Malgun Gothic"/>
                <a:cs typeface="Arial"/>
              </a:rPr>
              <a:t xml:space="preserve">코드: mini_git/ 테스트: tests/ 기록: 제출/results/</a:t>
            </a:r>
            <a:endParaRPr lang="ko-KR" sz="1400"/>
          </a:p>
        </p:txBody>
      </p:sp>
      <p:sp>
        <p:nvSpPr>
          <p:cNvPr id="15" name="Text 15"/>
          <p:cNvSpPr txBox="1"/>
          <p:nvPr/>
        </p:nvSpPr>
        <p:spPr>
          <a:xfrm>
            <a:off x="4508500" y="1809750"/>
            <a:ext cx="7175500" cy="1333500"/>
          </a:xfrm>
          <a:prstGeom prst="rect">
            <a:avLst/>
          </a:prstGeom>
          <a:noFill/>
          <a:ln>
            <a:noFill/>
          </a:ln>
        </p:spPr>
        <p:txBody>
          <a:bodyPr wrap="square" lIns="0" tIns="0" rIns="0" bIns="0" anchor="t">
            <a:noAutofit/>
          </a:bodyPr>
          <a:lstStyle/>
          <a:p>
            <a:pPr algn="l">
              <a:lnSpc>
                <a:spcPts val="2080"/>
              </a:lnSpc>
            </a:pPr>
            <a:r>
              <a:rPr lang="ko-KR" sz="1600" b="0">
                <a:solidFill>
                  <a:srgbClr val="142536"/>
                </a:solidFill>
                <a:latin typeface="Arial"/>
                <a:ea typeface="Malgun Gothic"/>
                <a:cs typeface="Arial"/>
              </a:rPr>
              <a:t xml:space="preserve">이 자료는 mini_git/에 구현한 CLI 기반 Mini Git이 과제 목표를 어떻게 만족하는지, 평가자</a:t>
            </a:r>
            <a:endParaRPr lang="ko-KR" sz="1600"/>
          </a:p>
          <a:p>
            <a:pPr algn="l">
              <a:lnSpc>
                <a:spcPts val="2080"/>
              </a:lnSpc>
            </a:pPr>
            <a:r>
              <a:rPr lang="ko-KR" sz="1600" b="0">
                <a:solidFill>
                  <a:srgbClr val="142536"/>
                </a:solidFill>
                <a:latin typeface="Arial"/>
                <a:ea typeface="Malgun Gothic"/>
                <a:cs typeface="Arial"/>
              </a:rPr>
              <a:t xml:space="preserve">앞에서 아주 쉬운 말로 설명할 수 있 도록 정리한 문서입니다. 외워서 말하기보다, 아래 설명</a:t>
            </a:r>
            <a:endParaRPr lang="ko-KR" sz="1600"/>
          </a:p>
          <a:p>
            <a:pPr algn="l">
              <a:lnSpc>
                <a:spcPts val="2080"/>
              </a:lnSpc>
            </a:pPr>
            <a:r>
              <a:rPr lang="ko-KR" sz="1600" b="0">
                <a:solidFill>
                  <a:srgbClr val="142536"/>
                </a:solidFill>
                <a:latin typeface="Arial"/>
                <a:ea typeface="Malgun Gothic"/>
                <a:cs typeface="Arial"/>
              </a:rPr>
              <a:t xml:space="preserve">을 본인 말투로 바꿔서 연습하는 용도로 사용하세요. 검증 근거는 실행 결 과 (제출/실행결</a:t>
            </a:r>
            <a:endParaRPr lang="ko-KR" sz="1600"/>
          </a:p>
          <a:p>
            <a:pPr algn="l">
              <a:lnSpc>
                <a:spcPts val="2080"/>
              </a:lnSpc>
            </a:pPr>
            <a:r>
              <a:rPr lang="ko-KR" sz="1600" b="0">
                <a:solidFill>
                  <a:srgbClr val="142536"/>
                </a:solidFill>
                <a:latin typeface="Arial"/>
                <a:ea typeface="Malgun Gothic"/>
                <a:cs typeface="Arial"/>
              </a:rPr>
              <a:t xml:space="preserve">과.md)와 회귀 테스트 (tests/test_mini_git.py)입니다. 2026-10-09, Python 3.12.13에서</a:t>
            </a:r>
            <a:endParaRPr lang="ko-KR" sz="1600"/>
          </a:p>
          <a:p>
            <a:pPr algn="l">
              <a:lnSpc>
                <a:spcPts val="2080"/>
              </a:lnSpc>
            </a:pPr>
            <a:r>
              <a:rPr lang="ko-KR" sz="1600" b="0">
                <a:solidFill>
                  <a:srgbClr val="142536"/>
                </a:solidFill>
                <a:latin typeface="Arial"/>
                <a:ea typeface="Malgun Gothic"/>
                <a:cs typeface="Arial"/>
              </a:rPr>
              <a:t xml:space="preserve">회귀 테스트 15개를 통과했습니다.</a:t>
            </a:r>
            <a:endParaRPr lang="ko-KR" sz="1600"/>
          </a:p>
        </p:txBody>
      </p:sp>
      <p:sp>
        <p:nvSpPr>
          <p:cNvPr id="16" name="Text 16"/>
          <p:cNvSpPr txBox="1"/>
          <p:nvPr/>
        </p:nvSpPr>
        <p:spPr>
          <a:xfrm>
            <a:off x="4508500" y="3194050"/>
            <a:ext cx="7175500" cy="805180"/>
          </a:xfrm>
          <a:prstGeom prst="rect">
            <a:avLst/>
          </a:prstGeom>
          <a:noFill/>
          <a:ln>
            <a:noFill/>
          </a:ln>
        </p:spPr>
        <p:txBody>
          <a:bodyPr wrap="square" lIns="0" tIns="0" rIns="0" bIns="0" anchor="t">
            <a:noAutofit/>
          </a:bodyPr>
          <a:lstStyle/>
          <a:p>
            <a:pPr algn="l">
              <a:lnSpc>
                <a:spcPts val="2080"/>
              </a:lnSpc>
            </a:pPr>
            <a:r>
              <a:rPr lang="ko-KR" sz="1600" b="0">
                <a:solidFill>
                  <a:srgbClr val="142536"/>
                </a:solidFill>
                <a:latin typeface="Arial"/>
                <a:ea typeface="Malgun Gothic"/>
                <a:cs typeface="Arial"/>
              </a:rPr>
              <a:t xml:space="preserve">프로그램은 실행된다는 사실만으로 정답이라고 할 수 없습니다. 과제의 조건을 결과와 연결</a:t>
            </a:r>
            <a:endParaRPr lang="ko-KR" sz="1600"/>
          </a:p>
          <a:p>
            <a:pPr algn="l">
              <a:lnSpc>
                <a:spcPts val="2080"/>
              </a:lnSpc>
            </a:pPr>
            <a:r>
              <a:rPr lang="ko-KR" sz="1600" b="0">
                <a:solidFill>
                  <a:srgbClr val="142536"/>
                </a:solidFill>
                <a:latin typeface="Arial"/>
                <a:ea typeface="Malgun Gothic"/>
                <a:cs typeface="Arial"/>
              </a:rPr>
              <a:t xml:space="preserve">해야 합니다. 예를 들어 LOG는 출력이 있는지뿐 아니라 부모가 먼저 나오는지 봐야 합니다.</a:t>
            </a:r>
            <a:endParaRPr lang="ko-KR" sz="1600"/>
          </a:p>
          <a:p>
            <a:pPr algn="l">
              <a:lnSpc>
                <a:spcPts val="2080"/>
              </a:lnSpc>
            </a:pPr>
            <a:r>
              <a:rPr lang="ko-KR" sz="1600" b="0">
                <a:solidFill>
                  <a:srgbClr val="142536"/>
                </a:solidFill>
                <a:latin typeface="Arial"/>
                <a:ea typeface="Malgun Gothic"/>
                <a:cs typeface="Arial"/>
              </a:rPr>
              <a:t xml:space="preserve">오늘의 세 가지 질문은 실행 방법, 확인 기준, 증거 위치입니다.</a:t>
            </a:r>
            <a:endParaRPr lang="ko-KR" sz="1600"/>
          </a:p>
        </p:txBody>
      </p:sp>
      <p:sp>
        <p:nvSpPr>
          <p:cNvPr id="17" name="Text 17"/>
          <p:cNvSpPr txBox="1"/>
          <p:nvPr/>
        </p:nvSpPr>
        <p:spPr>
          <a:xfrm>
            <a:off x="508000" y="6299200"/>
            <a:ext cx="11176000" cy="22860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명령 → 기대 결과 → 근거 파일을 연결해서 설명합니다.</a:t>
            </a:r>
            <a:endParaRPr lang="ko-KR" sz="1250"/>
          </a:p>
        </p:txBody>
      </p:sp>
      <p:sp>
        <p:nvSpPr>
          <p:cNvPr id="18" name="Text 18"/>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README.md · 제출/실행결과.md · 평가질문_설명자료.md</a:t>
            </a:r>
            <a:endParaRPr lang="ko-KR"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먼저 폴더의 역할을 구분하세요">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RUN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03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142536"/>
                </a:solidFill>
                <a:latin typeface="Arial"/>
                <a:ea typeface="Malgun Gothic"/>
                <a:cs typeface="Arial"/>
              </a:rPr>
              <a:t xml:space="preserve">먼저 폴더의 역할을 구분하세요</a:t>
            </a:r>
            <a:endParaRPr lang="ko-KR" sz="3200"/>
          </a:p>
        </p:txBody>
      </p:sp>
      <p:sp>
        <p:nvSpPr>
          <p:cNvPr id="6" name="Shape 6"/>
          <p:cNvSpPr/>
          <p:nvPr/>
        </p:nvSpPr>
        <p:spPr>
          <a:xfrm>
            <a:off x="508000" y="1619250"/>
            <a:ext cx="11176000" cy="2832100"/>
          </a:xfrm>
          <a:prstGeom prst="roundRect">
            <a:avLst/>
          </a:prstGeom>
          <a:solidFill>
            <a:srgbClr val="142536"/>
          </a:solidFill>
          <a:ln>
            <a:noFill/>
          </a:ln>
        </p:spPr>
      </p:sp>
      <p:sp>
        <p:nvSpPr>
          <p:cNvPr id="7" name="Text 7"/>
          <p:cNvSpPr txBox="1"/>
          <p:nvPr/>
        </p:nvSpPr>
        <p:spPr>
          <a:xfrm>
            <a:off x="730250" y="1739670"/>
            <a:ext cx="10477500" cy="223000"/>
          </a:xfrm>
          <a:prstGeom prst="rect">
            <a:avLst/>
          </a:prstGeom>
          <a:noFill/>
          <a:ln>
            <a:noFill/>
          </a:ln>
        </p:spPr>
        <p:txBody>
          <a:bodyPr wrap="square" lIns="0" tIns="0" rIns="0" bIns="0" anchor="t">
            <a:noAutofit/>
          </a:bodyPr>
          <a:lstStyle/>
          <a:p>
            <a:pPr algn="l">
              <a:lnSpc>
                <a:spcPts val="1755"/>
              </a:lnSpc>
            </a:pPr>
            <a:r>
              <a:rPr lang="ko-KR" sz="1350" b="1">
                <a:solidFill>
                  <a:srgbClr val="E9B55B"/>
                </a:solidFill>
                <a:latin typeface="Arial"/>
                <a:ea typeface="Malgun Gothic"/>
                <a:cs typeface="Arial"/>
              </a:rPr>
              <a:t xml:space="preserve">AI-SW-Basic/b3-2/</a:t>
            </a:r>
            <a:endParaRPr lang="ko-KR" sz="1350"/>
          </a:p>
        </p:txBody>
      </p:sp>
      <p:sp>
        <p:nvSpPr>
          <p:cNvPr id="8" name="Text 8"/>
          <p:cNvSpPr txBox="1"/>
          <p:nvPr/>
        </p:nvSpPr>
        <p:spPr>
          <a:xfrm>
            <a:off x="730250" y="2020650"/>
            <a:ext cx="10477500" cy="2252300"/>
          </a:xfrm>
          <a:prstGeom prst="rect">
            <a:avLst/>
          </a:prstGeom>
          <a:noFill/>
          <a:ln>
            <a:noFill/>
          </a:ln>
        </p:spPr>
        <p:txBody>
          <a:bodyPr wrap="square" lIns="0" tIns="0" rIns="0" bIns="0" anchor="t">
            <a:noAutofit/>
          </a:bodyPr>
          <a:lstStyle/>
          <a:p>
            <a:pPr algn="l">
              <a:lnSpc>
                <a:spcPts val="1950"/>
              </a:lnSpc>
            </a:pPr>
            <a:r>
              <a:rPr lang="ko-KR" sz="1500" b="0">
                <a:solidFill>
                  <a:srgbClr val="FFFFFF"/>
                </a:solidFill>
                <a:latin typeface="Menlo"/>
                <a:ea typeface="Malgun Gothic"/>
                <a:cs typeface="Arial"/>
              </a:rPr>
              <a:t xml:space="preserve">main.py                     실행 시작점</a:t>
            </a:r>
            <a:endParaRPr lang="ko-KR" sz="1500"/>
          </a:p>
          <a:p>
            <a:pPr algn="l">
              <a:lnSpc>
                <a:spcPts val="1950"/>
              </a:lnSpc>
            </a:pPr>
            <a:r>
              <a:rPr lang="ko-KR" sz="1500" b="0">
                <a:solidFill>
                  <a:srgbClr val="FFFFFF"/>
                </a:solidFill>
                <a:latin typeface="Menlo"/>
                <a:ea typeface="Malgun Gothic"/>
                <a:cs typeface="Arial"/>
              </a:rPr>
              <a:t xml:space="preserve">README.md                   실행 설명</a:t>
            </a:r>
            <a:endParaRPr lang="ko-KR" sz="1500"/>
          </a:p>
          <a:p>
            <a:pPr algn="l">
              <a:lnSpc>
                <a:spcPts val="1950"/>
              </a:lnSpc>
            </a:pPr>
            <a:r>
              <a:rPr lang="ko-KR" sz="1500" b="0">
                <a:solidFill>
                  <a:srgbClr val="FFFFFF"/>
                </a:solidFill>
                <a:latin typeface="Menlo"/>
                <a:ea typeface="Malgun Gothic"/>
                <a:cs typeface="Arial"/>
              </a:rPr>
              <a:t xml:space="preserve">mini_git/                   실제 구현</a:t>
            </a:r>
            <a:endParaRPr lang="ko-KR" sz="1500"/>
          </a:p>
          <a:p>
            <a:pPr algn="l">
              <a:lnSpc>
                <a:spcPts val="1950"/>
              </a:lnSpc>
            </a:pPr>
            <a:r>
              <a:rPr lang="ko-KR" sz="1500" b="0">
                <a:solidFill>
                  <a:srgbClr val="FFFFFF"/>
                </a:solidFill>
                <a:latin typeface="Menlo"/>
                <a:ea typeface="Malgun Gothic"/>
                <a:cs typeface="Arial"/>
              </a:rPr>
              <a:t xml:space="preserve">  cli.py / repository.py    입력·상태 관리</a:t>
            </a:r>
            <a:endParaRPr lang="ko-KR" sz="1500"/>
          </a:p>
          <a:p>
            <a:pPr algn="l">
              <a:lnSpc>
                <a:spcPts val="1950"/>
              </a:lnSpc>
            </a:pPr>
            <a:r>
              <a:rPr lang="ko-KR" sz="1500" b="0">
                <a:solidFill>
                  <a:srgbClr val="FFFFFF"/>
                </a:solidFill>
                <a:latin typeface="Menlo"/>
                <a:ea typeface="Malgun Gothic"/>
                <a:cs typeface="Arial"/>
              </a:rPr>
              <a:t xml:space="preserve">  traversal.py              그래프 탐색</a:t>
            </a:r>
            <a:endParaRPr lang="ko-KR" sz="1500"/>
          </a:p>
          <a:p>
            <a:pPr algn="l">
              <a:lnSpc>
                <a:spcPts val="1950"/>
              </a:lnSpc>
            </a:pPr>
            <a:r>
              <a:rPr lang="ko-KR" sz="1500" b="0">
                <a:solidFill>
                  <a:srgbClr val="FFFFFF"/>
                </a:solidFill>
                <a:latin typeface="Menlo"/>
                <a:ea typeface="Malgun Gothic"/>
                <a:cs typeface="Arial"/>
              </a:rPr>
              <a:t xml:space="preserve">  sorting.py / index.py     정렬·검색</a:t>
            </a:r>
            <a:endParaRPr lang="ko-KR" sz="1500"/>
          </a:p>
          <a:p>
            <a:pPr algn="l">
              <a:lnSpc>
                <a:spcPts val="1950"/>
              </a:lnSpc>
            </a:pPr>
            <a:r>
              <a:rPr lang="ko-KR" sz="1500" b="0">
                <a:solidFill>
                  <a:srgbClr val="FFFFFF"/>
                </a:solidFill>
                <a:latin typeface="Menlo"/>
                <a:ea typeface="Malgun Gothic"/>
                <a:cs typeface="Arial"/>
              </a:rPr>
              <a:t xml:space="preserve">tests/test_mini_git.py       자동 검사</a:t>
            </a:r>
            <a:endParaRPr lang="ko-KR" sz="1500"/>
          </a:p>
          <a:p>
            <a:pPr algn="l">
              <a:lnSpc>
                <a:spcPts val="1950"/>
              </a:lnSpc>
            </a:pPr>
            <a:r>
              <a:rPr lang="ko-KR" sz="1500" b="0">
                <a:solidFill>
                  <a:srgbClr val="FFFFFF"/>
                </a:solidFill>
                <a:latin typeface="Menlo"/>
                <a:ea typeface="Malgun Gothic"/>
                <a:cs typeface="Arial"/>
              </a:rPr>
              <a:t xml:space="preserve">제출/실행결과.md             결과 안내</a:t>
            </a:r>
            <a:endParaRPr lang="ko-KR" sz="1500"/>
          </a:p>
          <a:p>
            <a:pPr algn="l">
              <a:lnSpc>
                <a:spcPts val="1950"/>
              </a:lnSpc>
            </a:pPr>
            <a:r>
              <a:rPr lang="ko-KR" sz="1500" b="0">
                <a:solidFill>
                  <a:srgbClr val="FFFFFF"/>
                </a:solidFill>
                <a:latin typeface="Menlo"/>
                <a:ea typeface="Malgun Gothic"/>
                <a:cs typeface="Arial"/>
              </a:rPr>
              <a:t xml:space="preserve">제출/results/               원본 결과</a:t>
            </a:r>
            <a:endParaRPr lang="ko-KR" sz="1500"/>
          </a:p>
        </p:txBody>
      </p:sp>
      <p:sp>
        <p:nvSpPr>
          <p:cNvPr id="9" name="Shape 9"/>
          <p:cNvSpPr/>
          <p:nvPr/>
        </p:nvSpPr>
        <p:spPr>
          <a:xfrm>
            <a:off x="508000" y="4603750"/>
            <a:ext cx="11176000" cy="1174750"/>
          </a:xfrm>
          <a:prstGeom prst="roundRect">
            <a:avLst/>
          </a:prstGeom>
          <a:solidFill>
            <a:srgbClr val="EBEEE8"/>
          </a:solidFill>
          <a:ln>
            <a:noFill/>
          </a:ln>
        </p:spPr>
      </p:sp>
      <p:sp>
        <p:nvSpPr>
          <p:cNvPr id="10" name="Text 10"/>
          <p:cNvSpPr txBox="1"/>
          <p:nvPr/>
        </p:nvSpPr>
        <p:spPr>
          <a:xfrm>
            <a:off x="730250" y="467995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상세 설명</a:t>
            </a:r>
            <a:endParaRPr lang="ko-KR" sz="1200"/>
          </a:p>
        </p:txBody>
      </p:sp>
      <p:sp>
        <p:nvSpPr>
          <p:cNvPr id="11" name="Text 11"/>
          <p:cNvSpPr txBox="1"/>
          <p:nvPr/>
        </p:nvSpPr>
        <p:spPr>
          <a:xfrm>
            <a:off x="730250" y="4946650"/>
            <a:ext cx="10731500" cy="742950"/>
          </a:xfrm>
          <a:prstGeom prst="rect">
            <a:avLst/>
          </a:prstGeom>
          <a:noFill/>
          <a:ln>
            <a:noFill/>
          </a:ln>
        </p:spPr>
        <p:txBody>
          <a:bodyPr wrap="square" lIns="0" tIns="0" rIns="0" bIns="0" anchor="t">
            <a:noAutofit/>
          </a:bodyPr>
          <a:lstStyle/>
          <a:p>
            <a:pPr algn="l">
              <a:lnSpc>
                <a:spcPts val="1950"/>
              </a:lnSpc>
            </a:pPr>
            <a:r>
              <a:rPr lang="ko-KR" sz="1500" b="0">
                <a:solidFill>
                  <a:srgbClr val="142536"/>
                </a:solidFill>
                <a:latin typeface="Arial"/>
                <a:ea typeface="Malgun Gothic"/>
                <a:cs typeface="Arial"/>
              </a:rPr>
              <a:t xml:space="preserve">모든 파일 경로는 b3-2를 기준으로 말합니다. main.py만 전달하면 내부 패키지를 찾을 수 없으므로 mini_git 폴더도 함께 있어야 합니다. 과제 원</a:t>
            </a:r>
            <a:endParaRPr lang="ko-KR" sz="1500"/>
          </a:p>
          <a:p>
            <a:pPr algn="l">
              <a:lnSpc>
                <a:spcPts val="1950"/>
              </a:lnSpc>
            </a:pPr>
            <a:r>
              <a:rPr lang="ko-KR" sz="1500" b="0">
                <a:solidFill>
                  <a:srgbClr val="142536"/>
                </a:solidFill>
                <a:latin typeface="Arial"/>
                <a:ea typeface="Malgun Gothic"/>
                <a:cs typeface="Arial"/>
              </a:rPr>
              <a:t xml:space="preserve">문은 요구사항, 최종검수결과는 요구사항별 판단, 평가질문_설명자료는 답변 연습 자료입니다. results의 텍스트는 실행 흔적이며 테스트 소스와 구</a:t>
            </a:r>
            <a:endParaRPr lang="ko-KR" sz="1500"/>
          </a:p>
          <a:p>
            <a:pPr algn="l">
              <a:lnSpc>
                <a:spcPts val="1950"/>
              </a:lnSpc>
            </a:pPr>
            <a:r>
              <a:rPr lang="ko-KR" sz="1500" b="0">
                <a:solidFill>
                  <a:srgbClr val="142536"/>
                </a:solidFill>
                <a:latin typeface="Arial"/>
                <a:ea typeface="Malgun Gothic"/>
                <a:cs typeface="Arial"/>
              </a:rPr>
              <a:t xml:space="preserve">분합니다.</a:t>
            </a:r>
            <a:endParaRPr lang="ko-KR" sz="1500"/>
          </a:p>
        </p:txBody>
      </p:sp>
      <p:sp>
        <p:nvSpPr>
          <p:cNvPr id="12" name="Shape 12"/>
          <p:cNvSpPr/>
          <p:nvPr/>
        </p:nvSpPr>
        <p:spPr>
          <a:xfrm>
            <a:off x="508000" y="5937250"/>
            <a:ext cx="11176000" cy="508000"/>
          </a:xfrm>
          <a:prstGeom prst="roundRect">
            <a:avLst/>
          </a:prstGeom>
          <a:solidFill>
            <a:srgbClr val="168B82"/>
          </a:solidFill>
          <a:ln>
            <a:noFill/>
          </a:ln>
        </p:spPr>
      </p:sp>
      <p:sp>
        <p:nvSpPr>
          <p:cNvPr id="13" name="Text 13"/>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README는 사용 설명서, tests는 검사 도구, results는 검사 기록입니다.</a:t>
            </a:r>
            <a:endParaRPr lang="ko-KR" sz="1600"/>
          </a:p>
        </p:txBody>
      </p:sp>
      <p:sp>
        <p:nvSpPr>
          <p:cNvPr id="14" name="Text 14"/>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b3-2/ 전체 파일 구조</a:t>
            </a:r>
            <a:endParaRPr lang="ko-KR" sz="1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실행은 이 세 줄로 시작합니다">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RUN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04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142536"/>
                </a:solidFill>
                <a:latin typeface="Arial"/>
                <a:ea typeface="Malgun Gothic"/>
                <a:cs typeface="Arial"/>
              </a:rPr>
              <a:t xml:space="preserve">실행은 이 세 줄로 시작합니다</a:t>
            </a:r>
            <a:endParaRPr lang="ko-KR" sz="3200"/>
          </a:p>
        </p:txBody>
      </p:sp>
      <p:sp>
        <p:nvSpPr>
          <p:cNvPr id="6" name="Shape 6"/>
          <p:cNvSpPr/>
          <p:nvPr/>
        </p:nvSpPr>
        <p:spPr>
          <a:xfrm>
            <a:off x="508000" y="1619250"/>
            <a:ext cx="7112000" cy="3031250"/>
          </a:xfrm>
          <a:prstGeom prst="roundRect">
            <a:avLst/>
          </a:prstGeom>
          <a:solidFill>
            <a:srgbClr val="142536"/>
          </a:solidFill>
          <a:ln>
            <a:noFill/>
          </a:ln>
        </p:spPr>
      </p:sp>
      <p:sp>
        <p:nvSpPr>
          <p:cNvPr id="7" name="Text 7"/>
          <p:cNvSpPr txBox="1"/>
          <p:nvPr/>
        </p:nvSpPr>
        <p:spPr>
          <a:xfrm>
            <a:off x="730250" y="1740500"/>
            <a:ext cx="6604000" cy="291000"/>
          </a:xfrm>
          <a:prstGeom prst="rect">
            <a:avLst/>
          </a:prstGeom>
          <a:noFill/>
          <a:ln>
            <a:noFill/>
          </a:ln>
        </p:spPr>
        <p:txBody>
          <a:bodyPr wrap="square" lIns="0" tIns="0" rIns="0" bIns="0" anchor="t">
            <a:noAutofit/>
          </a:bodyPr>
          <a:lstStyle/>
          <a:p>
            <a:pPr algn="l">
              <a:lnSpc>
                <a:spcPts val="1690"/>
              </a:lnSpc>
            </a:pPr>
            <a:r>
              <a:rPr lang="ko-KR" sz="1300" b="1">
                <a:solidFill>
                  <a:srgbClr val="E9B55B"/>
                </a:solidFill>
                <a:latin typeface="Arial"/>
                <a:ea typeface="Malgun Gothic"/>
                <a:cs typeface="Arial"/>
              </a:rPr>
              <a:t xml:space="preserve">터미널에 입력</a:t>
            </a:r>
            <a:endParaRPr lang="ko-KR" sz="1300"/>
          </a:p>
        </p:txBody>
      </p:sp>
      <p:sp>
        <p:nvSpPr>
          <p:cNvPr id="8" name="Text 8"/>
          <p:cNvSpPr txBox="1"/>
          <p:nvPr/>
        </p:nvSpPr>
        <p:spPr>
          <a:xfrm>
            <a:off x="730250" y="2128500"/>
            <a:ext cx="6604000" cy="2303750"/>
          </a:xfrm>
          <a:prstGeom prst="rect">
            <a:avLst/>
          </a:prstGeom>
          <a:noFill/>
          <a:ln>
            <a:noFill/>
          </a:ln>
        </p:spPr>
        <p:txBody>
          <a:bodyPr wrap="square" lIns="0" tIns="0" rIns="0" bIns="0" anchor="t">
            <a:noAutofit/>
          </a:bodyPr>
          <a:lstStyle/>
          <a:p>
            <a:pPr algn="l">
              <a:lnSpc>
                <a:spcPts val="2210"/>
              </a:lnSpc>
            </a:pPr>
            <a:r>
              <a:rPr lang="ko-KR" sz="1700" b="0">
                <a:solidFill>
                  <a:srgbClr val="FFFFFF"/>
                </a:solidFill>
                <a:latin typeface="Menlo"/>
                <a:ea typeface="Malgun Gothic"/>
                <a:cs typeface="Arial"/>
              </a:rPr>
              <a:t xml:space="preserve">cd ~/AI-SW-Basic/b3-2</a:t>
            </a:r>
            <a:endParaRPr lang="ko-KR" sz="1700"/>
          </a:p>
          <a:p>
            <a:pPr algn="l">
              <a:lnSpc>
                <a:spcPts val="2210"/>
              </a:lnSpc>
            </a:pPr>
            <a:r>
              <a:rPr lang="ko-KR" sz="1700" b="0">
                <a:solidFill>
                  <a:srgbClr val="FFFFFF"/>
                </a:solidFill>
                <a:latin typeface="Menlo"/>
                <a:ea typeface="Malgun Gothic"/>
                <a:cs typeface="Arial"/>
              </a:rPr>
              <a:t xml:space="preserve">python3 --version</a:t>
            </a:r>
            <a:endParaRPr lang="ko-KR" sz="1700"/>
          </a:p>
          <a:p>
            <a:pPr algn="l">
              <a:lnSpc>
                <a:spcPts val="2210"/>
              </a:lnSpc>
            </a:pPr>
            <a:r>
              <a:rPr lang="ko-KR" sz="1700" b="0">
                <a:solidFill>
                  <a:srgbClr val="FFFFFF"/>
                </a:solidFill>
                <a:latin typeface="Menlo"/>
                <a:ea typeface="Malgun Gothic"/>
                <a:cs typeface="Arial"/>
              </a:rPr>
              <a:t xml:space="preserve">python3 main.py</a:t>
            </a:r>
            <a:endParaRPr lang="ko-KR" sz="1700"/>
          </a:p>
        </p:txBody>
      </p:sp>
      <p:sp>
        <p:nvSpPr>
          <p:cNvPr id="9" name="Text 9"/>
          <p:cNvSpPr txBox="1"/>
          <p:nvPr/>
        </p:nvSpPr>
        <p:spPr>
          <a:xfrm>
            <a:off x="8001000" y="1740500"/>
            <a:ext cx="3683000" cy="25220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정상 화면</a:t>
            </a:r>
            <a:endParaRPr lang="ko-KR" sz="1250"/>
          </a:p>
        </p:txBody>
      </p:sp>
      <p:sp>
        <p:nvSpPr>
          <p:cNvPr id="10" name="Text 10"/>
          <p:cNvSpPr txBox="1"/>
          <p:nvPr/>
        </p:nvSpPr>
        <p:spPr>
          <a:xfrm>
            <a:off x="8001000" y="2041200"/>
            <a:ext cx="3683000" cy="1008800"/>
          </a:xfrm>
          <a:prstGeom prst="rect">
            <a:avLst/>
          </a:prstGeom>
          <a:noFill/>
          <a:ln>
            <a:noFill/>
          </a:ln>
        </p:spPr>
        <p:txBody>
          <a:bodyPr wrap="square" lIns="0" tIns="0" rIns="0" bIns="0" anchor="t">
            <a:noAutofit/>
          </a:bodyPr>
          <a:lstStyle/>
          <a:p>
            <a:pPr algn="l">
              <a:lnSpc>
                <a:spcPts val="2015"/>
              </a:lnSpc>
            </a:pPr>
            <a:r>
              <a:rPr lang="ko-KR" sz="1550" b="0">
                <a:solidFill>
                  <a:srgbClr val="142536"/>
                </a:solidFill>
                <a:latin typeface="Arial"/>
                <a:ea typeface="Malgun Gothic"/>
                <a:cs typeface="Arial"/>
              </a:rPr>
              <a:t xml:space="preserve">Mini Git CLI — 종료하려면 exit 또는 quit을 입</a:t>
            </a:r>
            <a:endParaRPr lang="ko-KR" sz="1550"/>
          </a:p>
          <a:p>
            <a:pPr algn="l">
              <a:lnSpc>
                <a:spcPts val="2015"/>
              </a:lnSpc>
            </a:pPr>
            <a:r>
              <a:rPr lang="ko-KR" sz="1550" b="0">
                <a:solidFill>
                  <a:srgbClr val="142536"/>
                </a:solidFill>
                <a:latin typeface="Arial"/>
                <a:ea typeface="Malgun Gothic"/>
                <a:cs typeface="Arial"/>
              </a:rPr>
              <a:t xml:space="preserve">력하세요.</a:t>
            </a:r>
            <a:endParaRPr lang="ko-KR" sz="1550"/>
          </a:p>
          <a:p>
            <a:pPr algn="l">
              <a:lnSpc>
                <a:spcPts val="2015"/>
              </a:lnSpc>
            </a:pPr>
            <a:r>
              <a:rPr lang="ko-KR" sz="1550" b="0">
                <a:solidFill>
                  <a:srgbClr val="142536"/>
                </a:solidFill>
                <a:latin typeface="Arial"/>
                <a:ea typeface="Malgun Gothic"/>
                <a:cs typeface="Arial"/>
              </a:rPr>
              <a:t xml:space="preserve">mini-git&gt; </a:t>
            </a:r>
            <a:endParaRPr lang="ko-KR" sz="1550"/>
          </a:p>
        </p:txBody>
      </p:sp>
      <p:sp>
        <p:nvSpPr>
          <p:cNvPr id="11" name="Text 11"/>
          <p:cNvSpPr txBox="1"/>
          <p:nvPr/>
        </p:nvSpPr>
        <p:spPr>
          <a:xfrm>
            <a:off x="8001000" y="3171250"/>
            <a:ext cx="3683000" cy="25220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알아두기</a:t>
            </a:r>
            <a:endParaRPr lang="ko-KR" sz="1250"/>
          </a:p>
        </p:txBody>
      </p:sp>
      <p:sp>
        <p:nvSpPr>
          <p:cNvPr id="12" name="Text 12"/>
          <p:cNvSpPr txBox="1"/>
          <p:nvPr/>
        </p:nvSpPr>
        <p:spPr>
          <a:xfrm>
            <a:off x="8001000" y="3471950"/>
            <a:ext cx="3683000" cy="1008800"/>
          </a:xfrm>
          <a:prstGeom prst="rect">
            <a:avLst/>
          </a:prstGeom>
          <a:noFill/>
          <a:ln>
            <a:noFill/>
          </a:ln>
        </p:spPr>
        <p:txBody>
          <a:bodyPr wrap="square" lIns="0" tIns="0" rIns="0" bIns="0" anchor="t">
            <a:noAutofit/>
          </a:bodyPr>
          <a:lstStyle/>
          <a:p>
            <a:pPr algn="l">
              <a:lnSpc>
                <a:spcPts val="1950"/>
              </a:lnSpc>
            </a:pPr>
            <a:r>
              <a:rPr lang="ko-KR" sz="1500" b="0">
                <a:solidFill>
                  <a:srgbClr val="142536"/>
                </a:solidFill>
                <a:latin typeface="Arial"/>
                <a:ea typeface="Malgun Gothic"/>
                <a:cs typeface="Arial"/>
              </a:rPr>
              <a:t xml:space="preserve">python 명령이 설정되어 있으면 python main.py</a:t>
            </a:r>
            <a:endParaRPr lang="ko-KR" sz="1500"/>
          </a:p>
          <a:p>
            <a:pPr algn="l">
              <a:lnSpc>
                <a:spcPts val="1950"/>
              </a:lnSpc>
            </a:pPr>
            <a:r>
              <a:rPr lang="ko-KR" sz="1500" b="0">
                <a:solidFill>
                  <a:srgbClr val="142536"/>
                </a:solidFill>
                <a:latin typeface="Arial"/>
                <a:ea typeface="Malgun Gothic"/>
                <a:cs typeface="Arial"/>
              </a:rPr>
              <a:t xml:space="preserve">도 같습니다.</a:t>
            </a:r>
            <a:endParaRPr lang="ko-KR" sz="1500"/>
          </a:p>
          <a:p>
            <a:pPr algn="l">
              <a:lnSpc>
                <a:spcPts val="1950"/>
              </a:lnSpc>
            </a:pPr>
            <a:r>
              <a:rPr lang="ko-KR" sz="1500" b="0">
                <a:solidFill>
                  <a:srgbClr val="142536"/>
                </a:solidFill>
                <a:latin typeface="Arial"/>
                <a:ea typeface="Malgun Gothic"/>
                <a:cs typeface="Arial"/>
              </a:rPr>
              <a:t xml:space="preserve">추가 라이브러리 설치는 필요 없습니다.</a:t>
            </a:r>
            <a:endParaRPr lang="ko-KR" sz="1500"/>
          </a:p>
          <a:p>
            <a:pPr algn="l">
              <a:lnSpc>
                <a:spcPts val="1950"/>
              </a:lnSpc>
            </a:pPr>
            <a:r>
              <a:rPr lang="ko-KR" sz="1500" b="0">
                <a:solidFill>
                  <a:srgbClr val="142536"/>
                </a:solidFill>
                <a:latin typeface="Arial"/>
                <a:ea typeface="Malgun Gothic"/>
                <a:cs typeface="Arial"/>
              </a:rPr>
              <a:t xml:space="preserve">종료: exit 또는 quit</a:t>
            </a:r>
            <a:endParaRPr lang="ko-KR" sz="1500"/>
          </a:p>
        </p:txBody>
      </p:sp>
      <p:sp>
        <p:nvSpPr>
          <p:cNvPr id="13" name="Shape 13"/>
          <p:cNvSpPr/>
          <p:nvPr/>
        </p:nvSpPr>
        <p:spPr>
          <a:xfrm>
            <a:off x="508000" y="4851400"/>
            <a:ext cx="11176000" cy="927100"/>
          </a:xfrm>
          <a:prstGeom prst="roundRect">
            <a:avLst/>
          </a:prstGeom>
          <a:solidFill>
            <a:srgbClr val="EBEEE8"/>
          </a:solidFill>
          <a:ln>
            <a:noFill/>
          </a:ln>
        </p:spPr>
      </p:sp>
      <p:sp>
        <p:nvSpPr>
          <p:cNvPr id="14" name="Text 14"/>
          <p:cNvSpPr txBox="1"/>
          <p:nvPr/>
        </p:nvSpPr>
        <p:spPr>
          <a:xfrm>
            <a:off x="730250" y="492760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상세 설명</a:t>
            </a:r>
            <a:endParaRPr lang="ko-KR" sz="1200"/>
          </a:p>
        </p:txBody>
      </p:sp>
      <p:sp>
        <p:nvSpPr>
          <p:cNvPr id="15" name="Text 15"/>
          <p:cNvSpPr txBox="1"/>
          <p:nvPr/>
        </p:nvSpPr>
        <p:spPr>
          <a:xfrm>
            <a:off x="730250" y="5194300"/>
            <a:ext cx="10731500" cy="495300"/>
          </a:xfrm>
          <a:prstGeom prst="rect">
            <a:avLst/>
          </a:prstGeom>
          <a:noFill/>
          <a:ln>
            <a:noFill/>
          </a:ln>
        </p:spPr>
        <p:txBody>
          <a:bodyPr wrap="square" lIns="0" tIns="0" rIns="0" bIns="0" anchor="t">
            <a:noAutofit/>
          </a:bodyPr>
          <a:lstStyle/>
          <a:p>
            <a:pPr algn="l">
              <a:lnSpc>
                <a:spcPts val="1950"/>
              </a:lnSpc>
            </a:pPr>
            <a:r>
              <a:rPr lang="ko-KR" sz="1500" b="0">
                <a:solidFill>
                  <a:srgbClr val="142536"/>
                </a:solidFill>
                <a:latin typeface="Arial"/>
                <a:ea typeface="Malgun Gothic"/>
                <a:cs typeface="Arial"/>
              </a:rPr>
              <a:t xml:space="preserve">터미널은 프로그램을 시작하는 장소입니다. 시작 뒤 mini-git&gt;가 보이면 그때부터는 Mini Git 명령을 입력합니다. python과 python3는 컴퓨터 설</a:t>
            </a:r>
            <a:endParaRPr lang="ko-KR" sz="1500"/>
          </a:p>
          <a:p>
            <a:pPr algn="l">
              <a:lnSpc>
                <a:spcPts val="1950"/>
              </a:lnSpc>
            </a:pPr>
            <a:r>
              <a:rPr lang="ko-KR" sz="1500" b="0">
                <a:solidFill>
                  <a:srgbClr val="142536"/>
                </a:solidFill>
                <a:latin typeface="Arial"/>
                <a:ea typeface="Malgun Gothic"/>
                <a:cs typeface="Arial"/>
              </a:rPr>
              <a:t xml:space="preserve">정에 따라 이름이 다릅니다. 이번 검증에 사용한 버전은 Python 3.12.13입니다. 표시된 경로가 다르면 실제 프로젝트 위치로 cd 하세요.</a:t>
            </a:r>
            <a:endParaRPr lang="ko-KR" sz="1500"/>
          </a:p>
        </p:txBody>
      </p:sp>
      <p:sp>
        <p:nvSpPr>
          <p:cNvPr id="16" name="Shape 16"/>
          <p:cNvSpPr/>
          <p:nvPr/>
        </p:nvSpPr>
        <p:spPr>
          <a:xfrm>
            <a:off x="508000" y="5937250"/>
            <a:ext cx="11176000" cy="508000"/>
          </a:xfrm>
          <a:prstGeom prst="roundRect">
            <a:avLst/>
          </a:prstGeom>
          <a:solidFill>
            <a:srgbClr val="168B82"/>
          </a:solidFill>
          <a:ln>
            <a:noFill/>
          </a:ln>
        </p:spPr>
      </p:sp>
      <p:sp>
        <p:nvSpPr>
          <p:cNvPr id="17" name="Text 17"/>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Python 3.10 이상인지 확인하고, b3-2 안에서 실행합니다.</a:t>
            </a:r>
            <a:endParaRPr lang="ko-KR" sz="1600"/>
          </a:p>
        </p:txBody>
      </p:sp>
      <p:sp>
        <p:nvSpPr>
          <p:cNvPr id="18" name="Text 18"/>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main.py · README.md · mini_git/cli.py</a:t>
            </a:r>
            <a:endParaRPr lang="ko-KR" sz="1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브랜치가 갈라지는 상황을 만들어 봅니다">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RUN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05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142536"/>
                </a:solidFill>
                <a:latin typeface="Arial"/>
                <a:ea typeface="Malgun Gothic"/>
                <a:cs typeface="Arial"/>
              </a:rPr>
              <a:t xml:space="preserve">브랜치가 갈라지는 상황을 만들어 봅니다</a:t>
            </a:r>
            <a:endParaRPr lang="ko-KR" sz="3200"/>
          </a:p>
        </p:txBody>
      </p:sp>
      <p:sp>
        <p:nvSpPr>
          <p:cNvPr id="6" name="Shape 6"/>
          <p:cNvSpPr/>
          <p:nvPr/>
        </p:nvSpPr>
        <p:spPr>
          <a:xfrm>
            <a:off x="508000" y="1619250"/>
            <a:ext cx="7112000" cy="2787500"/>
          </a:xfrm>
          <a:prstGeom prst="roundRect">
            <a:avLst/>
          </a:prstGeom>
          <a:solidFill>
            <a:srgbClr val="142536"/>
          </a:solidFill>
          <a:ln>
            <a:noFill/>
          </a:ln>
        </p:spPr>
      </p:sp>
      <p:sp>
        <p:nvSpPr>
          <p:cNvPr id="7" name="Text 7"/>
          <p:cNvSpPr txBox="1"/>
          <p:nvPr/>
        </p:nvSpPr>
        <p:spPr>
          <a:xfrm>
            <a:off x="730250" y="1730750"/>
            <a:ext cx="6604000" cy="267600"/>
          </a:xfrm>
          <a:prstGeom prst="rect">
            <a:avLst/>
          </a:prstGeom>
          <a:noFill/>
          <a:ln>
            <a:noFill/>
          </a:ln>
        </p:spPr>
        <p:txBody>
          <a:bodyPr wrap="square" lIns="0" tIns="0" rIns="0" bIns="0" anchor="t">
            <a:noAutofit/>
          </a:bodyPr>
          <a:lstStyle/>
          <a:p>
            <a:pPr algn="l">
              <a:lnSpc>
                <a:spcPts val="1625"/>
              </a:lnSpc>
            </a:pPr>
            <a:r>
              <a:rPr lang="ko-KR" sz="1250" b="1">
                <a:solidFill>
                  <a:srgbClr val="E9B55B"/>
                </a:solidFill>
                <a:latin typeface="Arial"/>
                <a:ea typeface="Malgun Gothic"/>
                <a:cs typeface="Arial"/>
              </a:rPr>
              <a:t xml:space="preserve">mini-git&gt; 뒤에 한 줄씩 입력</a:t>
            </a:r>
            <a:endParaRPr lang="ko-KR" sz="1250"/>
          </a:p>
        </p:txBody>
      </p:sp>
      <p:sp>
        <p:nvSpPr>
          <p:cNvPr id="8" name="Text 8"/>
          <p:cNvSpPr txBox="1"/>
          <p:nvPr/>
        </p:nvSpPr>
        <p:spPr>
          <a:xfrm>
            <a:off x="730250" y="2087550"/>
            <a:ext cx="6604000" cy="2118500"/>
          </a:xfrm>
          <a:prstGeom prst="rect">
            <a:avLst/>
          </a:prstGeom>
          <a:noFill/>
          <a:ln>
            <a:noFill/>
          </a:ln>
        </p:spPr>
        <p:txBody>
          <a:bodyPr wrap="square" lIns="0" tIns="0" rIns="0" bIns="0" anchor="t">
            <a:noAutofit/>
          </a:bodyPr>
          <a:lstStyle/>
          <a:p>
            <a:pPr algn="l">
              <a:lnSpc>
                <a:spcPts val="2080"/>
              </a:lnSpc>
            </a:pPr>
            <a:r>
              <a:rPr lang="ko-KR" sz="1600" b="0">
                <a:solidFill>
                  <a:srgbClr val="FFFFFF"/>
                </a:solidFill>
                <a:latin typeface="Menlo"/>
                <a:ea typeface="Malgun Gothic"/>
                <a:cs typeface="Arial"/>
              </a:rPr>
              <a:t xml:space="preserve">init "Alice Kim"</a:t>
            </a:r>
            <a:endParaRPr lang="ko-KR" sz="1600"/>
          </a:p>
          <a:p>
            <a:pPr algn="l">
              <a:lnSpc>
                <a:spcPts val="2080"/>
              </a:lnSpc>
            </a:pPr>
            <a:r>
              <a:rPr lang="ko-KR" sz="1600" b="0">
                <a:solidFill>
                  <a:srgbClr val="FFFFFF"/>
                </a:solidFill>
                <a:latin typeface="Menlo"/>
                <a:ea typeface="Malgun Gothic"/>
                <a:cs typeface="Arial"/>
              </a:rPr>
              <a:t xml:space="preserve">commit "Initial commit"</a:t>
            </a:r>
            <a:endParaRPr lang="ko-KR" sz="1600"/>
          </a:p>
          <a:p>
            <a:pPr algn="l">
              <a:lnSpc>
                <a:spcPts val="2080"/>
              </a:lnSpc>
            </a:pPr>
            <a:r>
              <a:rPr lang="ko-KR" sz="1600" b="0">
                <a:solidFill>
                  <a:srgbClr val="FFFFFF"/>
                </a:solidFill>
                <a:latin typeface="Menlo"/>
                <a:ea typeface="Malgun Gothic"/>
                <a:cs typeface="Arial"/>
              </a:rPr>
              <a:t xml:space="preserve">branch feature</a:t>
            </a:r>
            <a:endParaRPr lang="ko-KR" sz="1600"/>
          </a:p>
          <a:p>
            <a:pPr algn="l">
              <a:lnSpc>
                <a:spcPts val="2080"/>
              </a:lnSpc>
            </a:pPr>
            <a:r>
              <a:rPr lang="ko-KR" sz="1600" b="0">
                <a:solidFill>
                  <a:srgbClr val="FFFFFF"/>
                </a:solidFill>
                <a:latin typeface="Menlo"/>
                <a:ea typeface="Malgun Gothic"/>
                <a:cs typeface="Arial"/>
              </a:rPr>
              <a:t xml:space="preserve">switch feature</a:t>
            </a:r>
            <a:endParaRPr lang="ko-KR" sz="1600"/>
          </a:p>
          <a:p>
            <a:pPr algn="l">
              <a:lnSpc>
                <a:spcPts val="2080"/>
              </a:lnSpc>
            </a:pPr>
            <a:r>
              <a:rPr lang="ko-KR" sz="1600" b="0">
                <a:solidFill>
                  <a:srgbClr val="FFFFFF"/>
                </a:solidFill>
                <a:latin typeface="Menlo"/>
                <a:ea typeface="Malgun Gothic"/>
                <a:cs typeface="Arial"/>
              </a:rPr>
              <a:t xml:space="preserve">commit "Add login feature"</a:t>
            </a:r>
            <a:endParaRPr lang="ko-KR" sz="1600"/>
          </a:p>
          <a:p>
            <a:pPr algn="l">
              <a:lnSpc>
                <a:spcPts val="2080"/>
              </a:lnSpc>
            </a:pPr>
            <a:r>
              <a:rPr lang="ko-KR" sz="1600" b="0">
                <a:solidFill>
                  <a:srgbClr val="FFFFFF"/>
                </a:solidFill>
                <a:latin typeface="Menlo"/>
                <a:ea typeface="Malgun Gothic"/>
                <a:cs typeface="Arial"/>
              </a:rPr>
              <a:t xml:space="preserve">switch main</a:t>
            </a:r>
            <a:endParaRPr lang="ko-KR" sz="1600"/>
          </a:p>
          <a:p>
            <a:pPr algn="l">
              <a:lnSpc>
                <a:spcPts val="2080"/>
              </a:lnSpc>
            </a:pPr>
            <a:r>
              <a:rPr lang="ko-KR" sz="1600" b="0">
                <a:solidFill>
                  <a:srgbClr val="FFFFFF"/>
                </a:solidFill>
                <a:latin typeface="Menlo"/>
                <a:ea typeface="Malgun Gothic"/>
                <a:cs typeface="Arial"/>
              </a:rPr>
              <a:t xml:space="preserve">commit "Add payment feature"</a:t>
            </a:r>
            <a:endParaRPr lang="ko-KR" sz="1600"/>
          </a:p>
          <a:p>
            <a:pPr algn="l">
              <a:lnSpc>
                <a:spcPts val="2080"/>
              </a:lnSpc>
            </a:pPr>
            <a:r>
              <a:rPr lang="ko-KR" sz="1600" b="0">
                <a:solidFill>
                  <a:srgbClr val="FFFFFF"/>
                </a:solidFill>
                <a:latin typeface="Menlo"/>
                <a:ea typeface="Malgun Gothic"/>
                <a:cs typeface="Arial"/>
              </a:rPr>
              <a:t xml:space="preserve">log</a:t>
            </a:r>
            <a:endParaRPr lang="ko-KR" sz="1600"/>
          </a:p>
        </p:txBody>
      </p:sp>
      <p:sp>
        <p:nvSpPr>
          <p:cNvPr id="9" name="Text 9"/>
          <p:cNvSpPr txBox="1"/>
          <p:nvPr/>
        </p:nvSpPr>
        <p:spPr>
          <a:xfrm>
            <a:off x="8001000" y="1730750"/>
            <a:ext cx="3683000" cy="23192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세 커밋의 관계</a:t>
            </a:r>
            <a:endParaRPr lang="ko-KR" sz="1200"/>
          </a:p>
        </p:txBody>
      </p:sp>
      <p:sp>
        <p:nvSpPr>
          <p:cNvPr id="10" name="Text 10"/>
          <p:cNvSpPr txBox="1"/>
          <p:nvPr/>
        </p:nvSpPr>
        <p:spPr>
          <a:xfrm>
            <a:off x="8001000" y="2007270"/>
            <a:ext cx="3683000" cy="2198780"/>
          </a:xfrm>
          <a:prstGeom prst="rect">
            <a:avLst/>
          </a:prstGeom>
          <a:noFill/>
          <a:ln>
            <a:noFill/>
          </a:ln>
        </p:spPr>
        <p:txBody>
          <a:bodyPr wrap="square" lIns="0" tIns="0" rIns="0" bIns="0" anchor="t">
            <a:noAutofit/>
          </a:bodyPr>
          <a:lstStyle/>
          <a:p>
            <a:pPr algn="l">
              <a:lnSpc>
                <a:spcPts val="1950"/>
              </a:lnSpc>
            </a:pPr>
            <a:r>
              <a:rPr lang="ko-KR" sz="1500" b="0">
                <a:solidFill>
                  <a:srgbClr val="142536"/>
                </a:solidFill>
                <a:latin typeface="Arial"/>
                <a:ea typeface="Malgun Gothic"/>
                <a:cs typeface="Arial"/>
              </a:rPr>
              <a:t xml:space="preserve">Initial: 부모 없음</a:t>
            </a:r>
            <a:endParaRPr lang="ko-KR" sz="1500"/>
          </a:p>
          <a:p>
            <a:pPr algn="l">
              <a:lnSpc>
                <a:spcPts val="1950"/>
              </a:lnSpc>
            </a:pPr>
            <a:r>
              <a:rPr lang="ko-KR" sz="1500" b="0">
                <a:solidFill>
                  <a:srgbClr val="142536"/>
                </a:solidFill>
                <a:latin typeface="Arial"/>
                <a:ea typeface="Malgun Gothic"/>
                <a:cs typeface="Arial"/>
              </a:rPr>
              <a:t xml:space="preserve">Login: Initial이 부모</a:t>
            </a:r>
            <a:endParaRPr lang="ko-KR" sz="1500"/>
          </a:p>
          <a:p>
            <a:pPr algn="l">
              <a:lnSpc>
                <a:spcPts val="1950"/>
              </a:lnSpc>
            </a:pPr>
            <a:r>
              <a:rPr lang="ko-KR" sz="1500" b="0">
                <a:solidFill>
                  <a:srgbClr val="142536"/>
                </a:solidFill>
                <a:latin typeface="Arial"/>
                <a:ea typeface="Malgun Gothic"/>
                <a:cs typeface="Arial"/>
              </a:rPr>
              <a:t xml:space="preserve">Payment: Initial이 부모</a:t>
            </a:r>
            <a:endParaRPr lang="ko-KR" sz="1500"/>
          </a:p>
          <a:p>
            <a:pPr algn="l">
              <a:lnSpc>
                <a:spcPts val="1950"/>
              </a:lnSpc>
            </a:pPr>
            <a:r>
              <a:rPr lang="ko-KR" sz="1500" b="0">
                <a:solidFill>
                  <a:srgbClr val="142536"/>
                </a:solidFill>
                <a:latin typeface="Arial"/>
                <a:ea typeface="Malgun Gothic"/>
                <a:cs typeface="Arial"/>
              </a:rPr>
              <a:t xml:space="preserve"/>
            </a:r>
            <a:endParaRPr lang="ko-KR" sz="1500"/>
          </a:p>
          <a:p>
            <a:pPr algn="l">
              <a:lnSpc>
                <a:spcPts val="1950"/>
              </a:lnSpc>
            </a:pPr>
            <a:r>
              <a:rPr lang="ko-KR" sz="1500" b="0">
                <a:solidFill>
                  <a:srgbClr val="142536"/>
                </a:solidFill>
                <a:latin typeface="Arial"/>
                <a:ea typeface="Malgun Gothic"/>
                <a:cs typeface="Arial"/>
              </a:rPr>
              <a:t xml:space="preserve">main → Payment</a:t>
            </a:r>
            <a:endParaRPr lang="ko-KR" sz="1500"/>
          </a:p>
          <a:p>
            <a:pPr algn="l">
              <a:lnSpc>
                <a:spcPts val="1950"/>
              </a:lnSpc>
            </a:pPr>
            <a:r>
              <a:rPr lang="ko-KR" sz="1500" b="0">
                <a:solidFill>
                  <a:srgbClr val="142536"/>
                </a:solidFill>
                <a:latin typeface="Arial"/>
                <a:ea typeface="Malgun Gothic"/>
                <a:cs typeface="Arial"/>
              </a:rPr>
              <a:t xml:space="preserve">feature → Login</a:t>
            </a:r>
            <a:endParaRPr lang="ko-KR" sz="1500"/>
          </a:p>
        </p:txBody>
      </p:sp>
      <p:sp>
        <p:nvSpPr>
          <p:cNvPr id="11" name="Shape 11"/>
          <p:cNvSpPr/>
          <p:nvPr/>
        </p:nvSpPr>
        <p:spPr>
          <a:xfrm>
            <a:off x="508000" y="4603750"/>
            <a:ext cx="11176000" cy="1174750"/>
          </a:xfrm>
          <a:prstGeom prst="roundRect">
            <a:avLst/>
          </a:prstGeom>
          <a:solidFill>
            <a:srgbClr val="EBEEE8"/>
          </a:solidFill>
          <a:ln>
            <a:noFill/>
          </a:ln>
        </p:spPr>
      </p:sp>
      <p:sp>
        <p:nvSpPr>
          <p:cNvPr id="12" name="Text 12"/>
          <p:cNvSpPr txBox="1"/>
          <p:nvPr/>
        </p:nvSpPr>
        <p:spPr>
          <a:xfrm>
            <a:off x="730250" y="467995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상세 설명</a:t>
            </a:r>
            <a:endParaRPr lang="ko-KR" sz="1200"/>
          </a:p>
        </p:txBody>
      </p:sp>
      <p:sp>
        <p:nvSpPr>
          <p:cNvPr id="13" name="Text 13"/>
          <p:cNvSpPr txBox="1"/>
          <p:nvPr/>
        </p:nvSpPr>
        <p:spPr>
          <a:xfrm>
            <a:off x="730250" y="4946650"/>
            <a:ext cx="10731500" cy="742950"/>
          </a:xfrm>
          <a:prstGeom prst="rect">
            <a:avLst/>
          </a:prstGeom>
          <a:noFill/>
          <a:ln>
            <a:noFill/>
          </a:ln>
        </p:spPr>
        <p:txBody>
          <a:bodyPr wrap="square" lIns="0" tIns="0" rIns="0" bIns="0" anchor="t">
            <a:noAutofit/>
          </a:bodyPr>
          <a:lstStyle/>
          <a:p>
            <a:pPr algn="l">
              <a:lnSpc>
                <a:spcPts val="1950"/>
              </a:lnSpc>
            </a:pPr>
            <a:r>
              <a:rPr lang="ko-KR" sz="1500" b="0">
                <a:solidFill>
                  <a:srgbClr val="142536"/>
                </a:solidFill>
                <a:latin typeface="Arial"/>
                <a:ea typeface="Malgun Gothic"/>
                <a:cs typeface="Arial"/>
              </a:rPr>
              <a:t xml:space="preserve">첫 커밋을 만든 다음 feature를 만듭니다. feature는 그 순간의 커밋을 가리키는 이름표입니다. feature에서 로그인 커밋을 만들고 main으로 돌아</a:t>
            </a:r>
            <a:endParaRPr lang="ko-KR" sz="1500"/>
          </a:p>
          <a:p>
            <a:pPr algn="l">
              <a:lnSpc>
                <a:spcPts val="1950"/>
              </a:lnSpc>
            </a:pPr>
            <a:r>
              <a:rPr lang="ko-KR" sz="1500" b="0">
                <a:solidFill>
                  <a:srgbClr val="142536"/>
                </a:solidFill>
                <a:latin typeface="Arial"/>
                <a:ea typeface="Malgun Gothic"/>
                <a:cs typeface="Arial"/>
              </a:rPr>
              <a:t xml:space="preserve">오면 main은 여전히 Initial을 가리킵니다. 그래서 결제 커밋도 Initial을 부모로 합니다. branch는 전환하지 않으며 switch가 전환합니다. 사용자명</a:t>
            </a:r>
            <a:endParaRPr lang="ko-KR" sz="1500"/>
          </a:p>
          <a:p>
            <a:pPr algn="l">
              <a:lnSpc>
                <a:spcPts val="1950"/>
              </a:lnSpc>
            </a:pPr>
            <a:r>
              <a:rPr lang="ko-KR" sz="1500" b="0">
                <a:solidFill>
                  <a:srgbClr val="142536"/>
                </a:solidFill>
                <a:latin typeface="Arial"/>
                <a:ea typeface="Malgun Gothic"/>
                <a:cs typeface="Arial"/>
              </a:rPr>
              <a:t xml:space="preserve">·메시지에 공백이 있으면 따옴표를 씁니다.</a:t>
            </a:r>
            <a:endParaRPr lang="ko-KR" sz="1500"/>
          </a:p>
        </p:txBody>
      </p:sp>
      <p:sp>
        <p:nvSpPr>
          <p:cNvPr id="14" name="Shape 14"/>
          <p:cNvSpPr/>
          <p:nvPr/>
        </p:nvSpPr>
        <p:spPr>
          <a:xfrm>
            <a:off x="508000" y="5937250"/>
            <a:ext cx="11176000" cy="508000"/>
          </a:xfrm>
          <a:prstGeom prst="roundRect">
            <a:avLst/>
          </a:prstGeom>
          <a:solidFill>
            <a:srgbClr val="168B82"/>
          </a:solidFill>
          <a:ln>
            <a:noFill/>
          </a:ln>
        </p:spPr>
      </p:sp>
      <p:sp>
        <p:nvSpPr>
          <p:cNvPr id="15" name="Text 15"/>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COMMIT은 현재 브랜치의 끝을 부모로 삼고, 그 브랜치의 끝을 이동합니다.</a:t>
            </a:r>
            <a:endParaRPr lang="ko-KR" sz="1600"/>
          </a:p>
        </p:txBody>
      </p:sp>
      <p:sp>
        <p:nvSpPr>
          <p:cNvPr id="16" name="Text 16"/>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제출/results/01_저장소_브랜치_관리.txt</a:t>
            </a:r>
            <a:endParaRPr lang="ko-KR" sz="1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출력에 무엇이 보이면 성공일까요?">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VERIFY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06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142536"/>
                </a:solidFill>
                <a:latin typeface="Arial"/>
                <a:ea typeface="Malgun Gothic"/>
                <a:cs typeface="Arial"/>
              </a:rPr>
              <a:t xml:space="preserve">출력에 무엇이 보이면 성공일까요?</a:t>
            </a:r>
            <a:endParaRPr lang="ko-KR" sz="3200"/>
          </a:p>
        </p:txBody>
      </p:sp>
      <p:sp>
        <p:nvSpPr>
          <p:cNvPr id="6" name="Text 6"/>
          <p:cNvSpPr txBox="1"/>
          <p:nvPr/>
        </p:nvSpPr>
        <p:spPr>
          <a:xfrm>
            <a:off x="571500" y="1619250"/>
            <a:ext cx="10858500" cy="22920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명령 / 기대 결과 / 확인 기준</a:t>
            </a:r>
            <a:endParaRPr lang="ko-KR" sz="1200"/>
          </a:p>
        </p:txBody>
      </p:sp>
      <p:sp>
        <p:nvSpPr>
          <p:cNvPr id="7" name="Shape 7"/>
          <p:cNvSpPr/>
          <p:nvPr/>
        </p:nvSpPr>
        <p:spPr>
          <a:xfrm>
            <a:off x="508000" y="1905750"/>
            <a:ext cx="11176000" cy="294140"/>
          </a:xfrm>
          <a:prstGeom prst="roundRect">
            <a:avLst/>
          </a:prstGeom>
          <a:solidFill>
            <a:srgbClr val="FFFFFF"/>
          </a:solidFill>
          <a:ln>
            <a:noFill/>
          </a:ln>
        </p:spPr>
      </p:sp>
      <p:sp>
        <p:nvSpPr>
          <p:cNvPr id="8" name="Text 8"/>
          <p:cNvSpPr txBox="1"/>
          <p:nvPr/>
        </p:nvSpPr>
        <p:spPr>
          <a:xfrm>
            <a:off x="666750" y="1951590"/>
            <a:ext cx="10858500" cy="2597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INIT / main·사용자 표시 / 초기 상태 생성</a:t>
            </a:r>
            <a:endParaRPr lang="ko-KR" sz="1300"/>
          </a:p>
        </p:txBody>
      </p:sp>
      <p:sp>
        <p:nvSpPr>
          <p:cNvPr id="9" name="Shape 9"/>
          <p:cNvSpPr/>
          <p:nvPr/>
        </p:nvSpPr>
        <p:spPr>
          <a:xfrm>
            <a:off x="508000" y="2218990"/>
            <a:ext cx="11176000" cy="294140"/>
          </a:xfrm>
          <a:prstGeom prst="roundRect">
            <a:avLst/>
          </a:prstGeom>
          <a:solidFill>
            <a:srgbClr val="EBEEE8"/>
          </a:solidFill>
          <a:ln>
            <a:noFill/>
          </a:ln>
        </p:spPr>
      </p:sp>
      <p:sp>
        <p:nvSpPr>
          <p:cNvPr id="10" name="Text 10"/>
          <p:cNvSpPr txBox="1"/>
          <p:nvPr/>
        </p:nvSpPr>
        <p:spPr>
          <a:xfrm>
            <a:off x="666750" y="2264830"/>
            <a:ext cx="10858500" cy="2597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COMMIT / [branch hash] message / hash와 메시지 표시</a:t>
            </a:r>
            <a:endParaRPr lang="ko-KR" sz="1300"/>
          </a:p>
        </p:txBody>
      </p:sp>
      <p:sp>
        <p:nvSpPr>
          <p:cNvPr id="11" name="Shape 11"/>
          <p:cNvSpPr/>
          <p:nvPr/>
        </p:nvSpPr>
        <p:spPr>
          <a:xfrm>
            <a:off x="508000" y="2532230"/>
            <a:ext cx="11176000" cy="294140"/>
          </a:xfrm>
          <a:prstGeom prst="roundRect">
            <a:avLst/>
          </a:prstGeom>
          <a:solidFill>
            <a:srgbClr val="FFFFFF"/>
          </a:solidFill>
          <a:ln>
            <a:noFill/>
          </a:ln>
        </p:spPr>
      </p:sp>
      <p:sp>
        <p:nvSpPr>
          <p:cNvPr id="12" name="Text 12"/>
          <p:cNvSpPr txBox="1"/>
          <p:nvPr/>
        </p:nvSpPr>
        <p:spPr>
          <a:xfrm>
            <a:off x="666750" y="2578070"/>
            <a:ext cx="10858500" cy="2597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LOG / 세 커밋 출력 / Initial이 두 자식보다 먼저</a:t>
            </a:r>
            <a:endParaRPr lang="ko-KR" sz="1300"/>
          </a:p>
        </p:txBody>
      </p:sp>
      <p:sp>
        <p:nvSpPr>
          <p:cNvPr id="13" name="Shape 13"/>
          <p:cNvSpPr/>
          <p:nvPr/>
        </p:nvSpPr>
        <p:spPr>
          <a:xfrm>
            <a:off x="508000" y="2845470"/>
            <a:ext cx="11176000" cy="294140"/>
          </a:xfrm>
          <a:prstGeom prst="roundRect">
            <a:avLst/>
          </a:prstGeom>
          <a:solidFill>
            <a:srgbClr val="EBEEE8"/>
          </a:solidFill>
          <a:ln>
            <a:noFill/>
          </a:ln>
        </p:spPr>
      </p:sp>
      <p:sp>
        <p:nvSpPr>
          <p:cNvPr id="14" name="Text 14"/>
          <p:cNvSpPr txBox="1"/>
          <p:nvPr/>
        </p:nvSpPr>
        <p:spPr>
          <a:xfrm>
            <a:off x="666750" y="2891310"/>
            <a:ext cx="10858500" cy="2597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SEARCH login / 1개 / Login 메시지만 포함</a:t>
            </a:r>
            <a:endParaRPr lang="ko-KR" sz="1300"/>
          </a:p>
        </p:txBody>
      </p:sp>
      <p:sp>
        <p:nvSpPr>
          <p:cNvPr id="15" name="Shape 15"/>
          <p:cNvSpPr/>
          <p:nvPr/>
        </p:nvSpPr>
        <p:spPr>
          <a:xfrm>
            <a:off x="508000" y="3158710"/>
            <a:ext cx="11176000" cy="294140"/>
          </a:xfrm>
          <a:prstGeom prst="roundRect">
            <a:avLst/>
          </a:prstGeom>
          <a:solidFill>
            <a:srgbClr val="FFFFFF"/>
          </a:solidFill>
          <a:ln>
            <a:noFill/>
          </a:ln>
        </p:spPr>
      </p:sp>
      <p:sp>
        <p:nvSpPr>
          <p:cNvPr id="16" name="Text 16"/>
          <p:cNvSpPr txBox="1"/>
          <p:nvPr/>
        </p:nvSpPr>
        <p:spPr>
          <a:xfrm>
            <a:off x="666750" y="3204550"/>
            <a:ext cx="10858500" cy="2597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SEARCH --author="Alice Kim" / 3개 / 작성자 정확히 일치</a:t>
            </a:r>
            <a:endParaRPr lang="ko-KR" sz="1300"/>
          </a:p>
        </p:txBody>
      </p:sp>
      <p:sp>
        <p:nvSpPr>
          <p:cNvPr id="17" name="Shape 17"/>
          <p:cNvSpPr/>
          <p:nvPr/>
        </p:nvSpPr>
        <p:spPr>
          <a:xfrm>
            <a:off x="508000" y="3471950"/>
            <a:ext cx="11176000" cy="294140"/>
          </a:xfrm>
          <a:prstGeom prst="roundRect">
            <a:avLst/>
          </a:prstGeom>
          <a:solidFill>
            <a:srgbClr val="EBEEE8"/>
          </a:solidFill>
          <a:ln>
            <a:noFill/>
          </a:ln>
        </p:spPr>
      </p:sp>
      <p:sp>
        <p:nvSpPr>
          <p:cNvPr id="18" name="Text 18"/>
          <p:cNvSpPr txBox="1"/>
          <p:nvPr/>
        </p:nvSpPr>
        <p:spPr>
          <a:xfrm>
            <a:off x="666750" y="3517790"/>
            <a:ext cx="10858500" cy="2597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LOG --sort-by=date / 날짜 오름차순 / timestamp 비교</a:t>
            </a:r>
            <a:endParaRPr lang="ko-KR" sz="1300"/>
          </a:p>
        </p:txBody>
      </p:sp>
      <p:sp>
        <p:nvSpPr>
          <p:cNvPr id="19" name="Shape 19"/>
          <p:cNvSpPr/>
          <p:nvPr/>
        </p:nvSpPr>
        <p:spPr>
          <a:xfrm>
            <a:off x="508000" y="4197350"/>
            <a:ext cx="11176000" cy="1581150"/>
          </a:xfrm>
          <a:prstGeom prst="roundRect">
            <a:avLst/>
          </a:prstGeom>
          <a:solidFill>
            <a:srgbClr val="EBEEE8"/>
          </a:solidFill>
          <a:ln>
            <a:noFill/>
          </a:ln>
        </p:spPr>
      </p:sp>
      <p:sp>
        <p:nvSpPr>
          <p:cNvPr id="20" name="Text 20"/>
          <p:cNvSpPr txBox="1"/>
          <p:nvPr/>
        </p:nvSpPr>
        <p:spPr>
          <a:xfrm>
            <a:off x="730250" y="427355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실행 확인 · 명령은 한 줄씩 입력</a:t>
            </a:r>
            <a:endParaRPr lang="ko-KR" sz="1200"/>
          </a:p>
        </p:txBody>
      </p:sp>
      <p:sp>
        <p:nvSpPr>
          <p:cNvPr id="21" name="Text 21"/>
          <p:cNvSpPr txBox="1"/>
          <p:nvPr/>
        </p:nvSpPr>
        <p:spPr>
          <a:xfrm>
            <a:off x="730250" y="4540250"/>
            <a:ext cx="10731500" cy="64389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mini-git&gt; · 5페이지 실습 후</a:t>
            </a:r>
            <a:endParaRPr lang="ko-KR" sz="1300"/>
          </a:p>
          <a:p>
            <a:pPr algn="l">
              <a:lnSpc>
                <a:spcPts val="1690"/>
              </a:lnSpc>
            </a:pPr>
            <a:r>
              <a:rPr lang="ko-KR" sz="1300" b="0">
                <a:solidFill>
                  <a:srgbClr val="142536"/>
                </a:solidFill>
                <a:latin typeface="Arial"/>
                <a:ea typeface="Malgun Gothic"/>
                <a:cs typeface="Arial"/>
              </a:rPr>
              <a:t xml:space="preserve">LOG  →  SEARCH login  →  SEARCH --author="Alice Kim"  →  LOG --sort-by=date</a:t>
            </a:r>
            <a:endParaRPr lang="ko-KR" sz="1300"/>
          </a:p>
          <a:p>
            <a:pPr algn="l">
              <a:lnSpc>
                <a:spcPts val="1690"/>
              </a:lnSpc>
            </a:pPr>
            <a:r>
              <a:rPr lang="ko-KR" sz="1300" b="0">
                <a:solidFill>
                  <a:srgbClr val="142536"/>
                </a:solidFill>
                <a:latin typeface="Arial"/>
                <a:ea typeface="Malgun Gothic"/>
                <a:cs typeface="Arial"/>
              </a:rPr>
              <a:t xml:space="preserve">확인: 5페이지의 새 실습 기준: 커밋 3개, login 검색 1개, 작성자 검색 3개, 날짜 오름차순</a:t>
            </a:r>
            <a:endParaRPr lang="ko-KR" sz="1300"/>
          </a:p>
        </p:txBody>
      </p:sp>
      <p:sp>
        <p:nvSpPr>
          <p:cNvPr id="22" name="Text 22"/>
          <p:cNvSpPr txBox="1"/>
          <p:nvPr/>
        </p:nvSpPr>
        <p:spPr>
          <a:xfrm>
            <a:off x="730250" y="5260340"/>
            <a:ext cx="10731500" cy="4292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hash는 커밋의 식별자이지 외워야 할 정답이 아닙니다. 실제 화면에 나온 hash를 사용해야 합니다. 로그에서는 hash, author, timestamp, message가 식별 가능해야 합니</a:t>
            </a:r>
            <a:endParaRPr lang="ko-KR" sz="1300"/>
          </a:p>
          <a:p>
            <a:pPr algn="l">
              <a:lnSpc>
                <a:spcPts val="1690"/>
              </a:lnSpc>
            </a:pPr>
            <a:r>
              <a:rPr lang="ko-KR" sz="1300" b="0">
                <a:solidFill>
                  <a:srgbClr val="142536"/>
                </a:solidFill>
                <a:latin typeface="Arial"/>
                <a:ea typeface="Malgun Gothic"/>
                <a:cs typeface="Arial"/>
              </a:rPr>
              <a:t xml:space="preserve">다. 한 세션에서는 작성자가 한 명이므로 author 정렬의 순서 변화가 눈에 보이지 않을 수 있습니다. 서로 다른 작성자의 정렬은 테스트에서 별도로 확인합니다.</a:t>
            </a:r>
            <a:endParaRPr lang="ko-KR" sz="1300"/>
          </a:p>
        </p:txBody>
      </p:sp>
      <p:sp>
        <p:nvSpPr>
          <p:cNvPr id="23" name="Shape 23"/>
          <p:cNvSpPr/>
          <p:nvPr/>
        </p:nvSpPr>
        <p:spPr>
          <a:xfrm>
            <a:off x="508000" y="5937250"/>
            <a:ext cx="11176000" cy="508000"/>
          </a:xfrm>
          <a:prstGeom prst="roundRect">
            <a:avLst/>
          </a:prstGeom>
          <a:solidFill>
            <a:srgbClr val="168B82"/>
          </a:solidFill>
          <a:ln>
            <a:noFill/>
          </a:ln>
        </p:spPr>
      </p:sp>
      <p:sp>
        <p:nvSpPr>
          <p:cNvPr id="24" name="Text 24"/>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문구보다 동작의 규칙을 확인합니다. hash는 실행마다 달라질 수 있습니다.</a:t>
            </a:r>
            <a:endParaRPr lang="ko-KR" sz="1600"/>
          </a:p>
        </p:txBody>
      </p:sp>
      <p:sp>
        <p:nvSpPr>
          <p:cNvPr id="25" name="Text 25"/>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제출/results/01·02·03·06 파일</a:t>
            </a:r>
            <a:endParaRPr lang="ko-KR" sz="1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PATH와 ANCESTORS는 실제 hash로 확인합니다">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VERIFY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07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142536"/>
                </a:solidFill>
                <a:latin typeface="Arial"/>
                <a:ea typeface="Malgun Gothic"/>
                <a:cs typeface="Arial"/>
              </a:rPr>
              <a:t xml:space="preserve">PATH와 ANCESTORS는 실제 hash로 확인합니다</a:t>
            </a:r>
            <a:endParaRPr lang="ko-KR" sz="3200"/>
          </a:p>
        </p:txBody>
      </p:sp>
      <p:sp>
        <p:nvSpPr>
          <p:cNvPr id="6" name="Shape 6"/>
          <p:cNvSpPr/>
          <p:nvPr/>
        </p:nvSpPr>
        <p:spPr>
          <a:xfrm>
            <a:off x="508000" y="1895250"/>
            <a:ext cx="3492500" cy="1656000"/>
          </a:xfrm>
          <a:prstGeom prst="roundRect">
            <a:avLst/>
          </a:prstGeom>
          <a:solidFill>
            <a:srgbClr val="EBEEE8"/>
          </a:solidFill>
          <a:ln>
            <a:noFill/>
          </a:ln>
        </p:spPr>
      </p:sp>
      <p:sp>
        <p:nvSpPr>
          <p:cNvPr id="7" name="Text 7"/>
          <p:cNvSpPr txBox="1"/>
          <p:nvPr/>
        </p:nvSpPr>
        <p:spPr>
          <a:xfrm>
            <a:off x="660400" y="1983570"/>
            <a:ext cx="3187700" cy="19136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최단 경로 확인 — PATH</a:t>
            </a:r>
            <a:endParaRPr lang="ko-KR" sz="1100"/>
          </a:p>
        </p:txBody>
      </p:sp>
      <p:sp>
        <p:nvSpPr>
          <p:cNvPr id="8" name="Text 8"/>
          <p:cNvSpPr txBox="1"/>
          <p:nvPr/>
        </p:nvSpPr>
        <p:spPr>
          <a:xfrm>
            <a:off x="660400" y="2211730"/>
            <a:ext cx="3187700" cy="1251200"/>
          </a:xfrm>
          <a:prstGeom prst="rect">
            <a:avLst/>
          </a:prstGeom>
          <a:noFill/>
          <a:ln>
            <a:noFill/>
          </a:ln>
        </p:spPr>
        <p:txBody>
          <a:bodyPr wrap="square" lIns="0" tIns="0" rIns="0" bIns="0" anchor="t">
            <a:noAutofit/>
          </a:bodyPr>
          <a:lstStyle/>
          <a:p>
            <a:pPr algn="l">
              <a:lnSpc>
                <a:spcPts val="1950"/>
              </a:lnSpc>
            </a:pPr>
            <a:r>
              <a:rPr lang="ko-KR" sz="1500" b="0">
                <a:solidFill>
                  <a:srgbClr val="142536"/>
                </a:solidFill>
                <a:latin typeface="Arial"/>
                <a:ea typeface="Malgun Gothic"/>
                <a:cs typeface="Arial"/>
              </a:rPr>
              <a:t xml:space="preserve">PATH 5fa901 837f82</a:t>
            </a:r>
            <a:endParaRPr lang="ko-KR" sz="1500"/>
          </a:p>
          <a:p>
            <a:pPr algn="l">
              <a:lnSpc>
                <a:spcPts val="1950"/>
              </a:lnSpc>
            </a:pPr>
            <a:r>
              <a:rPr lang="ko-KR" sz="1500" b="0">
                <a:solidFill>
                  <a:srgbClr val="142536"/>
                </a:solidFill>
                <a:latin typeface="Arial"/>
                <a:ea typeface="Malgun Gothic"/>
                <a:cs typeface="Arial"/>
              </a:rPr>
              <a:t xml:space="preserve">기대 경로:</a:t>
            </a:r>
            <a:endParaRPr lang="ko-KR" sz="1500"/>
          </a:p>
          <a:p>
            <a:pPr algn="l">
              <a:lnSpc>
                <a:spcPts val="1950"/>
              </a:lnSpc>
            </a:pPr>
            <a:r>
              <a:rPr lang="ko-KR" sz="1500" b="0">
                <a:solidFill>
                  <a:srgbClr val="142536"/>
                </a:solidFill>
                <a:latin typeface="Arial"/>
                <a:ea typeface="Malgun Gothic"/>
                <a:cs typeface="Arial"/>
              </a:rPr>
              <a:t xml:space="preserve">5fa901 → 0a7990 → 837f82</a:t>
            </a:r>
            <a:endParaRPr lang="ko-KR" sz="1500"/>
          </a:p>
          <a:p>
            <a:pPr algn="l">
              <a:lnSpc>
                <a:spcPts val="1950"/>
              </a:lnSpc>
            </a:pPr>
            <a:r>
              <a:rPr lang="ko-KR" sz="1500" b="0">
                <a:solidFill>
                  <a:srgbClr val="142536"/>
                </a:solidFill>
                <a:latin typeface="Arial"/>
                <a:ea typeface="Malgun Gothic"/>
                <a:cs typeface="Arial"/>
              </a:rPr>
              <a:t xml:space="preserve">최단 거리 = 간선 2개</a:t>
            </a:r>
            <a:endParaRPr lang="ko-KR" sz="1500"/>
          </a:p>
        </p:txBody>
      </p:sp>
      <p:sp>
        <p:nvSpPr>
          <p:cNvPr id="9" name="Shape 9"/>
          <p:cNvSpPr/>
          <p:nvPr/>
        </p:nvSpPr>
        <p:spPr>
          <a:xfrm>
            <a:off x="4349750" y="1895250"/>
            <a:ext cx="3492500" cy="1656000"/>
          </a:xfrm>
          <a:prstGeom prst="roundRect">
            <a:avLst/>
          </a:prstGeom>
          <a:solidFill>
            <a:srgbClr val="EBEEE8"/>
          </a:solidFill>
          <a:ln>
            <a:noFill/>
          </a:ln>
        </p:spPr>
      </p:sp>
      <p:sp>
        <p:nvSpPr>
          <p:cNvPr id="10" name="Text 10"/>
          <p:cNvSpPr txBox="1"/>
          <p:nvPr/>
        </p:nvSpPr>
        <p:spPr>
          <a:xfrm>
            <a:off x="4502150" y="1983570"/>
            <a:ext cx="3187700" cy="19136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조상 확인 — ANCESTORS</a:t>
            </a:r>
            <a:endParaRPr lang="ko-KR" sz="1100"/>
          </a:p>
        </p:txBody>
      </p:sp>
      <p:sp>
        <p:nvSpPr>
          <p:cNvPr id="11" name="Text 11"/>
          <p:cNvSpPr txBox="1"/>
          <p:nvPr/>
        </p:nvSpPr>
        <p:spPr>
          <a:xfrm>
            <a:off x="4502150" y="2211730"/>
            <a:ext cx="3187700" cy="1251200"/>
          </a:xfrm>
          <a:prstGeom prst="rect">
            <a:avLst/>
          </a:prstGeom>
          <a:noFill/>
          <a:ln>
            <a:noFill/>
          </a:ln>
        </p:spPr>
        <p:txBody>
          <a:bodyPr wrap="square" lIns="0" tIns="0" rIns="0" bIns="0" anchor="t">
            <a:noAutofit/>
          </a:bodyPr>
          <a:lstStyle/>
          <a:p>
            <a:pPr algn="l">
              <a:lnSpc>
                <a:spcPts val="1950"/>
              </a:lnSpc>
            </a:pPr>
            <a:r>
              <a:rPr lang="ko-KR" sz="1500" b="0">
                <a:solidFill>
                  <a:srgbClr val="142536"/>
                </a:solidFill>
                <a:latin typeface="Arial"/>
                <a:ea typeface="Malgun Gothic"/>
                <a:cs typeface="Arial"/>
              </a:rPr>
              <a:t xml:space="preserve">ANCESTORS 837f82</a:t>
            </a:r>
            <a:endParaRPr lang="ko-KR" sz="1500"/>
          </a:p>
          <a:p>
            <a:pPr algn="l">
              <a:lnSpc>
                <a:spcPts val="1950"/>
              </a:lnSpc>
            </a:pPr>
            <a:r>
              <a:rPr lang="ko-KR" sz="1500" b="0">
                <a:solidFill>
                  <a:srgbClr val="142536"/>
                </a:solidFill>
                <a:latin typeface="Arial"/>
                <a:ea typeface="Malgun Gothic"/>
                <a:cs typeface="Arial"/>
              </a:rPr>
              <a:t xml:space="preserve">기대 조상: 0a7990</a:t>
            </a:r>
            <a:endParaRPr lang="ko-KR" sz="1500"/>
          </a:p>
          <a:p>
            <a:pPr algn="l">
              <a:lnSpc>
                <a:spcPts val="1950"/>
              </a:lnSpc>
            </a:pPr>
            <a:r>
              <a:rPr lang="ko-KR" sz="1500" b="0">
                <a:solidFill>
                  <a:srgbClr val="142536"/>
                </a:solidFill>
                <a:latin typeface="Arial"/>
                <a:ea typeface="Malgun Gothic"/>
                <a:cs typeface="Arial"/>
              </a:rPr>
              <a:t xml:space="preserve"/>
            </a:r>
            <a:endParaRPr lang="ko-KR" sz="1500"/>
          </a:p>
          <a:p>
            <a:pPr algn="l">
              <a:lnSpc>
                <a:spcPts val="1950"/>
              </a:lnSpc>
            </a:pPr>
            <a:r>
              <a:rPr lang="ko-KR" sz="1500" b="0">
                <a:solidFill>
                  <a:srgbClr val="142536"/>
                </a:solidFill>
                <a:latin typeface="Arial"/>
                <a:ea typeface="Malgun Gothic"/>
                <a:cs typeface="Arial"/>
              </a:rPr>
              <a:t xml:space="preserve">ANCESTORS 0a7990</a:t>
            </a:r>
            <a:endParaRPr lang="ko-KR" sz="1500"/>
          </a:p>
          <a:p>
            <a:pPr algn="l">
              <a:lnSpc>
                <a:spcPts val="1950"/>
              </a:lnSpc>
            </a:pPr>
            <a:r>
              <a:rPr lang="ko-KR" sz="1500" b="0">
                <a:solidFill>
                  <a:srgbClr val="142536"/>
                </a:solidFill>
                <a:latin typeface="Arial"/>
                <a:ea typeface="Malgun Gothic"/>
                <a:cs typeface="Arial"/>
              </a:rPr>
              <a:t xml:space="preserve">기대: No ancestors.</a:t>
            </a:r>
            <a:endParaRPr lang="ko-KR" sz="1500"/>
          </a:p>
        </p:txBody>
      </p:sp>
      <p:sp>
        <p:nvSpPr>
          <p:cNvPr id="12" name="Shape 12"/>
          <p:cNvSpPr/>
          <p:nvPr/>
        </p:nvSpPr>
        <p:spPr>
          <a:xfrm>
            <a:off x="8191500" y="1895250"/>
            <a:ext cx="3492500" cy="1656000"/>
          </a:xfrm>
          <a:prstGeom prst="roundRect">
            <a:avLst/>
          </a:prstGeom>
          <a:solidFill>
            <a:srgbClr val="EBEEE8"/>
          </a:solidFill>
          <a:ln>
            <a:noFill/>
          </a:ln>
        </p:spPr>
      </p:sp>
      <p:sp>
        <p:nvSpPr>
          <p:cNvPr id="13" name="Text 13"/>
          <p:cNvSpPr txBox="1"/>
          <p:nvPr/>
        </p:nvSpPr>
        <p:spPr>
          <a:xfrm>
            <a:off x="8343900" y="1983570"/>
            <a:ext cx="3187700" cy="19136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먼저 LOG에서 hash 확인</a:t>
            </a:r>
            <a:endParaRPr lang="ko-KR" sz="1100"/>
          </a:p>
        </p:txBody>
      </p:sp>
      <p:sp>
        <p:nvSpPr>
          <p:cNvPr id="14" name="Text 14"/>
          <p:cNvSpPr txBox="1"/>
          <p:nvPr/>
        </p:nvSpPr>
        <p:spPr>
          <a:xfrm>
            <a:off x="8343900" y="2211730"/>
            <a:ext cx="3187700" cy="1251200"/>
          </a:xfrm>
          <a:prstGeom prst="rect">
            <a:avLst/>
          </a:prstGeom>
          <a:noFill/>
          <a:ln>
            <a:noFill/>
          </a:ln>
        </p:spPr>
        <p:txBody>
          <a:bodyPr wrap="square" lIns="0" tIns="0" rIns="0" bIns="0" anchor="t">
            <a:noAutofit/>
          </a:bodyPr>
          <a:lstStyle/>
          <a:p>
            <a:pPr algn="l">
              <a:lnSpc>
                <a:spcPts val="1950"/>
              </a:lnSpc>
            </a:pPr>
            <a:r>
              <a:rPr lang="ko-KR" sz="1500" b="0">
                <a:solidFill>
                  <a:srgbClr val="142536"/>
                </a:solidFill>
                <a:latin typeface="Arial"/>
                <a:ea typeface="Malgun Gothic"/>
                <a:cs typeface="Arial"/>
              </a:rPr>
              <a:t xml:space="preserve">LOG</a:t>
            </a:r>
            <a:endParaRPr lang="ko-KR" sz="1500"/>
          </a:p>
          <a:p>
            <a:pPr algn="l">
              <a:lnSpc>
                <a:spcPts val="1950"/>
              </a:lnSpc>
            </a:pPr>
            <a:r>
              <a:rPr lang="ko-KR" sz="1500" b="0">
                <a:solidFill>
                  <a:srgbClr val="142536"/>
                </a:solidFill>
                <a:latin typeface="Arial"/>
                <a:ea typeface="Malgun Gothic"/>
                <a:cs typeface="Arial"/>
              </a:rPr>
              <a:t xml:space="preserve">0a7990: 최초 커밋</a:t>
            </a:r>
            <a:endParaRPr lang="ko-KR" sz="1500"/>
          </a:p>
          <a:p>
            <a:pPr algn="l">
              <a:lnSpc>
                <a:spcPts val="1950"/>
              </a:lnSpc>
            </a:pPr>
            <a:r>
              <a:rPr lang="ko-KR" sz="1500" b="0">
                <a:solidFill>
                  <a:srgbClr val="142536"/>
                </a:solidFill>
                <a:latin typeface="Arial"/>
                <a:ea typeface="Malgun Gothic"/>
                <a:cs typeface="Arial"/>
              </a:rPr>
              <a:t xml:space="preserve">5fa901: 로그인 커밋</a:t>
            </a:r>
            <a:endParaRPr lang="ko-KR" sz="1500"/>
          </a:p>
          <a:p>
            <a:pPr algn="l">
              <a:lnSpc>
                <a:spcPts val="1950"/>
              </a:lnSpc>
            </a:pPr>
            <a:r>
              <a:rPr lang="ko-KR" sz="1500" b="0">
                <a:solidFill>
                  <a:srgbClr val="142536"/>
                </a:solidFill>
                <a:latin typeface="Arial"/>
                <a:ea typeface="Malgun Gothic"/>
                <a:cs typeface="Arial"/>
              </a:rPr>
              <a:t xml:space="preserve">837f82: 결제 커밋</a:t>
            </a:r>
            <a:endParaRPr lang="ko-KR" sz="1500"/>
          </a:p>
          <a:p>
            <a:pPr algn="l">
              <a:lnSpc>
                <a:spcPts val="1950"/>
              </a:lnSpc>
            </a:pPr>
            <a:r>
              <a:rPr lang="ko-KR" sz="1500" b="0">
                <a:solidFill>
                  <a:srgbClr val="142536"/>
                </a:solidFill>
                <a:latin typeface="Arial"/>
                <a:ea typeface="Malgun Gothic"/>
                <a:cs typeface="Arial"/>
              </a:rPr>
              <a:t xml:space="preserve">세션이 바뀌면 실제 hash로 교체</a:t>
            </a:r>
            <a:endParaRPr lang="ko-KR" sz="1500"/>
          </a:p>
        </p:txBody>
      </p:sp>
      <p:sp>
        <p:nvSpPr>
          <p:cNvPr id="15" name="Shape 15"/>
          <p:cNvSpPr/>
          <p:nvPr/>
        </p:nvSpPr>
        <p:spPr>
          <a:xfrm>
            <a:off x="508000" y="4108450"/>
            <a:ext cx="11176000" cy="1670050"/>
          </a:xfrm>
          <a:prstGeom prst="roundRect">
            <a:avLst/>
          </a:prstGeom>
          <a:solidFill>
            <a:srgbClr val="EBEEE8"/>
          </a:solidFill>
          <a:ln>
            <a:noFill/>
          </a:ln>
        </p:spPr>
      </p:sp>
      <p:sp>
        <p:nvSpPr>
          <p:cNvPr id="16" name="Text 16"/>
          <p:cNvSpPr txBox="1"/>
          <p:nvPr/>
        </p:nvSpPr>
        <p:spPr>
          <a:xfrm>
            <a:off x="730250" y="418465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상세 설명</a:t>
            </a:r>
            <a:endParaRPr lang="ko-KR" sz="1200"/>
          </a:p>
        </p:txBody>
      </p:sp>
      <p:sp>
        <p:nvSpPr>
          <p:cNvPr id="17" name="Text 17"/>
          <p:cNvSpPr txBox="1"/>
          <p:nvPr/>
        </p:nvSpPr>
        <p:spPr>
          <a:xfrm>
            <a:off x="730250" y="4451350"/>
            <a:ext cx="10731500" cy="1238250"/>
          </a:xfrm>
          <a:prstGeom prst="rect">
            <a:avLst/>
          </a:prstGeom>
          <a:noFill/>
          <a:ln>
            <a:noFill/>
          </a:ln>
        </p:spPr>
        <p:txBody>
          <a:bodyPr wrap="square" lIns="0" tIns="0" rIns="0" bIns="0" anchor="t">
            <a:noAutofit/>
          </a:bodyPr>
          <a:lstStyle/>
          <a:p>
            <a:pPr algn="l">
              <a:lnSpc>
                <a:spcPts val="1950"/>
              </a:lnSpc>
            </a:pPr>
            <a:r>
              <a:rPr lang="ko-KR" sz="1500" b="0">
                <a:solidFill>
                  <a:srgbClr val="142536"/>
                </a:solidFill>
                <a:latin typeface="Arial"/>
                <a:ea typeface="Malgun Gothic"/>
                <a:cs typeface="Arial"/>
              </a:rPr>
              <a:t xml:space="preserve">mini-git&gt; 프롬프트에서 LOG로 hash를 확인한 뒤 PATH 5fa901 837f82와 ANCESTORS 837f82를 입력합니다. 이 명령은 사용자가 제시한 실</a:t>
            </a:r>
            <a:endParaRPr lang="ko-KR" sz="1500"/>
          </a:p>
          <a:p>
            <a:pPr algn="l">
              <a:lnSpc>
                <a:spcPts val="1950"/>
              </a:lnSpc>
            </a:pPr>
            <a:r>
              <a:rPr lang="ko-KR" sz="1500" b="0">
                <a:solidFill>
                  <a:srgbClr val="142536"/>
                </a:solidFill>
                <a:latin typeface="Arial"/>
                <a:ea typeface="Malgun Gothic"/>
                <a:cs typeface="Arial"/>
              </a:rPr>
              <a:t xml:space="preserve">행 로그의 hash를 사용한 예시이며, 로그인과 결제 커밋이 최초 커밋을 공통 부모로 갖는 흐름을 기준으로 합니다. 새 세션에서는 hash가 달라지므</a:t>
            </a:r>
            <a:endParaRPr lang="ko-KR" sz="1500"/>
          </a:p>
          <a:p>
            <a:pPr algn="l">
              <a:lnSpc>
                <a:spcPts val="1950"/>
              </a:lnSpc>
            </a:pPr>
            <a:r>
              <a:rPr lang="ko-KR" sz="1500" b="0">
                <a:solidFill>
                  <a:srgbClr val="142536"/>
                </a:solidFill>
                <a:latin typeface="Arial"/>
                <a:ea typeface="Malgun Gothic"/>
                <a:cs typeface="Arial"/>
              </a:rPr>
              <a:t xml:space="preserve">로 현재 LOG의 값으로 바꿉니다. PATH는 Login → Initial → Payment로 간선 두 개를 지나며, 화살표는 경로 순서입니다. ANCESTORS는 부모</a:t>
            </a:r>
            <a:endParaRPr lang="ko-KR" sz="1500"/>
          </a:p>
          <a:p>
            <a:pPr algn="l">
              <a:lnSpc>
                <a:spcPts val="1950"/>
              </a:lnSpc>
            </a:pPr>
            <a:r>
              <a:rPr lang="ko-KR" sz="1500" b="0">
                <a:solidFill>
                  <a:srgbClr val="142536"/>
                </a:solidFill>
                <a:latin typeface="Arial"/>
                <a:ea typeface="Malgun Gothic"/>
                <a:cs typeface="Arial"/>
              </a:rPr>
              <a:t xml:space="preserve">방향만 따라가고 자신은 제외합니다. ANCESTORS 0a7990은 No ancestors.를 출력합니다. PATH가 자기 자신이면 간선 수는 0입니다. 경로가</a:t>
            </a:r>
            <a:endParaRPr lang="ko-KR" sz="1500"/>
          </a:p>
          <a:p>
            <a:pPr algn="l">
              <a:lnSpc>
                <a:spcPts val="1950"/>
              </a:lnSpc>
            </a:pPr>
            <a:r>
              <a:rPr lang="ko-KR" sz="1500" b="0">
                <a:solidFill>
                  <a:srgbClr val="142536"/>
                </a:solidFill>
                <a:latin typeface="Arial"/>
                <a:ea typeface="Malgun Gothic"/>
                <a:cs typeface="Arial"/>
              </a:rPr>
              <a:t xml:space="preserve">없으면 No path, 존재하지 않는 hash면 Unknown commit입니다.</a:t>
            </a:r>
            <a:endParaRPr lang="ko-KR" sz="1500"/>
          </a:p>
        </p:txBody>
      </p:sp>
      <p:sp>
        <p:nvSpPr>
          <p:cNvPr id="18" name="Shape 18"/>
          <p:cNvSpPr/>
          <p:nvPr/>
        </p:nvSpPr>
        <p:spPr>
          <a:xfrm>
            <a:off x="508000" y="5937250"/>
            <a:ext cx="11176000" cy="508000"/>
          </a:xfrm>
          <a:prstGeom prst="roundRect">
            <a:avLst/>
          </a:prstGeom>
          <a:solidFill>
            <a:srgbClr val="168B82"/>
          </a:solidFill>
          <a:ln>
            <a:noFill/>
          </a:ln>
        </p:spPr>
      </p:sp>
      <p:sp>
        <p:nvSpPr>
          <p:cNvPr id="19" name="Text 19"/>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PATH는 양방향으로 길을 찾고, ANCESTORS는 부모 방향만 따라갑니다.</a:t>
            </a:r>
            <a:endParaRPr lang="ko-KR" sz="1600"/>
          </a:p>
        </p:txBody>
      </p:sp>
      <p:sp>
        <p:nvSpPr>
          <p:cNvPr id="20" name="Text 20"/>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사용자 실행 LOG 예시 · 제출/results/04_PATH_최단경로.txt · 05_ANCESTORS.txt</a:t>
            </a:r>
            <a:endParaRPr lang="ko-KR"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자동 검증은 한 명령으로 재현합니다">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VERIFY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08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142536"/>
                </a:solidFill>
                <a:latin typeface="Arial"/>
                <a:ea typeface="Malgun Gothic"/>
                <a:cs typeface="Arial"/>
              </a:rPr>
              <a:t xml:space="preserve">자동 검증은 한 명령으로 재현합니다</a:t>
            </a:r>
            <a:endParaRPr lang="ko-KR" sz="3200"/>
          </a:p>
        </p:txBody>
      </p:sp>
      <p:sp>
        <p:nvSpPr>
          <p:cNvPr id="6" name="Shape 6"/>
          <p:cNvSpPr/>
          <p:nvPr/>
        </p:nvSpPr>
        <p:spPr>
          <a:xfrm>
            <a:off x="508000" y="1686150"/>
            <a:ext cx="7175500" cy="936600"/>
          </a:xfrm>
          <a:prstGeom prst="roundRect">
            <a:avLst/>
          </a:prstGeom>
          <a:solidFill>
            <a:srgbClr val="142536"/>
          </a:solidFill>
          <a:ln>
            <a:noFill/>
          </a:ln>
        </p:spPr>
      </p:sp>
      <p:sp>
        <p:nvSpPr>
          <p:cNvPr id="7" name="Text 7"/>
          <p:cNvSpPr txBox="1"/>
          <p:nvPr/>
        </p:nvSpPr>
        <p:spPr>
          <a:xfrm>
            <a:off x="698500" y="1784270"/>
            <a:ext cx="6794500" cy="223000"/>
          </a:xfrm>
          <a:prstGeom prst="rect">
            <a:avLst/>
          </a:prstGeom>
          <a:noFill/>
          <a:ln>
            <a:noFill/>
          </a:ln>
        </p:spPr>
        <p:txBody>
          <a:bodyPr wrap="square" lIns="0" tIns="0" rIns="0" bIns="0" anchor="t">
            <a:noAutofit/>
          </a:bodyPr>
          <a:lstStyle/>
          <a:p>
            <a:pPr algn="l">
              <a:lnSpc>
                <a:spcPts val="1625"/>
              </a:lnSpc>
            </a:pPr>
            <a:r>
              <a:rPr lang="ko-KR" sz="1250" b="1">
                <a:solidFill>
                  <a:srgbClr val="E9B55B"/>
                </a:solidFill>
                <a:latin typeface="Arial"/>
                <a:ea typeface="Malgun Gothic"/>
                <a:cs typeface="Arial"/>
              </a:rPr>
              <a:t xml:space="preserve">b3-2 터미널에서 실행</a:t>
            </a:r>
            <a:endParaRPr lang="ko-KR" sz="1250"/>
          </a:p>
        </p:txBody>
      </p:sp>
      <p:sp>
        <p:nvSpPr>
          <p:cNvPr id="8" name="Text 8"/>
          <p:cNvSpPr txBox="1"/>
          <p:nvPr/>
        </p:nvSpPr>
        <p:spPr>
          <a:xfrm>
            <a:off x="698500" y="2132150"/>
            <a:ext cx="6794500" cy="356800"/>
          </a:xfrm>
          <a:prstGeom prst="rect">
            <a:avLst/>
          </a:prstGeom>
          <a:noFill/>
          <a:ln>
            <a:noFill/>
          </a:ln>
        </p:spPr>
        <p:txBody>
          <a:bodyPr wrap="square" lIns="0" tIns="0" rIns="0" bIns="0" anchor="t">
            <a:noAutofit/>
          </a:bodyPr>
          <a:lstStyle/>
          <a:p>
            <a:pPr algn="l">
              <a:lnSpc>
                <a:spcPts val="1755"/>
              </a:lnSpc>
            </a:pPr>
            <a:r>
              <a:rPr lang="ko-KR" sz="1350" b="0">
                <a:solidFill>
                  <a:srgbClr val="FFFFFF"/>
                </a:solidFill>
                <a:latin typeface="Menlo"/>
                <a:ea typeface="Malgun Gothic"/>
                <a:cs typeface="Arial"/>
              </a:rPr>
              <a:t xml:space="preserve">python3 -B -m unittest discover -s tests -v</a:t>
            </a:r>
            <a:endParaRPr lang="ko-KR" sz="1350"/>
          </a:p>
        </p:txBody>
      </p:sp>
      <p:sp>
        <p:nvSpPr>
          <p:cNvPr id="9" name="Text 9"/>
          <p:cNvSpPr txBox="1"/>
          <p:nvPr/>
        </p:nvSpPr>
        <p:spPr>
          <a:xfrm>
            <a:off x="571500" y="2979550"/>
            <a:ext cx="6985000" cy="23192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포함된 검사</a:t>
            </a:r>
            <a:endParaRPr lang="ko-KR" sz="1200"/>
          </a:p>
        </p:txBody>
      </p:sp>
      <p:sp>
        <p:nvSpPr>
          <p:cNvPr id="10" name="Text 10"/>
          <p:cNvSpPr txBox="1"/>
          <p:nvPr/>
        </p:nvSpPr>
        <p:spPr>
          <a:xfrm>
            <a:off x="571500" y="3256070"/>
            <a:ext cx="6985000" cy="1039180"/>
          </a:xfrm>
          <a:prstGeom prst="rect">
            <a:avLst/>
          </a:prstGeom>
          <a:noFill/>
          <a:ln>
            <a:noFill/>
          </a:ln>
        </p:spPr>
        <p:txBody>
          <a:bodyPr wrap="square" lIns="0" tIns="0" rIns="0" bIns="0" anchor="t">
            <a:noAutofit/>
          </a:bodyPr>
          <a:lstStyle/>
          <a:p>
            <a:pPr algn="l">
              <a:lnSpc>
                <a:spcPts val="2145"/>
              </a:lnSpc>
            </a:pPr>
            <a:r>
              <a:rPr lang="ko-KR" sz="1650" b="0">
                <a:solidFill>
                  <a:srgbClr val="142536"/>
                </a:solidFill>
                <a:latin typeface="Arial"/>
                <a:ea typeface="Malgun Gothic"/>
                <a:cs typeface="Arial"/>
              </a:rPr>
              <a:t xml:space="preserve">무작위 DAG 50개 · 정렬 데이터 최대 1,000개</a:t>
            </a:r>
            <a:endParaRPr lang="ko-KR" sz="1650"/>
          </a:p>
          <a:p>
            <a:pPr algn="l">
              <a:lnSpc>
                <a:spcPts val="2145"/>
              </a:lnSpc>
            </a:pPr>
            <a:r>
              <a:rPr lang="ko-KR" sz="1650" b="0">
                <a:solidFill>
                  <a:srgbClr val="142536"/>
                </a:solidFill>
                <a:latin typeface="Arial"/>
                <a:ea typeface="Malgun Gothic"/>
                <a:cs typeface="Arial"/>
              </a:rPr>
              <a:t xml:space="preserve">부모 5,000개 · hash 강제 충돌</a:t>
            </a:r>
            <a:endParaRPr lang="ko-KR" sz="1650"/>
          </a:p>
          <a:p>
            <a:pPr algn="l">
              <a:lnSpc>
                <a:spcPts val="2145"/>
              </a:lnSpc>
            </a:pPr>
            <a:r>
              <a:rPr lang="ko-KR" sz="1650" b="0">
                <a:solidFill>
                  <a:srgbClr val="142536"/>
                </a:solidFill>
                <a:latin typeface="Arial"/>
                <a:ea typeface="Malgun Gothic"/>
                <a:cs typeface="Arial"/>
              </a:rPr>
              <a:t xml:space="preserve">실제 REPL 실행 · exit/quit 종료</a:t>
            </a:r>
            <a:endParaRPr lang="ko-KR" sz="1650"/>
          </a:p>
        </p:txBody>
      </p:sp>
      <p:sp>
        <p:nvSpPr>
          <p:cNvPr id="11" name="Text 11"/>
          <p:cNvSpPr txBox="1"/>
          <p:nvPr/>
        </p:nvSpPr>
        <p:spPr>
          <a:xfrm>
            <a:off x="8318500" y="1641550"/>
            <a:ext cx="2857500" cy="936600"/>
          </a:xfrm>
          <a:prstGeom prst="rect">
            <a:avLst/>
          </a:prstGeom>
          <a:noFill/>
          <a:ln>
            <a:noFill/>
          </a:ln>
        </p:spPr>
        <p:txBody>
          <a:bodyPr wrap="square" lIns="0" tIns="0" rIns="0" bIns="0" anchor="t">
            <a:noAutofit/>
          </a:bodyPr>
          <a:lstStyle/>
          <a:p>
            <a:pPr algn="ctr">
              <a:lnSpc>
                <a:spcPts val="7345"/>
              </a:lnSpc>
            </a:pPr>
            <a:r>
              <a:rPr lang="ko-KR" sz="5650" b="1">
                <a:solidFill>
                  <a:srgbClr val="168B82"/>
                </a:solidFill>
                <a:latin typeface="Arial"/>
                <a:ea typeface="Malgun Gothic"/>
                <a:cs typeface="Arial"/>
              </a:rPr>
              <a:t xml:space="preserve">15</a:t>
            </a:r>
            <a:endParaRPr lang="ko-KR" sz="5650"/>
          </a:p>
        </p:txBody>
      </p:sp>
      <p:sp>
        <p:nvSpPr>
          <p:cNvPr id="12" name="Text 12"/>
          <p:cNvSpPr txBox="1"/>
          <p:nvPr/>
        </p:nvSpPr>
        <p:spPr>
          <a:xfrm>
            <a:off x="8191500" y="2801150"/>
            <a:ext cx="3048000" cy="312200"/>
          </a:xfrm>
          <a:prstGeom prst="rect">
            <a:avLst/>
          </a:prstGeom>
          <a:noFill/>
          <a:ln>
            <a:noFill/>
          </a:ln>
        </p:spPr>
        <p:txBody>
          <a:bodyPr wrap="square" lIns="0" tIns="0" rIns="0" bIns="0" anchor="t">
            <a:noAutofit/>
          </a:bodyPr>
          <a:lstStyle/>
          <a:p>
            <a:pPr algn="ctr">
              <a:lnSpc>
                <a:spcPts val="2210"/>
              </a:lnSpc>
            </a:pPr>
            <a:r>
              <a:rPr lang="ko-KR" sz="1700" b="1">
                <a:solidFill>
                  <a:srgbClr val="168B82"/>
                </a:solidFill>
                <a:latin typeface="Arial"/>
                <a:ea typeface="Malgun Gothic"/>
                <a:cs typeface="Arial"/>
              </a:rPr>
              <a:t xml:space="preserve">TESTS PASSED</a:t>
            </a:r>
            <a:endParaRPr lang="ko-KR" sz="1700"/>
          </a:p>
        </p:txBody>
      </p:sp>
      <p:sp>
        <p:nvSpPr>
          <p:cNvPr id="13" name="Text 13"/>
          <p:cNvSpPr txBox="1"/>
          <p:nvPr/>
        </p:nvSpPr>
        <p:spPr>
          <a:xfrm>
            <a:off x="8255000" y="3380950"/>
            <a:ext cx="2921000" cy="713600"/>
          </a:xfrm>
          <a:prstGeom prst="rect">
            <a:avLst/>
          </a:prstGeom>
          <a:noFill/>
          <a:ln>
            <a:noFill/>
          </a:ln>
        </p:spPr>
        <p:txBody>
          <a:bodyPr wrap="square" lIns="0" tIns="0" rIns="0" bIns="0" anchor="t">
            <a:noAutofit/>
          </a:bodyPr>
          <a:lstStyle/>
          <a:p>
            <a:pPr algn="ctr">
              <a:lnSpc>
                <a:spcPts val="2535"/>
              </a:lnSpc>
            </a:pPr>
            <a:r>
              <a:rPr lang="ko-KR" sz="1950" b="0">
                <a:solidFill>
                  <a:srgbClr val="142536"/>
                </a:solidFill>
                <a:latin typeface="Arial"/>
                <a:ea typeface="Malgun Gothic"/>
                <a:cs typeface="Arial"/>
              </a:rPr>
              <a:t xml:space="preserve">Ran 15 tests</a:t>
            </a:r>
            <a:endParaRPr lang="ko-KR" sz="1950"/>
          </a:p>
          <a:p>
            <a:pPr algn="ctr">
              <a:lnSpc>
                <a:spcPts val="2535"/>
              </a:lnSpc>
            </a:pPr>
            <a:r>
              <a:rPr lang="ko-KR" sz="1950" b="0">
                <a:solidFill>
                  <a:srgbClr val="142536"/>
                </a:solidFill>
                <a:latin typeface="Arial"/>
                <a:ea typeface="Malgun Gothic"/>
                <a:cs typeface="Arial"/>
              </a:rPr>
              <a:t xml:space="preserve">OK</a:t>
            </a:r>
            <a:endParaRPr lang="ko-KR" sz="1950"/>
          </a:p>
        </p:txBody>
      </p:sp>
      <p:sp>
        <p:nvSpPr>
          <p:cNvPr id="14" name="Shape 14"/>
          <p:cNvSpPr/>
          <p:nvPr/>
        </p:nvSpPr>
        <p:spPr>
          <a:xfrm>
            <a:off x="508000" y="4603750"/>
            <a:ext cx="11176000" cy="1174750"/>
          </a:xfrm>
          <a:prstGeom prst="roundRect">
            <a:avLst/>
          </a:prstGeom>
          <a:solidFill>
            <a:srgbClr val="EBEEE8"/>
          </a:solidFill>
          <a:ln>
            <a:noFill/>
          </a:ln>
        </p:spPr>
      </p:sp>
      <p:sp>
        <p:nvSpPr>
          <p:cNvPr id="15" name="Text 15"/>
          <p:cNvSpPr txBox="1"/>
          <p:nvPr/>
        </p:nvSpPr>
        <p:spPr>
          <a:xfrm>
            <a:off x="730250" y="467995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상세 설명</a:t>
            </a:r>
            <a:endParaRPr lang="ko-KR" sz="1200"/>
          </a:p>
        </p:txBody>
      </p:sp>
      <p:sp>
        <p:nvSpPr>
          <p:cNvPr id="16" name="Text 16"/>
          <p:cNvSpPr txBox="1"/>
          <p:nvPr/>
        </p:nvSpPr>
        <p:spPr>
          <a:xfrm>
            <a:off x="730250" y="4946650"/>
            <a:ext cx="10731500" cy="742950"/>
          </a:xfrm>
          <a:prstGeom prst="rect">
            <a:avLst/>
          </a:prstGeom>
          <a:noFill/>
          <a:ln>
            <a:noFill/>
          </a:ln>
        </p:spPr>
        <p:txBody>
          <a:bodyPr wrap="square" lIns="0" tIns="0" rIns="0" bIns="0" anchor="t">
            <a:noAutofit/>
          </a:bodyPr>
          <a:lstStyle/>
          <a:p>
            <a:pPr algn="l">
              <a:lnSpc>
                <a:spcPts val="1950"/>
              </a:lnSpc>
            </a:pPr>
            <a:r>
              <a:rPr lang="ko-KR" sz="1500" b="0">
                <a:solidFill>
                  <a:srgbClr val="142536"/>
                </a:solidFill>
                <a:latin typeface="Arial"/>
                <a:ea typeface="Malgun Gothic"/>
                <a:cs typeface="Arial"/>
              </a:rPr>
              <a:t xml:space="preserve">unittest는 Python에 들어 있는 테스트 실행 도구입니다. -s tests는 tests 폴더를 검사하라는 뜻이고 -v는 검사 이름을 자세히 보여줍니다. -B는</a:t>
            </a:r>
            <a:endParaRPr lang="ko-KR" sz="1500"/>
          </a:p>
          <a:p>
            <a:pPr algn="l">
              <a:lnSpc>
                <a:spcPts val="1950"/>
              </a:lnSpc>
            </a:pPr>
            <a:r>
              <a:rPr lang="ko-KR" sz="1500" b="0">
                <a:solidFill>
                  <a:srgbClr val="142536"/>
                </a:solidFill>
                <a:latin typeface="Arial"/>
                <a:ea typeface="Malgun Gothic"/>
                <a:cs typeface="Arial"/>
              </a:rPr>
              <a:t xml:space="preserve">파이썬 캐시 파일 생성을 막는 선택 옵션입니다. 각 test 함수는 여러 assert와 반복 입력을 포함합니다. FAIL 또는 ERROR가 나오면 해당 이름과</a:t>
            </a:r>
            <a:endParaRPr lang="ko-KR" sz="1500"/>
          </a:p>
          <a:p>
            <a:pPr algn="l">
              <a:lnSpc>
                <a:spcPts val="1950"/>
              </a:lnSpc>
            </a:pPr>
            <a:r>
              <a:rPr lang="ko-KR" sz="1500" b="0">
                <a:solidFill>
                  <a:srgbClr val="142536"/>
                </a:solidFill>
                <a:latin typeface="Arial"/>
                <a:ea typeface="Malgun Gothic"/>
                <a:cs typeface="Arial"/>
              </a:rPr>
              <a:t xml:space="preserve">마지막 오류 메시지를 읽어야 합니다. tests의 코드는 검사 방법이며 results/11은 검사 기록입니다.</a:t>
            </a:r>
            <a:endParaRPr lang="ko-KR" sz="1500"/>
          </a:p>
        </p:txBody>
      </p:sp>
      <p:sp>
        <p:nvSpPr>
          <p:cNvPr id="17" name="Shape 17"/>
          <p:cNvSpPr/>
          <p:nvPr/>
        </p:nvSpPr>
        <p:spPr>
          <a:xfrm>
            <a:off x="508000" y="5937250"/>
            <a:ext cx="11176000" cy="508000"/>
          </a:xfrm>
          <a:prstGeom prst="roundRect">
            <a:avLst/>
          </a:prstGeom>
          <a:solidFill>
            <a:srgbClr val="168B82"/>
          </a:solidFill>
          <a:ln>
            <a:noFill/>
          </a:ln>
        </p:spPr>
      </p:sp>
      <p:sp>
        <p:nvSpPr>
          <p:cNvPr id="18" name="Text 18"/>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15개 테스트는 여러 입력을 반복 확인합니다. 성공 표시는 OK입니다.</a:t>
            </a:r>
            <a:endParaRPr lang="ko-KR" sz="1600"/>
          </a:p>
        </p:txBody>
      </p:sp>
      <p:sp>
        <p:nvSpPr>
          <p:cNvPr id="19" name="Text 19"/>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tests/test_mini_git.py · 제출/results/11_자동검증.txt</a:t>
            </a:r>
            <a:endParaRPr lang="ko-KR"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평가자에게 보여 줄 근거 위치">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VERIFY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09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142536"/>
                </a:solidFill>
                <a:latin typeface="Arial"/>
                <a:ea typeface="Malgun Gothic"/>
                <a:cs typeface="Arial"/>
              </a:rPr>
              <a:t xml:space="preserve">평가자에게 보여 줄 근거 위치</a:t>
            </a:r>
            <a:endParaRPr lang="ko-KR" sz="3200"/>
          </a:p>
        </p:txBody>
      </p:sp>
      <p:sp>
        <p:nvSpPr>
          <p:cNvPr id="6" name="Text 6"/>
          <p:cNvSpPr txBox="1"/>
          <p:nvPr/>
        </p:nvSpPr>
        <p:spPr>
          <a:xfrm>
            <a:off x="571500" y="1619250"/>
            <a:ext cx="10858500" cy="291000"/>
          </a:xfrm>
          <a:prstGeom prst="rect">
            <a:avLst/>
          </a:prstGeom>
          <a:noFill/>
          <a:ln>
            <a:noFill/>
          </a:ln>
        </p:spPr>
        <p:txBody>
          <a:bodyPr wrap="square" lIns="0" tIns="0" rIns="0" bIns="0" anchor="t">
            <a:noAutofit/>
          </a:bodyPr>
          <a:lstStyle/>
          <a:p>
            <a:pPr algn="l">
              <a:lnSpc>
                <a:spcPts val="1755"/>
              </a:lnSpc>
            </a:pPr>
            <a:r>
              <a:rPr lang="ko-KR" sz="1350" b="1">
                <a:solidFill>
                  <a:srgbClr val="168B82"/>
                </a:solidFill>
                <a:latin typeface="Arial"/>
                <a:ea typeface="Malgun Gothic"/>
                <a:cs typeface="Arial"/>
              </a:rPr>
              <a:t xml:space="preserve">확인하고 싶은 것 / 파일</a:t>
            </a:r>
            <a:endParaRPr lang="ko-KR" sz="1350"/>
          </a:p>
        </p:txBody>
      </p:sp>
      <p:sp>
        <p:nvSpPr>
          <p:cNvPr id="7" name="Shape 7"/>
          <p:cNvSpPr/>
          <p:nvPr/>
        </p:nvSpPr>
        <p:spPr>
          <a:xfrm>
            <a:off x="508000" y="1983000"/>
            <a:ext cx="11176000" cy="309188"/>
          </a:xfrm>
          <a:prstGeom prst="roundRect">
            <a:avLst/>
          </a:prstGeom>
          <a:solidFill>
            <a:srgbClr val="FFFFFF"/>
          </a:solidFill>
          <a:ln>
            <a:noFill/>
          </a:ln>
        </p:spPr>
      </p:sp>
      <p:sp>
        <p:nvSpPr>
          <p:cNvPr id="8" name="Text 8"/>
          <p:cNvSpPr txBox="1"/>
          <p:nvPr/>
        </p:nvSpPr>
        <p:spPr>
          <a:xfrm>
            <a:off x="666750" y="2041200"/>
            <a:ext cx="10858500" cy="265538"/>
          </a:xfrm>
          <a:prstGeom prst="rect">
            <a:avLst/>
          </a:prstGeom>
          <a:noFill/>
          <a:ln>
            <a:noFill/>
          </a:ln>
        </p:spPr>
        <p:txBody>
          <a:bodyPr wrap="square" lIns="0" tIns="0" rIns="0" bIns="0" anchor="t">
            <a:noAutofit/>
          </a:bodyPr>
          <a:lstStyle/>
          <a:p>
            <a:pPr algn="l">
              <a:lnSpc>
                <a:spcPts val="1885"/>
              </a:lnSpc>
            </a:pPr>
            <a:r>
              <a:rPr lang="ko-KR" sz="1450" b="0">
                <a:solidFill>
                  <a:srgbClr val="142536"/>
                </a:solidFill>
                <a:latin typeface="Arial"/>
                <a:ea typeface="Malgun Gothic"/>
                <a:cs typeface="Arial"/>
              </a:rPr>
              <a:t xml:space="preserve">실행 안내 / README.md, 가이드.md</a:t>
            </a:r>
            <a:endParaRPr lang="ko-KR" sz="1450"/>
          </a:p>
        </p:txBody>
      </p:sp>
      <p:sp>
        <p:nvSpPr>
          <p:cNvPr id="9" name="Shape 9"/>
          <p:cNvSpPr/>
          <p:nvPr/>
        </p:nvSpPr>
        <p:spPr>
          <a:xfrm>
            <a:off x="508000" y="2316438"/>
            <a:ext cx="11176000" cy="309188"/>
          </a:xfrm>
          <a:prstGeom prst="roundRect">
            <a:avLst/>
          </a:prstGeom>
          <a:solidFill>
            <a:srgbClr val="EBEEE8"/>
          </a:solidFill>
          <a:ln>
            <a:noFill/>
          </a:ln>
        </p:spPr>
      </p:sp>
      <p:sp>
        <p:nvSpPr>
          <p:cNvPr id="10" name="Text 10"/>
          <p:cNvSpPr txBox="1"/>
          <p:nvPr/>
        </p:nvSpPr>
        <p:spPr>
          <a:xfrm>
            <a:off x="666750" y="2374638"/>
            <a:ext cx="10858500" cy="265538"/>
          </a:xfrm>
          <a:prstGeom prst="rect">
            <a:avLst/>
          </a:prstGeom>
          <a:noFill/>
          <a:ln>
            <a:noFill/>
          </a:ln>
        </p:spPr>
        <p:txBody>
          <a:bodyPr wrap="square" lIns="0" tIns="0" rIns="0" bIns="0" anchor="t">
            <a:noAutofit/>
          </a:bodyPr>
          <a:lstStyle/>
          <a:p>
            <a:pPr algn="l">
              <a:lnSpc>
                <a:spcPts val="1885"/>
              </a:lnSpc>
            </a:pPr>
            <a:r>
              <a:rPr lang="ko-KR" sz="1450" b="0">
                <a:solidFill>
                  <a:srgbClr val="142536"/>
                </a:solidFill>
                <a:latin typeface="Arial"/>
                <a:ea typeface="Malgun Gothic"/>
                <a:cs typeface="Arial"/>
              </a:rPr>
              <a:t xml:space="preserve">요구사항별 판단 / 최종검수결과.md</a:t>
            </a:r>
            <a:endParaRPr lang="ko-KR" sz="1450"/>
          </a:p>
        </p:txBody>
      </p:sp>
      <p:sp>
        <p:nvSpPr>
          <p:cNvPr id="11" name="Shape 11"/>
          <p:cNvSpPr/>
          <p:nvPr/>
        </p:nvSpPr>
        <p:spPr>
          <a:xfrm>
            <a:off x="508000" y="2649875"/>
            <a:ext cx="11176000" cy="309188"/>
          </a:xfrm>
          <a:prstGeom prst="roundRect">
            <a:avLst/>
          </a:prstGeom>
          <a:solidFill>
            <a:srgbClr val="FFFFFF"/>
          </a:solidFill>
          <a:ln>
            <a:noFill/>
          </a:ln>
        </p:spPr>
      </p:sp>
      <p:sp>
        <p:nvSpPr>
          <p:cNvPr id="12" name="Text 12"/>
          <p:cNvSpPr txBox="1"/>
          <p:nvPr/>
        </p:nvSpPr>
        <p:spPr>
          <a:xfrm>
            <a:off x="666750" y="2708075"/>
            <a:ext cx="10858500" cy="265538"/>
          </a:xfrm>
          <a:prstGeom prst="rect">
            <a:avLst/>
          </a:prstGeom>
          <a:noFill/>
          <a:ln>
            <a:noFill/>
          </a:ln>
        </p:spPr>
        <p:txBody>
          <a:bodyPr wrap="square" lIns="0" tIns="0" rIns="0" bIns="0" anchor="t">
            <a:noAutofit/>
          </a:bodyPr>
          <a:lstStyle/>
          <a:p>
            <a:pPr algn="l">
              <a:lnSpc>
                <a:spcPts val="1885"/>
              </a:lnSpc>
            </a:pPr>
            <a:r>
              <a:rPr lang="ko-KR" sz="1450" b="0">
                <a:solidFill>
                  <a:srgbClr val="142536"/>
                </a:solidFill>
                <a:latin typeface="Arial"/>
                <a:ea typeface="Malgun Gothic"/>
                <a:cs typeface="Arial"/>
              </a:rPr>
              <a:t xml:space="preserve">실행 결과 요약 / 제출/실행결과.md</a:t>
            </a:r>
            <a:endParaRPr lang="ko-KR" sz="1450"/>
          </a:p>
        </p:txBody>
      </p:sp>
      <p:sp>
        <p:nvSpPr>
          <p:cNvPr id="13" name="Shape 13"/>
          <p:cNvSpPr/>
          <p:nvPr/>
        </p:nvSpPr>
        <p:spPr>
          <a:xfrm>
            <a:off x="508000" y="2983312"/>
            <a:ext cx="11176000" cy="309188"/>
          </a:xfrm>
          <a:prstGeom prst="roundRect">
            <a:avLst/>
          </a:prstGeom>
          <a:solidFill>
            <a:srgbClr val="EBEEE8"/>
          </a:solidFill>
          <a:ln>
            <a:noFill/>
          </a:ln>
        </p:spPr>
      </p:sp>
      <p:sp>
        <p:nvSpPr>
          <p:cNvPr id="14" name="Text 14"/>
          <p:cNvSpPr txBox="1"/>
          <p:nvPr/>
        </p:nvSpPr>
        <p:spPr>
          <a:xfrm>
            <a:off x="666750" y="3041512"/>
            <a:ext cx="10858500" cy="265538"/>
          </a:xfrm>
          <a:prstGeom prst="rect">
            <a:avLst/>
          </a:prstGeom>
          <a:noFill/>
          <a:ln>
            <a:noFill/>
          </a:ln>
        </p:spPr>
        <p:txBody>
          <a:bodyPr wrap="square" lIns="0" tIns="0" rIns="0" bIns="0" anchor="t">
            <a:noAutofit/>
          </a:bodyPr>
          <a:lstStyle/>
          <a:p>
            <a:pPr algn="l">
              <a:lnSpc>
                <a:spcPts val="1885"/>
              </a:lnSpc>
            </a:pPr>
            <a:r>
              <a:rPr lang="ko-KR" sz="1450" b="0">
                <a:solidFill>
                  <a:srgbClr val="142536"/>
                </a:solidFill>
                <a:latin typeface="Arial"/>
                <a:ea typeface="Malgun Gothic"/>
                <a:cs typeface="Arial"/>
              </a:rPr>
              <a:t xml:space="preserve">기본 기능 원본 / 제출/results/01~09_*.txt</a:t>
            </a:r>
            <a:endParaRPr lang="ko-KR" sz="1450"/>
          </a:p>
        </p:txBody>
      </p:sp>
      <p:sp>
        <p:nvSpPr>
          <p:cNvPr id="15" name="Shape 15"/>
          <p:cNvSpPr/>
          <p:nvPr/>
        </p:nvSpPr>
        <p:spPr>
          <a:xfrm>
            <a:off x="508000" y="3316750"/>
            <a:ext cx="11176000" cy="309188"/>
          </a:xfrm>
          <a:prstGeom prst="roundRect">
            <a:avLst/>
          </a:prstGeom>
          <a:solidFill>
            <a:srgbClr val="FFFFFF"/>
          </a:solidFill>
          <a:ln>
            <a:noFill/>
          </a:ln>
        </p:spPr>
      </p:sp>
      <p:sp>
        <p:nvSpPr>
          <p:cNvPr id="16" name="Text 16"/>
          <p:cNvSpPr txBox="1"/>
          <p:nvPr/>
        </p:nvSpPr>
        <p:spPr>
          <a:xfrm>
            <a:off x="666750" y="3374950"/>
            <a:ext cx="10858500" cy="265538"/>
          </a:xfrm>
          <a:prstGeom prst="rect">
            <a:avLst/>
          </a:prstGeom>
          <a:noFill/>
          <a:ln>
            <a:noFill/>
          </a:ln>
        </p:spPr>
        <p:txBody>
          <a:bodyPr wrap="square" lIns="0" tIns="0" rIns="0" bIns="0" anchor="t">
            <a:noAutofit/>
          </a:bodyPr>
          <a:lstStyle/>
          <a:p>
            <a:pPr algn="l">
              <a:lnSpc>
                <a:spcPts val="1885"/>
              </a:lnSpc>
            </a:pPr>
            <a:r>
              <a:rPr lang="ko-KR" sz="1450" b="0">
                <a:solidFill>
                  <a:srgbClr val="142536"/>
                </a:solidFill>
                <a:latin typeface="Arial"/>
                <a:ea typeface="Malgun Gothic"/>
                <a:cs typeface="Arial"/>
              </a:rPr>
              <a:t xml:space="preserve">보완 동작 원본 / 제출/results/10_보완_회귀검증.txt</a:t>
            </a:r>
            <a:endParaRPr lang="ko-KR" sz="1450"/>
          </a:p>
        </p:txBody>
      </p:sp>
      <p:sp>
        <p:nvSpPr>
          <p:cNvPr id="17" name="Shape 17"/>
          <p:cNvSpPr/>
          <p:nvPr/>
        </p:nvSpPr>
        <p:spPr>
          <a:xfrm>
            <a:off x="508000" y="3650188"/>
            <a:ext cx="11176000" cy="309188"/>
          </a:xfrm>
          <a:prstGeom prst="roundRect">
            <a:avLst/>
          </a:prstGeom>
          <a:solidFill>
            <a:srgbClr val="EBEEE8"/>
          </a:solidFill>
          <a:ln>
            <a:noFill/>
          </a:ln>
        </p:spPr>
      </p:sp>
      <p:sp>
        <p:nvSpPr>
          <p:cNvPr id="18" name="Text 18"/>
          <p:cNvSpPr txBox="1"/>
          <p:nvPr/>
        </p:nvSpPr>
        <p:spPr>
          <a:xfrm>
            <a:off x="666750" y="3708388"/>
            <a:ext cx="10858500" cy="265538"/>
          </a:xfrm>
          <a:prstGeom prst="rect">
            <a:avLst/>
          </a:prstGeom>
          <a:noFill/>
          <a:ln>
            <a:noFill/>
          </a:ln>
        </p:spPr>
        <p:txBody>
          <a:bodyPr wrap="square" lIns="0" tIns="0" rIns="0" bIns="0" anchor="t">
            <a:noAutofit/>
          </a:bodyPr>
          <a:lstStyle/>
          <a:p>
            <a:pPr algn="l">
              <a:lnSpc>
                <a:spcPts val="1885"/>
              </a:lnSpc>
            </a:pPr>
            <a:r>
              <a:rPr lang="ko-KR" sz="1450" b="0">
                <a:solidFill>
                  <a:srgbClr val="142536"/>
                </a:solidFill>
                <a:latin typeface="Arial"/>
                <a:ea typeface="Malgun Gothic"/>
                <a:cs typeface="Arial"/>
              </a:rPr>
              <a:t xml:space="preserve">테스트 원본 결과 / 제출/results/11_자동검증.txt</a:t>
            </a:r>
            <a:endParaRPr lang="ko-KR" sz="1450"/>
          </a:p>
        </p:txBody>
      </p:sp>
      <p:sp>
        <p:nvSpPr>
          <p:cNvPr id="19" name="Shape 19"/>
          <p:cNvSpPr/>
          <p:nvPr/>
        </p:nvSpPr>
        <p:spPr>
          <a:xfrm>
            <a:off x="508000" y="3983625"/>
            <a:ext cx="11176000" cy="309188"/>
          </a:xfrm>
          <a:prstGeom prst="roundRect">
            <a:avLst/>
          </a:prstGeom>
          <a:solidFill>
            <a:srgbClr val="FFFFFF"/>
          </a:solidFill>
          <a:ln>
            <a:noFill/>
          </a:ln>
        </p:spPr>
      </p:sp>
      <p:sp>
        <p:nvSpPr>
          <p:cNvPr id="20" name="Text 20"/>
          <p:cNvSpPr txBox="1"/>
          <p:nvPr/>
        </p:nvSpPr>
        <p:spPr>
          <a:xfrm>
            <a:off x="666750" y="4041825"/>
            <a:ext cx="10858500" cy="265538"/>
          </a:xfrm>
          <a:prstGeom prst="rect">
            <a:avLst/>
          </a:prstGeom>
          <a:noFill/>
          <a:ln>
            <a:noFill/>
          </a:ln>
        </p:spPr>
        <p:txBody>
          <a:bodyPr wrap="square" lIns="0" tIns="0" rIns="0" bIns="0" anchor="t">
            <a:noAutofit/>
          </a:bodyPr>
          <a:lstStyle/>
          <a:p>
            <a:pPr algn="l">
              <a:lnSpc>
                <a:spcPts val="1885"/>
              </a:lnSpc>
            </a:pPr>
            <a:r>
              <a:rPr lang="ko-KR" sz="1450" b="0">
                <a:solidFill>
                  <a:srgbClr val="142536"/>
                </a:solidFill>
                <a:latin typeface="Arial"/>
                <a:ea typeface="Malgun Gothic"/>
                <a:cs typeface="Arial"/>
              </a:rPr>
              <a:t xml:space="preserve">검사 소스 / tests/test_mini_git.py</a:t>
            </a:r>
            <a:endParaRPr lang="ko-KR" sz="1450"/>
          </a:p>
        </p:txBody>
      </p:sp>
      <p:sp>
        <p:nvSpPr>
          <p:cNvPr id="21" name="Shape 21"/>
          <p:cNvSpPr/>
          <p:nvPr/>
        </p:nvSpPr>
        <p:spPr>
          <a:xfrm>
            <a:off x="508000" y="4317062"/>
            <a:ext cx="11176000" cy="309188"/>
          </a:xfrm>
          <a:prstGeom prst="roundRect">
            <a:avLst/>
          </a:prstGeom>
          <a:solidFill>
            <a:srgbClr val="EBEEE8"/>
          </a:solidFill>
          <a:ln>
            <a:noFill/>
          </a:ln>
        </p:spPr>
      </p:sp>
      <p:sp>
        <p:nvSpPr>
          <p:cNvPr id="22" name="Text 22"/>
          <p:cNvSpPr txBox="1"/>
          <p:nvPr/>
        </p:nvSpPr>
        <p:spPr>
          <a:xfrm>
            <a:off x="666750" y="4375262"/>
            <a:ext cx="10858500" cy="265538"/>
          </a:xfrm>
          <a:prstGeom prst="rect">
            <a:avLst/>
          </a:prstGeom>
          <a:noFill/>
          <a:ln>
            <a:noFill/>
          </a:ln>
        </p:spPr>
        <p:txBody>
          <a:bodyPr wrap="square" lIns="0" tIns="0" rIns="0" bIns="0" anchor="t">
            <a:noAutofit/>
          </a:bodyPr>
          <a:lstStyle/>
          <a:p>
            <a:pPr algn="l">
              <a:lnSpc>
                <a:spcPts val="1885"/>
              </a:lnSpc>
            </a:pPr>
            <a:r>
              <a:rPr lang="ko-KR" sz="1450" b="0">
                <a:solidFill>
                  <a:srgbClr val="142536"/>
                </a:solidFill>
                <a:latin typeface="Arial"/>
                <a:ea typeface="Malgun Gothic"/>
                <a:cs typeface="Arial"/>
              </a:rPr>
              <a:t xml:space="preserve">알고리즘 구현 / mini_git/traversal.py, sorting.py, index.py</a:t>
            </a:r>
            <a:endParaRPr lang="ko-KR" sz="1450"/>
          </a:p>
        </p:txBody>
      </p:sp>
      <p:sp>
        <p:nvSpPr>
          <p:cNvPr id="23" name="Shape 23"/>
          <p:cNvSpPr/>
          <p:nvPr/>
        </p:nvSpPr>
        <p:spPr>
          <a:xfrm>
            <a:off x="508000" y="4851400"/>
            <a:ext cx="11176000" cy="927100"/>
          </a:xfrm>
          <a:prstGeom prst="roundRect">
            <a:avLst/>
          </a:prstGeom>
          <a:solidFill>
            <a:srgbClr val="EBEEE8"/>
          </a:solidFill>
          <a:ln>
            <a:noFill/>
          </a:ln>
        </p:spPr>
      </p:sp>
      <p:sp>
        <p:nvSpPr>
          <p:cNvPr id="24" name="Text 24"/>
          <p:cNvSpPr txBox="1"/>
          <p:nvPr/>
        </p:nvSpPr>
        <p:spPr>
          <a:xfrm>
            <a:off x="730250" y="492760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상세 설명</a:t>
            </a:r>
            <a:endParaRPr lang="ko-KR" sz="1200"/>
          </a:p>
        </p:txBody>
      </p:sp>
      <p:sp>
        <p:nvSpPr>
          <p:cNvPr id="25" name="Text 25"/>
          <p:cNvSpPr txBox="1"/>
          <p:nvPr/>
        </p:nvSpPr>
        <p:spPr>
          <a:xfrm>
            <a:off x="730250" y="5194300"/>
            <a:ext cx="10731500" cy="495300"/>
          </a:xfrm>
          <a:prstGeom prst="rect">
            <a:avLst/>
          </a:prstGeom>
          <a:noFill/>
          <a:ln>
            <a:noFill/>
          </a:ln>
        </p:spPr>
        <p:txBody>
          <a:bodyPr wrap="square" lIns="0" tIns="0" rIns="0" bIns="0" anchor="t">
            <a:noAutofit/>
          </a:bodyPr>
          <a:lstStyle/>
          <a:p>
            <a:pPr algn="l">
              <a:lnSpc>
                <a:spcPts val="1950"/>
              </a:lnSpc>
            </a:pPr>
            <a:r>
              <a:rPr lang="ko-KR" sz="1500" b="0">
                <a:solidFill>
                  <a:srgbClr val="142536"/>
                </a:solidFill>
                <a:latin typeface="Arial"/>
                <a:ea typeface="Malgun Gothic"/>
                <a:cs typeface="Arial"/>
              </a:rPr>
              <a:t xml:space="preserve">01~09 및 10 중 09를 제외한 기록은 dispatch 함수에 실제 명령을 전달한 출력입니다. 09는 main.py 별도 프로세스 종료 기록입니다. 테스트 안</a:t>
            </a:r>
            <a:endParaRPr lang="ko-KR" sz="1500"/>
          </a:p>
          <a:p>
            <a:pPr algn="l">
              <a:lnSpc>
                <a:spcPts val="1950"/>
              </a:lnSpc>
            </a:pPr>
            <a:r>
              <a:rPr lang="ko-KR" sz="1500" b="0">
                <a:solidFill>
                  <a:srgbClr val="142536"/>
                </a:solidFill>
                <a:latin typeface="Arial"/>
                <a:ea typeface="Malgun Gothic"/>
                <a:cs typeface="Arial"/>
              </a:rPr>
              <a:t xml:space="preserve">에서도 main.py를 직접 실행합니다. 따라서 모든 텍스트를 화면 캡처라고 부르지 않습니다. 오늘 PPT와 발표 노트는 제출/발표자료에 저장합니다.</a:t>
            </a:r>
            <a:endParaRPr lang="ko-KR" sz="1500"/>
          </a:p>
        </p:txBody>
      </p:sp>
      <p:sp>
        <p:nvSpPr>
          <p:cNvPr id="26" name="Shape 26"/>
          <p:cNvSpPr/>
          <p:nvPr/>
        </p:nvSpPr>
        <p:spPr>
          <a:xfrm>
            <a:off x="508000" y="5937250"/>
            <a:ext cx="11176000" cy="508000"/>
          </a:xfrm>
          <a:prstGeom prst="roundRect">
            <a:avLst/>
          </a:prstGeom>
          <a:solidFill>
            <a:srgbClr val="168B82"/>
          </a:solidFill>
          <a:ln>
            <a:noFill/>
          </a:ln>
        </p:spPr>
      </p:sp>
      <p:sp>
        <p:nvSpPr>
          <p:cNvPr id="27" name="Text 27"/>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결과 → 검사 방법 → 구현 순서로 파일을 열면 설명하기 쉽습니다.</a:t>
            </a:r>
            <a:endParaRPr lang="ko-KR" sz="1600"/>
          </a:p>
        </p:txBody>
      </p:sp>
      <p:sp>
        <p:nvSpPr>
          <p:cNvPr id="28" name="Text 28"/>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모든 경로는 AI-SW-Basic/b3-2/ 기준</a:t>
            </a:r>
            <a:endParaRPr lang="ko-KR"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검수에서 발견한 문제를 이렇게 고쳤습니다">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VERIFY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10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142536"/>
                </a:solidFill>
                <a:latin typeface="Arial"/>
                <a:ea typeface="Malgun Gothic"/>
                <a:cs typeface="Arial"/>
              </a:rPr>
              <a:t xml:space="preserve">검수에서 발견한 문제를 이렇게 고쳤습니다</a:t>
            </a:r>
            <a:endParaRPr lang="ko-KR" sz="3200"/>
          </a:p>
        </p:txBody>
      </p:sp>
      <p:sp>
        <p:nvSpPr>
          <p:cNvPr id="6" name="Text 6"/>
          <p:cNvSpPr txBox="1"/>
          <p:nvPr/>
        </p:nvSpPr>
        <p:spPr>
          <a:xfrm>
            <a:off x="571500" y="1619250"/>
            <a:ext cx="10858500" cy="22920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문제 → 수정 → 확인</a:t>
            </a:r>
            <a:endParaRPr lang="ko-KR" sz="1200"/>
          </a:p>
        </p:txBody>
      </p:sp>
      <p:sp>
        <p:nvSpPr>
          <p:cNvPr id="7" name="Shape 7"/>
          <p:cNvSpPr/>
          <p:nvPr/>
        </p:nvSpPr>
        <p:spPr>
          <a:xfrm>
            <a:off x="508000" y="1905750"/>
            <a:ext cx="11176000" cy="294140"/>
          </a:xfrm>
          <a:prstGeom prst="roundRect">
            <a:avLst/>
          </a:prstGeom>
          <a:solidFill>
            <a:srgbClr val="FFFFFF"/>
          </a:solidFill>
          <a:ln>
            <a:noFill/>
          </a:ln>
        </p:spPr>
      </p:sp>
      <p:sp>
        <p:nvSpPr>
          <p:cNvPr id="8" name="Text 8"/>
          <p:cNvSpPr txBox="1"/>
          <p:nvPr/>
        </p:nvSpPr>
        <p:spPr>
          <a:xfrm>
            <a:off x="666750" y="1951590"/>
            <a:ext cx="10858500" cy="2597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반복 단어가 커밋 중복 출력 → 커밋별 토큰 중복 제거 → 1개만 반환</a:t>
            </a:r>
            <a:endParaRPr lang="ko-KR" sz="1300"/>
          </a:p>
        </p:txBody>
      </p:sp>
      <p:sp>
        <p:nvSpPr>
          <p:cNvPr id="9" name="Shape 9"/>
          <p:cNvSpPr/>
          <p:nvPr/>
        </p:nvSpPr>
        <p:spPr>
          <a:xfrm>
            <a:off x="508000" y="2218990"/>
            <a:ext cx="11176000" cy="294140"/>
          </a:xfrm>
          <a:prstGeom prst="roundRect">
            <a:avLst/>
          </a:prstGeom>
          <a:solidFill>
            <a:srgbClr val="EBEEE8"/>
          </a:solidFill>
          <a:ln>
            <a:noFill/>
          </a:ln>
        </p:spPr>
      </p:sp>
      <p:sp>
        <p:nvSpPr>
          <p:cNvPr id="10" name="Text 10"/>
          <p:cNvSpPr txBox="1"/>
          <p:nvPr/>
        </p:nvSpPr>
        <p:spPr>
          <a:xfrm>
            <a:off x="666750" y="2264830"/>
            <a:ext cx="10858500" cy="2597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공백 포함 검색어 0건 → 연속 토큰 구문 검색 → login feature 검색</a:t>
            </a:r>
            <a:endParaRPr lang="ko-KR" sz="1300"/>
          </a:p>
        </p:txBody>
      </p:sp>
      <p:sp>
        <p:nvSpPr>
          <p:cNvPr id="11" name="Shape 11"/>
          <p:cNvSpPr/>
          <p:nvPr/>
        </p:nvSpPr>
        <p:spPr>
          <a:xfrm>
            <a:off x="508000" y="2532230"/>
            <a:ext cx="11176000" cy="294140"/>
          </a:xfrm>
          <a:prstGeom prst="roundRect">
            <a:avLst/>
          </a:prstGeom>
          <a:solidFill>
            <a:srgbClr val="FFFFFF"/>
          </a:solidFill>
          <a:ln>
            <a:noFill/>
          </a:ln>
        </p:spPr>
      </p:sp>
      <p:sp>
        <p:nvSpPr>
          <p:cNvPr id="12" name="Text 12"/>
          <p:cNvSpPr txBox="1"/>
          <p:nvPr/>
        </p:nvSpPr>
        <p:spPr>
          <a:xfrm>
            <a:off x="666750" y="2578070"/>
            <a:ext cx="10858500" cy="2597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기존 BRANCH 덮어쓰기 → Invalid args로 거부 → 모든 HEAD 보존</a:t>
            </a:r>
            <a:endParaRPr lang="ko-KR" sz="1300"/>
          </a:p>
        </p:txBody>
      </p:sp>
      <p:sp>
        <p:nvSpPr>
          <p:cNvPr id="13" name="Shape 13"/>
          <p:cNvSpPr/>
          <p:nvPr/>
        </p:nvSpPr>
        <p:spPr>
          <a:xfrm>
            <a:off x="508000" y="2845470"/>
            <a:ext cx="11176000" cy="294140"/>
          </a:xfrm>
          <a:prstGeom prst="roundRect">
            <a:avLst/>
          </a:prstGeom>
          <a:solidFill>
            <a:srgbClr val="EBEEE8"/>
          </a:solidFill>
          <a:ln>
            <a:noFill/>
          </a:ln>
        </p:spPr>
      </p:sp>
      <p:sp>
        <p:nvSpPr>
          <p:cNvPr id="14" name="Text 14"/>
          <p:cNvSpPr txBox="1"/>
          <p:nvPr/>
        </p:nvSpPr>
        <p:spPr>
          <a:xfrm>
            <a:off x="666750" y="2891310"/>
            <a:ext cx="10858500" cy="2597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조상 큐 pop(0) 비용 → 인덱스로 읽기 → 다중 부모 검증</a:t>
            </a:r>
            <a:endParaRPr lang="ko-KR" sz="1300"/>
          </a:p>
        </p:txBody>
      </p:sp>
      <p:sp>
        <p:nvSpPr>
          <p:cNvPr id="15" name="Shape 15"/>
          <p:cNvSpPr/>
          <p:nvPr/>
        </p:nvSpPr>
        <p:spPr>
          <a:xfrm>
            <a:off x="508000" y="3158710"/>
            <a:ext cx="11176000" cy="294140"/>
          </a:xfrm>
          <a:prstGeom prst="roundRect">
            <a:avLst/>
          </a:prstGeom>
          <a:solidFill>
            <a:srgbClr val="FFFFFF"/>
          </a:solidFill>
          <a:ln>
            <a:noFill/>
          </a:ln>
        </p:spPr>
      </p:sp>
      <p:sp>
        <p:nvSpPr>
          <p:cNvPr id="16" name="Text 16"/>
          <p:cNvSpPr txBox="1"/>
          <p:nvPr/>
        </p:nvSpPr>
        <p:spPr>
          <a:xfrm>
            <a:off x="666750" y="3204550"/>
            <a:ext cx="10858500" cy="2597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공백뿐인 입력 수용 → .strip() 검사 → 표준 오류 반환</a:t>
            </a:r>
            <a:endParaRPr lang="ko-KR" sz="1300"/>
          </a:p>
        </p:txBody>
      </p:sp>
      <p:sp>
        <p:nvSpPr>
          <p:cNvPr id="17" name="Shape 17"/>
          <p:cNvSpPr/>
          <p:nvPr/>
        </p:nvSpPr>
        <p:spPr>
          <a:xfrm>
            <a:off x="508000" y="3471950"/>
            <a:ext cx="11176000" cy="294140"/>
          </a:xfrm>
          <a:prstGeom prst="roundRect">
            <a:avLst/>
          </a:prstGeom>
          <a:solidFill>
            <a:srgbClr val="EBEEE8"/>
          </a:solidFill>
          <a:ln>
            <a:noFill/>
          </a:ln>
        </p:spPr>
      </p:sp>
      <p:sp>
        <p:nvSpPr>
          <p:cNvPr id="18" name="Text 18"/>
          <p:cNvSpPr txBox="1"/>
          <p:nvPr/>
        </p:nvSpPr>
        <p:spPr>
          <a:xfrm>
            <a:off x="666750" y="3517790"/>
            <a:ext cx="10858500" cy="2597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버전·hash 설명 부정확 → 실제 환경·충돌 재시도 설명 → 문서 갱신</a:t>
            </a:r>
            <a:endParaRPr lang="ko-KR" sz="1300"/>
          </a:p>
        </p:txBody>
      </p:sp>
      <p:sp>
        <p:nvSpPr>
          <p:cNvPr id="19" name="Shape 19"/>
          <p:cNvSpPr/>
          <p:nvPr/>
        </p:nvSpPr>
        <p:spPr>
          <a:xfrm>
            <a:off x="508000" y="4197350"/>
            <a:ext cx="11176000" cy="1581150"/>
          </a:xfrm>
          <a:prstGeom prst="roundRect">
            <a:avLst/>
          </a:prstGeom>
          <a:solidFill>
            <a:srgbClr val="EBEEE8"/>
          </a:solidFill>
          <a:ln>
            <a:noFill/>
          </a:ln>
        </p:spPr>
      </p:sp>
      <p:sp>
        <p:nvSpPr>
          <p:cNvPr id="20" name="Text 20"/>
          <p:cNvSpPr txBox="1"/>
          <p:nvPr/>
        </p:nvSpPr>
        <p:spPr>
          <a:xfrm>
            <a:off x="730250" y="427355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실행 확인 · 명령은 한 줄씩 입력</a:t>
            </a:r>
            <a:endParaRPr lang="ko-KR" sz="1200"/>
          </a:p>
        </p:txBody>
      </p:sp>
      <p:sp>
        <p:nvSpPr>
          <p:cNvPr id="21" name="Text 21"/>
          <p:cNvSpPr txBox="1"/>
          <p:nvPr/>
        </p:nvSpPr>
        <p:spPr>
          <a:xfrm>
            <a:off x="730250" y="4540250"/>
            <a:ext cx="10731500" cy="64389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일반 터미널 · b3-2 폴더</a:t>
            </a:r>
            <a:endParaRPr lang="ko-KR" sz="1300"/>
          </a:p>
          <a:p>
            <a:pPr algn="l">
              <a:lnSpc>
                <a:spcPts val="1690"/>
              </a:lnSpc>
            </a:pPr>
            <a:r>
              <a:rPr lang="ko-KR" sz="1300" b="0">
                <a:solidFill>
                  <a:srgbClr val="142536"/>
                </a:solidFill>
                <a:latin typeface="Arial"/>
                <a:ea typeface="Malgun Gothic"/>
                <a:cs typeface="Arial"/>
              </a:rPr>
              <a:t xml:space="preserve">python3 -B -m unittest discover -s tests -v -k phrase_order</a:t>
            </a:r>
            <a:endParaRPr lang="ko-KR" sz="1300"/>
          </a:p>
          <a:p>
            <a:pPr algn="l">
              <a:lnSpc>
                <a:spcPts val="1690"/>
              </a:lnSpc>
            </a:pPr>
            <a:r>
              <a:rPr lang="ko-KR" sz="1300" b="0">
                <a:solidFill>
                  <a:srgbClr val="142536"/>
                </a:solidFill>
                <a:latin typeface="Arial"/>
                <a:ea typeface="Malgun Gothic"/>
                <a:cs typeface="Arial"/>
              </a:rPr>
              <a:t xml:space="preserve">확인: 연속 구문·반복 토큰·대소문자·공백 처리 검증 · 마지막 OK 확인</a:t>
            </a:r>
            <a:endParaRPr lang="ko-KR" sz="1300"/>
          </a:p>
        </p:txBody>
      </p:sp>
      <p:sp>
        <p:nvSpPr>
          <p:cNvPr id="22" name="Text 22"/>
          <p:cNvSpPr txBox="1"/>
          <p:nvPr/>
        </p:nvSpPr>
        <p:spPr>
          <a:xfrm>
            <a:off x="730250" y="5260340"/>
            <a:ext cx="10731500" cy="4292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회귀 테스트는 한 번 고친 문제가 다시 생기지 않게 하는 검사입니다. 중복 검색은 메시지 login login LOGIN으로 확인합니다. 검색 결과는 단어 등장 횟수가 아니라 커밋 개</a:t>
            </a:r>
            <a:endParaRPr lang="ko-KR" sz="1300"/>
          </a:p>
          <a:p>
            <a:pPr algn="l">
              <a:lnSpc>
                <a:spcPts val="1690"/>
              </a:lnSpc>
            </a:pPr>
            <a:r>
              <a:rPr lang="ko-KR" sz="1300" b="0">
                <a:solidFill>
                  <a:srgbClr val="142536"/>
                </a:solidFill>
                <a:latin typeface="Arial"/>
                <a:ea typeface="Malgun Gothic"/>
                <a:cs typeface="Arial"/>
              </a:rPr>
              <a:t xml:space="preserve">수입니다. branch main을 다른 브랜치에서 호출해도 main이 이동하지 않아야 합니다. Python 3.9.6의 과거 검수 대신 3.12.13 검증을 기준으로 설명합니다.</a:t>
            </a:r>
            <a:endParaRPr lang="ko-KR" sz="1300"/>
          </a:p>
        </p:txBody>
      </p:sp>
      <p:sp>
        <p:nvSpPr>
          <p:cNvPr id="23" name="Shape 23"/>
          <p:cNvSpPr/>
          <p:nvPr/>
        </p:nvSpPr>
        <p:spPr>
          <a:xfrm>
            <a:off x="508000" y="5937250"/>
            <a:ext cx="11176000" cy="508000"/>
          </a:xfrm>
          <a:prstGeom prst="roundRect">
            <a:avLst/>
          </a:prstGeom>
          <a:solidFill>
            <a:srgbClr val="168B82"/>
          </a:solidFill>
          <a:ln>
            <a:noFill/>
          </a:ln>
        </p:spPr>
      </p:sp>
      <p:sp>
        <p:nvSpPr>
          <p:cNvPr id="24" name="Text 24"/>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기존의 전체 통과 결론을 재검수하고, 오류를 고친 뒤 테스트를 추가했습니다.</a:t>
            </a:r>
            <a:endParaRPr lang="ko-KR" sz="1600"/>
          </a:p>
        </p:txBody>
      </p:sp>
      <p:sp>
        <p:nvSpPr>
          <p:cNvPr id="25" name="Text 25"/>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제출/results/10_보완_회귀검증.txt · tests/test_mini_git.py</a:t>
            </a:r>
            <a:endParaRPr lang="ko-KR"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입력과 알고리즘을 나눈 이유">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EXPLAIN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11 / 26</a:t>
            </a:r>
            <a:endParaRPr lang="ko-KR" sz="1250"/>
          </a:p>
        </p:txBody>
      </p:sp>
      <p:sp>
        <p:nvSpPr>
          <p:cNvPr id="5" name="Text 5"/>
          <p:cNvSpPr txBox="1"/>
          <p:nvPr/>
        </p:nvSpPr>
        <p:spPr>
          <a:xfrm>
            <a:off x="508000" y="793750"/>
            <a:ext cx="11176000" cy="635000"/>
          </a:xfrm>
          <a:prstGeom prst="rect">
            <a:avLst/>
          </a:prstGeom>
          <a:noFill/>
          <a:ln>
            <a:noFill/>
          </a:ln>
        </p:spPr>
        <p:txBody>
          <a:bodyPr wrap="square" lIns="0" tIns="0" rIns="0" bIns="0" anchor="t">
            <a:noAutofit/>
          </a:bodyPr>
          <a:lstStyle/>
          <a:p>
            <a:pPr algn="l">
              <a:lnSpc>
                <a:spcPts val="3900"/>
              </a:lnSpc>
            </a:pPr>
            <a:r>
              <a:rPr lang="ko-KR" sz="3000" b="1">
                <a:solidFill>
                  <a:srgbClr val="142536"/>
                </a:solidFill>
                <a:latin typeface="Arial"/>
                <a:ea typeface="Malgun Gothic"/>
                <a:cs typeface="Arial"/>
              </a:rPr>
              <a:t xml:space="preserve">입력과 알고리즘을 나눈 이유</a:t>
            </a:r>
            <a:endParaRPr lang="ko-KR" sz="3000"/>
          </a:p>
        </p:txBody>
      </p:sp>
      <p:sp>
        <p:nvSpPr>
          <p:cNvPr id="6" name="Text 6"/>
          <p:cNvSpPr txBox="1"/>
          <p:nvPr/>
        </p:nvSpPr>
        <p:spPr>
          <a:xfrm>
            <a:off x="571500" y="1492250"/>
            <a:ext cx="3683000" cy="24130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핵심 · 그림 · 실행</a:t>
            </a:r>
            <a:endParaRPr lang="ko-KR" sz="1300"/>
          </a:p>
        </p:txBody>
      </p:sp>
      <p:sp>
        <p:nvSpPr>
          <p:cNvPr id="7" name="Text 7"/>
          <p:cNvSpPr txBox="1"/>
          <p:nvPr/>
        </p:nvSpPr>
        <p:spPr>
          <a:xfrm>
            <a:off x="4508500" y="1492250"/>
            <a:ext cx="7175500" cy="24130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상세 설명 · 코드 · 문답 전체</a:t>
            </a:r>
            <a:endParaRPr lang="ko-KR" sz="1300"/>
          </a:p>
        </p:txBody>
      </p:sp>
      <p:sp>
        <p:nvSpPr>
          <p:cNvPr id="8" name="Shape 8"/>
          <p:cNvSpPr/>
          <p:nvPr/>
        </p:nvSpPr>
        <p:spPr>
          <a:xfrm>
            <a:off x="4349750" y="1778000"/>
            <a:ext cx="12700" cy="4381500"/>
          </a:xfrm>
          <a:prstGeom prst="rect">
            <a:avLst/>
          </a:prstGeom>
          <a:solidFill>
            <a:srgbClr val="D7DFDB"/>
          </a:solidFill>
          <a:ln>
            <a:noFill/>
          </a:ln>
        </p:spPr>
      </p:sp>
      <p:sp>
        <p:nvSpPr>
          <p:cNvPr id="9" name="Text 9"/>
          <p:cNvSpPr txBox="1"/>
          <p:nvPr/>
        </p:nvSpPr>
        <p:spPr>
          <a:xfrm>
            <a:off x="571500" y="1809750"/>
            <a:ext cx="3683000" cy="243840"/>
          </a:xfrm>
          <a:prstGeom prst="rect">
            <a:avLst/>
          </a:prstGeom>
          <a:noFill/>
          <a:ln>
            <a:noFill/>
          </a:ln>
        </p:spPr>
        <p:txBody>
          <a:bodyPr wrap="square" lIns="0" tIns="0" rIns="0" bIns="0" anchor="t">
            <a:noAutofit/>
          </a:bodyPr>
          <a:lstStyle/>
          <a:p>
            <a:pPr algn="l">
              <a:lnSpc>
                <a:spcPts val="1820"/>
              </a:lnSpc>
            </a:pPr>
            <a:r>
              <a:rPr lang="ko-KR" sz="1400" b="1">
                <a:solidFill>
                  <a:srgbClr val="168B82"/>
                </a:solidFill>
                <a:latin typeface="Arial"/>
                <a:ea typeface="Malgun Gothic"/>
                <a:cs typeface="Arial"/>
              </a:rPr>
              <a:t xml:space="preserve">입력·출력</a:t>
            </a:r>
            <a:endParaRPr lang="ko-KR" sz="1400"/>
          </a:p>
        </p:txBody>
      </p:sp>
      <p:sp>
        <p:nvSpPr>
          <p:cNvPr id="10" name="Text 10"/>
          <p:cNvSpPr txBox="1"/>
          <p:nvPr/>
        </p:nvSpPr>
        <p:spPr>
          <a:xfrm>
            <a:off x="571500" y="2104390"/>
            <a:ext cx="3683000" cy="24384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Arial"/>
                <a:ea typeface="Malgun Gothic"/>
                <a:cs typeface="Arial"/>
              </a:rPr>
              <a:t xml:space="preserve">main.py → cli.py 문자열 파싱·명령 선택·결과 출력</a:t>
            </a:r>
            <a:endParaRPr lang="ko-KR" sz="1400"/>
          </a:p>
        </p:txBody>
      </p:sp>
      <p:sp>
        <p:nvSpPr>
          <p:cNvPr id="11" name="Text 11"/>
          <p:cNvSpPr txBox="1"/>
          <p:nvPr/>
        </p:nvSpPr>
        <p:spPr>
          <a:xfrm>
            <a:off x="571500" y="2399030"/>
            <a:ext cx="3683000" cy="243840"/>
          </a:xfrm>
          <a:prstGeom prst="rect">
            <a:avLst/>
          </a:prstGeom>
          <a:noFill/>
          <a:ln>
            <a:noFill/>
          </a:ln>
        </p:spPr>
        <p:txBody>
          <a:bodyPr wrap="square" lIns="0" tIns="0" rIns="0" bIns="0" anchor="t">
            <a:noAutofit/>
          </a:bodyPr>
          <a:lstStyle/>
          <a:p>
            <a:pPr algn="l">
              <a:lnSpc>
                <a:spcPts val="1820"/>
              </a:lnSpc>
            </a:pPr>
            <a:r>
              <a:rPr lang="ko-KR" sz="1400" b="1">
                <a:solidFill>
                  <a:srgbClr val="168B82"/>
                </a:solidFill>
                <a:latin typeface="Arial"/>
                <a:ea typeface="Malgun Gothic"/>
                <a:cs typeface="Arial"/>
              </a:rPr>
              <a:t xml:space="preserve">저장소 상태</a:t>
            </a:r>
            <a:endParaRPr lang="ko-KR" sz="1400"/>
          </a:p>
        </p:txBody>
      </p:sp>
      <p:sp>
        <p:nvSpPr>
          <p:cNvPr id="12" name="Text 12"/>
          <p:cNvSpPr txBox="1"/>
          <p:nvPr/>
        </p:nvSpPr>
        <p:spPr>
          <a:xfrm>
            <a:off x="571500" y="2693670"/>
            <a:ext cx="3683000" cy="24384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Arial"/>
                <a:ea typeface="Malgun Gothic"/>
                <a:cs typeface="Arial"/>
              </a:rPr>
              <a:t xml:space="preserve">repository.py 사용자·브랜치·HEAD·커밋 관리</a:t>
            </a:r>
            <a:endParaRPr lang="ko-KR" sz="1400"/>
          </a:p>
        </p:txBody>
      </p:sp>
      <p:sp>
        <p:nvSpPr>
          <p:cNvPr id="13" name="Text 13"/>
          <p:cNvSpPr txBox="1"/>
          <p:nvPr/>
        </p:nvSpPr>
        <p:spPr>
          <a:xfrm>
            <a:off x="571500" y="2988310"/>
            <a:ext cx="3683000" cy="243840"/>
          </a:xfrm>
          <a:prstGeom prst="rect">
            <a:avLst/>
          </a:prstGeom>
          <a:noFill/>
          <a:ln>
            <a:noFill/>
          </a:ln>
        </p:spPr>
        <p:txBody>
          <a:bodyPr wrap="square" lIns="0" tIns="0" rIns="0" bIns="0" anchor="t">
            <a:noAutofit/>
          </a:bodyPr>
          <a:lstStyle/>
          <a:p>
            <a:pPr algn="l">
              <a:lnSpc>
                <a:spcPts val="1820"/>
              </a:lnSpc>
            </a:pPr>
            <a:r>
              <a:rPr lang="ko-KR" sz="1400" b="1">
                <a:solidFill>
                  <a:srgbClr val="168B82"/>
                </a:solidFill>
                <a:latin typeface="Arial"/>
                <a:ea typeface="Malgun Gothic"/>
                <a:cs typeface="Arial"/>
              </a:rPr>
              <a:t xml:space="preserve">알고리즘</a:t>
            </a:r>
            <a:endParaRPr lang="ko-KR" sz="1400"/>
          </a:p>
        </p:txBody>
      </p:sp>
      <p:sp>
        <p:nvSpPr>
          <p:cNvPr id="14" name="Text 14"/>
          <p:cNvSpPr txBox="1"/>
          <p:nvPr/>
        </p:nvSpPr>
        <p:spPr>
          <a:xfrm>
            <a:off x="571500" y="3282950"/>
            <a:ext cx="3683000" cy="24384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Arial"/>
                <a:ea typeface="Malgun Gothic"/>
                <a:cs typeface="Arial"/>
              </a:rPr>
              <a:t xml:space="preserve">traversal.py: 탐색 sorting.py: 정렬 index.py: 역색인</a:t>
            </a:r>
            <a:endParaRPr lang="ko-KR" sz="1400"/>
          </a:p>
        </p:txBody>
      </p:sp>
      <p:sp>
        <p:nvSpPr>
          <p:cNvPr id="15" name="Text 15"/>
          <p:cNvSpPr txBox="1"/>
          <p:nvPr/>
        </p:nvSpPr>
        <p:spPr>
          <a:xfrm>
            <a:off x="571500" y="3577590"/>
            <a:ext cx="3683000" cy="243840"/>
          </a:xfrm>
          <a:prstGeom prst="rect">
            <a:avLst/>
          </a:prstGeom>
          <a:noFill/>
          <a:ln>
            <a:noFill/>
          </a:ln>
        </p:spPr>
        <p:txBody>
          <a:bodyPr wrap="square" lIns="0" tIns="0" rIns="0" bIns="0" anchor="t">
            <a:noAutofit/>
          </a:bodyPr>
          <a:lstStyle/>
          <a:p>
            <a:pPr algn="l">
              <a:lnSpc>
                <a:spcPts val="1820"/>
              </a:lnSpc>
            </a:pPr>
            <a:r>
              <a:rPr lang="ko-KR" sz="1400" b="1">
                <a:solidFill>
                  <a:srgbClr val="168B82"/>
                </a:solidFill>
                <a:latin typeface="Arial"/>
                <a:ea typeface="Malgun Gothic"/>
                <a:cs typeface="Arial"/>
              </a:rPr>
              <a:t xml:space="preserve">실행 확인 · 일반 터미널 · b3-2 폴더</a:t>
            </a:r>
            <a:endParaRPr lang="ko-KR" sz="1400"/>
          </a:p>
        </p:txBody>
      </p:sp>
      <p:sp>
        <p:nvSpPr>
          <p:cNvPr id="16" name="Text 16"/>
          <p:cNvSpPr txBox="1"/>
          <p:nvPr/>
        </p:nvSpPr>
        <p:spPr>
          <a:xfrm>
            <a:off x="571500" y="3872230"/>
            <a:ext cx="3683000" cy="47498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Menlo"/>
                <a:ea typeface="Malgun Gothic"/>
                <a:cs typeface="Arial"/>
              </a:rPr>
              <a:t xml:space="preserve">python3 -B -m unittest discover -s</a:t>
            </a:r>
            <a:endParaRPr lang="ko-KR" sz="1400"/>
          </a:p>
          <a:p>
            <a:pPr algn="l">
              <a:lnSpc>
                <a:spcPts val="1820"/>
              </a:lnSpc>
            </a:pPr>
            <a:r>
              <a:rPr lang="ko-KR" sz="1400" b="0">
                <a:solidFill>
                  <a:srgbClr val="142536"/>
                </a:solidFill>
                <a:latin typeface="Menlo"/>
                <a:ea typeface="Malgun Gothic"/>
                <a:cs typeface="Arial"/>
              </a:rPr>
              <a:t xml:space="preserve">tests -v -k actual_entrypoint</a:t>
            </a:r>
            <a:endParaRPr lang="ko-KR" sz="1400"/>
          </a:p>
        </p:txBody>
      </p:sp>
      <p:sp>
        <p:nvSpPr>
          <p:cNvPr id="17" name="Text 17"/>
          <p:cNvSpPr txBox="1"/>
          <p:nvPr/>
        </p:nvSpPr>
        <p:spPr>
          <a:xfrm>
            <a:off x="571500" y="4398010"/>
            <a:ext cx="3683000" cy="47498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Arial"/>
                <a:ea typeface="Malgun Gothic"/>
                <a:cs typeface="Arial"/>
              </a:rPr>
              <a:t xml:space="preserve">확인: main.py 실행과 실제 CLI 입출력·종료 검증 · 마</a:t>
            </a:r>
            <a:endParaRPr lang="ko-KR" sz="1400"/>
          </a:p>
          <a:p>
            <a:pPr algn="l">
              <a:lnSpc>
                <a:spcPts val="1820"/>
              </a:lnSpc>
            </a:pPr>
            <a:r>
              <a:rPr lang="ko-KR" sz="1400" b="0">
                <a:solidFill>
                  <a:srgbClr val="142536"/>
                </a:solidFill>
                <a:latin typeface="Arial"/>
                <a:ea typeface="Malgun Gothic"/>
                <a:cs typeface="Arial"/>
              </a:rPr>
              <a:t xml:space="preserve">지막 OK 확인</a:t>
            </a:r>
            <a:endParaRPr lang="ko-KR" sz="1400"/>
          </a:p>
        </p:txBody>
      </p:sp>
      <p:sp>
        <p:nvSpPr>
          <p:cNvPr id="18" name="Text 18"/>
          <p:cNvSpPr txBox="1"/>
          <p:nvPr/>
        </p:nvSpPr>
        <p:spPr>
          <a:xfrm>
            <a:off x="4508500" y="1809750"/>
            <a:ext cx="7175500" cy="491490"/>
          </a:xfrm>
          <a:prstGeom prst="rect">
            <a:avLst/>
          </a:prstGeom>
          <a:noFill/>
          <a:ln>
            <a:noFill/>
          </a:ln>
        </p:spPr>
        <p:txBody>
          <a:bodyPr wrap="square" lIns="0" tIns="0" rIns="0" bIns="0" anchor="t">
            <a:noAutofit/>
          </a:bodyPr>
          <a:lstStyle/>
          <a:p>
            <a:pPr algn="l">
              <a:lnSpc>
                <a:spcPts val="1885"/>
              </a:lnSpc>
            </a:pPr>
            <a:r>
              <a:rPr lang="ko-KR" sz="1450" b="0">
                <a:solidFill>
                  <a:srgbClr val="142536"/>
                </a:solidFill>
                <a:latin typeface="Arial"/>
                <a:ea typeface="Malgun Gothic"/>
                <a:cs typeface="Arial"/>
              </a:rPr>
              <a:t xml:space="preserve">이번 과제는 그래프 전용 라이브러리와 sorted()/list.sort() 없이, 커밋 그래프 탐색(위상 정렬·최단 경</a:t>
            </a:r>
            <a:endParaRPr lang="ko-KR" sz="1450"/>
          </a:p>
          <a:p>
            <a:pPr algn="l">
              <a:lnSpc>
                <a:spcPts val="1885"/>
              </a:lnSpc>
            </a:pPr>
            <a:r>
              <a:rPr lang="ko-KR" sz="1450" b="0">
                <a:solidFill>
                  <a:srgbClr val="142536"/>
                </a:solidFill>
                <a:latin typeface="Arial"/>
                <a:ea typeface="Malgun Gothic"/>
                <a:cs typeface="Arial"/>
              </a:rPr>
              <a:t xml:space="preserve">로·조상)과 정렬 알고리즘 을 직접 구현해 만든 CLI 기반 Mini Git입니다.</a:t>
            </a:r>
            <a:endParaRPr lang="ko-KR" sz="1450"/>
          </a:p>
        </p:txBody>
      </p:sp>
      <p:sp>
        <p:nvSpPr>
          <p:cNvPr id="19" name="Text 19"/>
          <p:cNvSpPr txBox="1"/>
          <p:nvPr/>
        </p:nvSpPr>
        <p:spPr>
          <a:xfrm>
            <a:off x="4508500" y="2352040"/>
            <a:ext cx="7175500" cy="2167255"/>
          </a:xfrm>
          <a:prstGeom prst="rect">
            <a:avLst/>
          </a:prstGeom>
          <a:noFill/>
          <a:ln>
            <a:noFill/>
          </a:ln>
        </p:spPr>
        <p:txBody>
          <a:bodyPr wrap="square" lIns="0" tIns="0" rIns="0" bIns="0" anchor="t">
            <a:noAutofit/>
          </a:bodyPr>
          <a:lstStyle/>
          <a:p>
            <a:pPr algn="l">
              <a:lnSpc>
                <a:spcPts val="1885"/>
              </a:lnSpc>
            </a:pPr>
            <a:r>
              <a:rPr lang="ko-KR" sz="1450" b="0">
                <a:solidFill>
                  <a:srgbClr val="142536"/>
                </a:solidFill>
                <a:latin typeface="Menlo"/>
                <a:ea typeface="Malgun Gothic"/>
                <a:cs typeface="Arial"/>
              </a:rPr>
              <a:t xml:space="preserve">main.py                 ← 엔트리 포인트</a:t>
            </a:r>
            <a:endParaRPr lang="ko-KR" sz="1450"/>
          </a:p>
          <a:p>
            <a:pPr algn="l">
              <a:lnSpc>
                <a:spcPts val="1885"/>
              </a:lnSpc>
            </a:pPr>
            <a:r>
              <a:rPr lang="ko-KR" sz="1450" b="0">
                <a:solidFill>
                  <a:srgbClr val="142536"/>
                </a:solidFill>
                <a:latin typeface="Menlo"/>
                <a:ea typeface="Malgun Gothic"/>
                <a:cs typeface="Arial"/>
              </a:rPr>
              <a:t xml:space="preserve">mini_git/</a:t>
            </a:r>
            <a:endParaRPr lang="ko-KR" sz="1450"/>
          </a:p>
          <a:p>
            <a:pPr algn="l">
              <a:lnSpc>
                <a:spcPts val="1885"/>
              </a:lnSpc>
            </a:pPr>
            <a:r>
              <a:rPr lang="ko-KR" sz="1450" b="0">
                <a:solidFill>
                  <a:srgbClr val="142536"/>
                </a:solidFill>
                <a:latin typeface="Menlo"/>
                <a:ea typeface="Malgun Gothic"/>
                <a:cs typeface="Arial"/>
              </a:rPr>
              <a:t xml:space="preserve">├── cli.py                REPL, 명령어 파싱, 출력 포맷팅</a:t>
            </a:r>
            <a:endParaRPr lang="ko-KR" sz="1450"/>
          </a:p>
          <a:p>
            <a:pPr algn="l">
              <a:lnSpc>
                <a:spcPts val="1885"/>
              </a:lnSpc>
            </a:pPr>
            <a:r>
              <a:rPr lang="ko-KR" sz="1450" b="0">
                <a:solidFill>
                  <a:srgbClr val="142536"/>
                </a:solidFill>
                <a:latin typeface="Menlo"/>
                <a:ea typeface="Malgun Gothic"/>
                <a:cs typeface="Arial"/>
              </a:rPr>
              <a:t xml:space="preserve">├── repository.py          저장소 상태(브랜치/HEAD/사용자) 관리</a:t>
            </a:r>
            <a:endParaRPr lang="ko-KR" sz="1450"/>
          </a:p>
          <a:p>
            <a:pPr algn="l">
              <a:lnSpc>
                <a:spcPts val="1885"/>
              </a:lnSpc>
            </a:pPr>
            <a:r>
              <a:rPr lang="ko-KR" sz="1450" b="0">
                <a:solidFill>
                  <a:srgbClr val="142536"/>
                </a:solidFill>
                <a:latin typeface="Menlo"/>
                <a:ea typeface="Malgun Gothic"/>
                <a:cs typeface="Arial"/>
              </a:rPr>
              <a:t xml:space="preserve">├── commit.py               Commit 노드 + 세션 내 유일한 hash 생성</a:t>
            </a:r>
            <a:endParaRPr lang="ko-KR" sz="1450"/>
          </a:p>
          <a:p>
            <a:pPr algn="l">
              <a:lnSpc>
                <a:spcPts val="1885"/>
              </a:lnSpc>
            </a:pPr>
            <a:r>
              <a:rPr lang="ko-KR" sz="1450" b="0">
                <a:solidFill>
                  <a:srgbClr val="142536"/>
                </a:solidFill>
                <a:latin typeface="Menlo"/>
                <a:ea typeface="Malgun Gothic"/>
                <a:cs typeface="Arial"/>
              </a:rPr>
              <a:t xml:space="preserve">├── traversal.py             위상 정렬 / 최단 경로 / 조상 탐색</a:t>
            </a:r>
            <a:endParaRPr lang="ko-KR" sz="1450"/>
          </a:p>
          <a:p>
            <a:pPr algn="l">
              <a:lnSpc>
                <a:spcPts val="1885"/>
              </a:lnSpc>
            </a:pPr>
            <a:r>
              <a:rPr lang="ko-KR" sz="1450" b="0">
                <a:solidFill>
                  <a:srgbClr val="142536"/>
                </a:solidFill>
                <a:latin typeface="Menlo"/>
                <a:ea typeface="Malgun Gothic"/>
                <a:cs typeface="Arial"/>
              </a:rPr>
              <a:t xml:space="preserve">├── sorting.py                직접 구현한 병합 정렬</a:t>
            </a:r>
            <a:endParaRPr lang="ko-KR" sz="1450"/>
          </a:p>
          <a:p>
            <a:pPr algn="l">
              <a:lnSpc>
                <a:spcPts val="1885"/>
              </a:lnSpc>
            </a:pPr>
            <a:r>
              <a:rPr lang="ko-KR" sz="1450" b="0">
                <a:solidFill>
                  <a:srgbClr val="142536"/>
                </a:solidFill>
                <a:latin typeface="Menlo"/>
                <a:ea typeface="Malgun Gothic"/>
                <a:cs typeface="Arial"/>
              </a:rPr>
              <a:t xml:space="preserve">├── index.py                   역색인</a:t>
            </a:r>
            <a:endParaRPr lang="ko-KR" sz="1450"/>
          </a:p>
          <a:p>
            <a:pPr algn="l">
              <a:lnSpc>
                <a:spcPts val="1885"/>
              </a:lnSpc>
            </a:pPr>
            <a:r>
              <a:rPr lang="ko-KR" sz="1450" b="0">
                <a:solidFill>
                  <a:srgbClr val="142536"/>
                </a:solidFill>
                <a:latin typeface="Menlo"/>
                <a:ea typeface="Malgun Gothic"/>
                <a:cs typeface="Arial"/>
              </a:rPr>
              <a:t xml:space="preserve">└── errors.py                   표준 에러 예외 클래스</a:t>
            </a:r>
            <a:endParaRPr lang="ko-KR" sz="1450"/>
          </a:p>
        </p:txBody>
      </p:sp>
      <p:sp>
        <p:nvSpPr>
          <p:cNvPr id="20" name="Text 20"/>
          <p:cNvSpPr txBox="1"/>
          <p:nvPr/>
        </p:nvSpPr>
        <p:spPr>
          <a:xfrm>
            <a:off x="4508500" y="4570095"/>
            <a:ext cx="7175500" cy="491490"/>
          </a:xfrm>
          <a:prstGeom prst="rect">
            <a:avLst/>
          </a:prstGeom>
          <a:noFill/>
          <a:ln>
            <a:noFill/>
          </a:ln>
        </p:spPr>
        <p:txBody>
          <a:bodyPr wrap="square" lIns="0" tIns="0" rIns="0" bIns="0" anchor="t">
            <a:noAutofit/>
          </a:bodyPr>
          <a:lstStyle/>
          <a:p>
            <a:pPr algn="l">
              <a:lnSpc>
                <a:spcPts val="1885"/>
              </a:lnSpc>
            </a:pPr>
            <a:r>
              <a:rPr lang="ko-KR" sz="1450" b="0">
                <a:solidFill>
                  <a:srgbClr val="142536"/>
                </a:solidFill>
                <a:latin typeface="Arial"/>
                <a:ea typeface="Malgun Gothic"/>
                <a:cs typeface="Arial"/>
              </a:rPr>
              <a:t xml:space="preserve">INIT/BRANCH/SWITCH/COMMIT(저장소·브랜치 관리) + LOG/LOG --sort-by(로그) + PATH/AN</a:t>
            </a:r>
            <a:endParaRPr lang="ko-KR" sz="1450"/>
          </a:p>
          <a:p>
            <a:pPr algn="l">
              <a:lnSpc>
                <a:spcPts val="1885"/>
              </a:lnSpc>
            </a:pPr>
            <a:r>
              <a:rPr lang="ko-KR" sz="1450" b="0">
                <a:solidFill>
                  <a:srgbClr val="142536"/>
                </a:solidFill>
                <a:latin typeface="Arial"/>
                <a:ea typeface="Malgun Gothic"/>
                <a:cs typeface="Arial"/>
              </a:rPr>
              <a:t xml:space="preserve">CESTORS(탐색) + SEARC H(검색), 총 8개 명령이 모두 동작합니다.</a:t>
            </a:r>
            <a:endParaRPr lang="ko-KR" sz="1450"/>
          </a:p>
        </p:txBody>
      </p:sp>
      <p:sp>
        <p:nvSpPr>
          <p:cNvPr id="21" name="Text 21"/>
          <p:cNvSpPr txBox="1"/>
          <p:nvPr/>
        </p:nvSpPr>
        <p:spPr>
          <a:xfrm>
            <a:off x="4508500" y="5112385"/>
            <a:ext cx="7175500" cy="970280"/>
          </a:xfrm>
          <a:prstGeom prst="rect">
            <a:avLst/>
          </a:prstGeom>
          <a:noFill/>
          <a:ln>
            <a:noFill/>
          </a:ln>
        </p:spPr>
        <p:txBody>
          <a:bodyPr wrap="square" lIns="0" tIns="0" rIns="0" bIns="0" anchor="t">
            <a:noAutofit/>
          </a:bodyPr>
          <a:lstStyle/>
          <a:p>
            <a:pPr algn="l">
              <a:lnSpc>
                <a:spcPts val="1885"/>
              </a:lnSpc>
            </a:pPr>
            <a:r>
              <a:rPr lang="ko-KR" sz="1450" b="0">
                <a:solidFill>
                  <a:srgbClr val="142536"/>
                </a:solidFill>
                <a:latin typeface="Arial"/>
                <a:ea typeface="Malgun Gothic"/>
                <a:cs typeface="Arial"/>
              </a:rPr>
              <a:t xml:space="preserve">초보자가 코드를 읽을 때는 실행 시작점부터 따라가면 됩니다. cli는 입력 문장을 해석하고 repository</a:t>
            </a:r>
            <a:endParaRPr lang="ko-KR" sz="1450"/>
          </a:p>
          <a:p>
            <a:pPr algn="l">
              <a:lnSpc>
                <a:spcPts val="1885"/>
              </a:lnSpc>
            </a:pPr>
            <a:r>
              <a:rPr lang="ko-KR" sz="1450" b="0">
                <a:solidFill>
                  <a:srgbClr val="142536"/>
                </a:solidFill>
                <a:latin typeface="Arial"/>
                <a:ea typeface="Malgun Gothic"/>
                <a:cs typeface="Arial"/>
              </a:rPr>
              <a:t xml:space="preserve">메서드를 호출합니다. repository는 상태를 바꾸거나 알고리즘에 조회를 부탁합니다. 이를 함수와 클</a:t>
            </a:r>
            <a:endParaRPr lang="ko-KR" sz="1450"/>
          </a:p>
          <a:p>
            <a:pPr algn="l">
              <a:lnSpc>
                <a:spcPts val="1885"/>
              </a:lnSpc>
            </a:pPr>
            <a:r>
              <a:rPr lang="ko-KR" sz="1450" b="0">
                <a:solidFill>
                  <a:srgbClr val="142536"/>
                </a:solidFill>
                <a:latin typeface="Arial"/>
                <a:ea typeface="Malgun Gothic"/>
                <a:cs typeface="Arial"/>
              </a:rPr>
              <a:t xml:space="preserve">래스로 나누는 것은 과제의 필수 제약이기도 합니다. 테스트는 화면을 거치지 않고 알고리즘을 직접</a:t>
            </a:r>
            <a:endParaRPr lang="ko-KR" sz="1450"/>
          </a:p>
          <a:p>
            <a:pPr algn="l">
              <a:lnSpc>
                <a:spcPts val="1885"/>
              </a:lnSpc>
            </a:pPr>
            <a:r>
              <a:rPr lang="ko-KR" sz="1450" b="0">
                <a:solidFill>
                  <a:srgbClr val="142536"/>
                </a:solidFill>
                <a:latin typeface="Arial"/>
                <a:ea typeface="Malgun Gothic"/>
                <a:cs typeface="Arial"/>
              </a:rPr>
              <a:t xml:space="preserve">호출할 수 있습니다.</a:t>
            </a:r>
            <a:endParaRPr lang="ko-KR" sz="1450"/>
          </a:p>
        </p:txBody>
      </p:sp>
      <p:sp>
        <p:nvSpPr>
          <p:cNvPr id="22" name="Text 22"/>
          <p:cNvSpPr txBox="1"/>
          <p:nvPr/>
        </p:nvSpPr>
        <p:spPr>
          <a:xfrm>
            <a:off x="508000" y="6299200"/>
            <a:ext cx="11176000" cy="22860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입출력, 저장소 상태, 알고리즘을 나누면 따로 검증할 수 있습니다.</a:t>
            </a:r>
            <a:endParaRPr lang="ko-KR" sz="1250"/>
          </a:p>
        </p:txBody>
      </p:sp>
      <p:sp>
        <p:nvSpPr>
          <p:cNvPr id="23" name="Text 23"/>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main.py · mini_git/cli.py · repository.py · 평가질문_설명자료.md</a:t>
            </a:r>
            <a:endParaRPr lang="ko-KR" sz="1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커밋 그래프는 왜 DAG인가요?">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EXPLAIN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12 / 26</a:t>
            </a:r>
            <a:endParaRPr lang="ko-KR" sz="1250"/>
          </a:p>
        </p:txBody>
      </p:sp>
      <p:sp>
        <p:nvSpPr>
          <p:cNvPr id="5" name="Text 5"/>
          <p:cNvSpPr txBox="1"/>
          <p:nvPr/>
        </p:nvSpPr>
        <p:spPr>
          <a:xfrm>
            <a:off x="508000" y="793750"/>
            <a:ext cx="11176000" cy="635000"/>
          </a:xfrm>
          <a:prstGeom prst="rect">
            <a:avLst/>
          </a:prstGeom>
          <a:noFill/>
          <a:ln>
            <a:noFill/>
          </a:ln>
        </p:spPr>
        <p:txBody>
          <a:bodyPr wrap="square" lIns="0" tIns="0" rIns="0" bIns="0" anchor="t">
            <a:noAutofit/>
          </a:bodyPr>
          <a:lstStyle/>
          <a:p>
            <a:pPr algn="l">
              <a:lnSpc>
                <a:spcPts val="3900"/>
              </a:lnSpc>
            </a:pPr>
            <a:r>
              <a:rPr lang="ko-KR" sz="3000" b="1">
                <a:solidFill>
                  <a:srgbClr val="142536"/>
                </a:solidFill>
                <a:latin typeface="Arial"/>
                <a:ea typeface="Malgun Gothic"/>
                <a:cs typeface="Arial"/>
              </a:rPr>
              <a:t xml:space="preserve">커밋 그래프는 왜 DAG인가요?</a:t>
            </a:r>
            <a:endParaRPr lang="ko-KR" sz="3000"/>
          </a:p>
        </p:txBody>
      </p:sp>
      <p:sp>
        <p:nvSpPr>
          <p:cNvPr id="6" name="Text 6"/>
          <p:cNvSpPr txBox="1"/>
          <p:nvPr/>
        </p:nvSpPr>
        <p:spPr>
          <a:xfrm>
            <a:off x="571500" y="1492250"/>
            <a:ext cx="3683000" cy="24130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핵심 · 그림 · 실행</a:t>
            </a:r>
            <a:endParaRPr lang="ko-KR" sz="1300"/>
          </a:p>
        </p:txBody>
      </p:sp>
      <p:sp>
        <p:nvSpPr>
          <p:cNvPr id="7" name="Text 7"/>
          <p:cNvSpPr txBox="1"/>
          <p:nvPr/>
        </p:nvSpPr>
        <p:spPr>
          <a:xfrm>
            <a:off x="4508500" y="1492250"/>
            <a:ext cx="7175500" cy="24130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상세 설명 · 코드 · 문답 전체</a:t>
            </a:r>
            <a:endParaRPr lang="ko-KR" sz="1300"/>
          </a:p>
        </p:txBody>
      </p:sp>
      <p:sp>
        <p:nvSpPr>
          <p:cNvPr id="8" name="Shape 8"/>
          <p:cNvSpPr/>
          <p:nvPr/>
        </p:nvSpPr>
        <p:spPr>
          <a:xfrm>
            <a:off x="4349750" y="1778000"/>
            <a:ext cx="12700" cy="4381500"/>
          </a:xfrm>
          <a:prstGeom prst="rect">
            <a:avLst/>
          </a:prstGeom>
          <a:solidFill>
            <a:srgbClr val="D7DFDB"/>
          </a:solidFill>
          <a:ln>
            <a:noFill/>
          </a:ln>
        </p:spPr>
      </p:sp>
      <p:sp>
        <p:nvSpPr>
          <p:cNvPr id="9" name="Shape 9"/>
          <p:cNvSpPr/>
          <p:nvPr/>
        </p:nvSpPr>
        <p:spPr>
          <a:xfrm>
            <a:off x="476250" y="1778000"/>
            <a:ext cx="2968625" cy="2182812"/>
          </a:xfrm>
          <a:prstGeom prst="roundRect">
            <a:avLst/>
          </a:prstGeom>
          <a:solidFill>
            <a:srgbClr val="FFFFFF"/>
          </a:solidFill>
          <a:ln w="12700">
            <a:solidFill>
              <a:srgbClr val="D7DFDB"/>
            </a:solidFill>
          </a:ln>
        </p:spPr>
      </p:sp>
      <p:sp>
        <p:nvSpPr>
          <p:cNvPr id="10" name="Text 10"/>
          <p:cNvSpPr txBox="1"/>
          <p:nvPr/>
        </p:nvSpPr>
        <p:spPr>
          <a:xfrm>
            <a:off x="581025" y="1847850"/>
            <a:ext cx="2724150" cy="209550"/>
          </a:xfrm>
          <a:prstGeom prst="rect">
            <a:avLst/>
          </a:prstGeom>
          <a:noFill/>
          <a:ln>
            <a:noFill/>
          </a:ln>
        </p:spPr>
        <p:txBody>
          <a:bodyPr wrap="square" lIns="0" tIns="0" rIns="0" bIns="0" anchor="t">
            <a:noAutofit/>
          </a:bodyPr>
          <a:lstStyle/>
          <a:p>
            <a:pPr algn="l">
              <a:lnSpc>
                <a:spcPts val="1072"/>
              </a:lnSpc>
            </a:pPr>
            <a:r>
              <a:rPr lang="ko-KR" sz="825" b="1">
                <a:solidFill>
                  <a:srgbClr val="168B82"/>
                </a:solidFill>
                <a:latin typeface="Arial"/>
                <a:ea typeface="Malgun Gothic"/>
                <a:cs typeface="Arial"/>
              </a:rPr>
              <a:t xml:space="preserve">한눈에 이해하기</a:t>
            </a:r>
            <a:endParaRPr lang="ko-KR" sz="825"/>
          </a:p>
        </p:txBody>
      </p:sp>
      <p:sp>
        <p:nvSpPr>
          <p:cNvPr id="11" name="Text 11"/>
          <p:cNvSpPr txBox="1"/>
          <p:nvPr/>
        </p:nvSpPr>
        <p:spPr>
          <a:xfrm>
            <a:off x="615950" y="2109788"/>
            <a:ext cx="2654300" cy="157163"/>
          </a:xfrm>
          <a:prstGeom prst="rect">
            <a:avLst/>
          </a:prstGeom>
          <a:noFill/>
          <a:ln>
            <a:noFill/>
          </a:ln>
        </p:spPr>
        <p:txBody>
          <a:bodyPr wrap="square" lIns="0" tIns="0" rIns="0" bIns="0" anchor="t">
            <a:noAutofit/>
          </a:bodyPr>
          <a:lstStyle/>
          <a:p>
            <a:pPr algn="ctr">
              <a:lnSpc>
                <a:spcPts val="1072"/>
              </a:lnSpc>
            </a:pPr>
            <a:r>
              <a:rPr lang="ko-KR" sz="825" b="0">
                <a:solidFill>
                  <a:srgbClr val="566979"/>
                </a:solidFill>
                <a:latin typeface="Arial"/>
                <a:ea typeface="Malgun Gothic"/>
                <a:cs typeface="Arial"/>
              </a:rPr>
              <a:t xml:space="preserve">생성 순서: A 먼저, 그다음 B와 C</a:t>
            </a:r>
            <a:endParaRPr lang="ko-KR" sz="825"/>
          </a:p>
        </p:txBody>
      </p:sp>
      <p:cxnSp>
        <p:nvCxnSpPr>
          <p:cNvPr id="12" name="Edge 12"/>
          <p:cNvCxnSpPr/>
          <p:nvPr/>
        </p:nvCxnSpPr>
        <p:spPr>
          <a:xfrm flipH="1" flipV="0">
            <a:off x="1489075" y="2441575"/>
            <a:ext cx="681037" cy="471488"/>
          </a:xfrm>
          <a:prstGeom prst="line">
            <a:avLst/>
          </a:prstGeom>
          <a:ln w="31750">
            <a:solidFill>
              <a:srgbClr val="168B82"/>
            </a:solidFill>
            <a:tailEnd type="triangle" w="med" len="med"/>
          </a:ln>
        </p:spPr>
      </p:cxnSp>
      <p:cxnSp>
        <p:nvCxnSpPr>
          <p:cNvPr id="13" name="Edge 13"/>
          <p:cNvCxnSpPr/>
          <p:nvPr/>
        </p:nvCxnSpPr>
        <p:spPr>
          <a:xfrm flipH="1" flipV="1">
            <a:off x="1489075" y="2913062"/>
            <a:ext cx="681037" cy="471488"/>
          </a:xfrm>
          <a:prstGeom prst="line">
            <a:avLst/>
          </a:prstGeom>
          <a:ln w="31750">
            <a:solidFill>
              <a:srgbClr val="168B82"/>
            </a:solidFill>
            <a:tailEnd type="triangle" w="med" len="med"/>
          </a:ln>
        </p:spPr>
      </p:cxnSp>
      <p:sp>
        <p:nvSpPr>
          <p:cNvPr id="14" name="Shape 14"/>
          <p:cNvSpPr/>
          <p:nvPr/>
        </p:nvSpPr>
        <p:spPr>
          <a:xfrm>
            <a:off x="755650" y="2738438"/>
            <a:ext cx="733425" cy="349250"/>
          </a:xfrm>
          <a:prstGeom prst="roundRect">
            <a:avLst/>
          </a:prstGeom>
          <a:solidFill>
            <a:srgbClr val="168B82"/>
          </a:solidFill>
          <a:ln>
            <a:noFill/>
          </a:ln>
        </p:spPr>
      </p:sp>
      <p:sp>
        <p:nvSpPr>
          <p:cNvPr id="15" name="Text 15"/>
          <p:cNvSpPr txBox="1"/>
          <p:nvPr/>
        </p:nvSpPr>
        <p:spPr>
          <a:xfrm>
            <a:off x="790575" y="2815272"/>
            <a:ext cx="663575" cy="258445"/>
          </a:xfrm>
          <a:prstGeom prst="rect">
            <a:avLst/>
          </a:prstGeom>
          <a:noFill/>
          <a:ln>
            <a:noFill/>
          </a:ln>
        </p:spPr>
        <p:txBody>
          <a:bodyPr wrap="square" lIns="0" tIns="0" rIns="0" bIns="0" anchor="t">
            <a:noAutofit/>
          </a:bodyPr>
          <a:lstStyle/>
          <a:p>
            <a:pPr algn="ctr">
              <a:lnSpc>
                <a:spcPts val="1359"/>
              </a:lnSpc>
            </a:pPr>
            <a:r>
              <a:rPr lang="ko-KR" sz="1045" b="1">
                <a:solidFill>
                  <a:srgbClr val="FFFFFF"/>
                </a:solidFill>
                <a:latin typeface="Arial"/>
                <a:ea typeface="Malgun Gothic"/>
                <a:cs typeface="Arial"/>
              </a:rPr>
              <a:t xml:space="preserve">A</a:t>
            </a:r>
            <a:endParaRPr lang="ko-KR" sz="1045"/>
          </a:p>
        </p:txBody>
      </p:sp>
      <p:sp>
        <p:nvSpPr>
          <p:cNvPr id="16" name="Shape 16"/>
          <p:cNvSpPr/>
          <p:nvPr/>
        </p:nvSpPr>
        <p:spPr>
          <a:xfrm>
            <a:off x="2170112" y="2266950"/>
            <a:ext cx="733425" cy="349250"/>
          </a:xfrm>
          <a:prstGeom prst="roundRect">
            <a:avLst/>
          </a:prstGeom>
          <a:solidFill>
            <a:srgbClr val="168B82"/>
          </a:solidFill>
          <a:ln>
            <a:noFill/>
          </a:ln>
        </p:spPr>
      </p:sp>
      <p:sp>
        <p:nvSpPr>
          <p:cNvPr id="17" name="Text 17"/>
          <p:cNvSpPr txBox="1"/>
          <p:nvPr/>
        </p:nvSpPr>
        <p:spPr>
          <a:xfrm>
            <a:off x="2205038" y="2343785"/>
            <a:ext cx="663575" cy="258445"/>
          </a:xfrm>
          <a:prstGeom prst="rect">
            <a:avLst/>
          </a:prstGeom>
          <a:noFill/>
          <a:ln>
            <a:noFill/>
          </a:ln>
        </p:spPr>
        <p:txBody>
          <a:bodyPr wrap="square" lIns="0" tIns="0" rIns="0" bIns="0" anchor="t">
            <a:noAutofit/>
          </a:bodyPr>
          <a:lstStyle/>
          <a:p>
            <a:pPr algn="ctr">
              <a:lnSpc>
                <a:spcPts val="1359"/>
              </a:lnSpc>
            </a:pPr>
            <a:r>
              <a:rPr lang="ko-KR" sz="1045" b="1">
                <a:solidFill>
                  <a:srgbClr val="FFFFFF"/>
                </a:solidFill>
                <a:latin typeface="Arial"/>
                <a:ea typeface="Malgun Gothic"/>
                <a:cs typeface="Arial"/>
              </a:rPr>
              <a:t xml:space="preserve">B</a:t>
            </a:r>
            <a:endParaRPr lang="ko-KR" sz="1045"/>
          </a:p>
        </p:txBody>
      </p:sp>
      <p:sp>
        <p:nvSpPr>
          <p:cNvPr id="18" name="Shape 18"/>
          <p:cNvSpPr/>
          <p:nvPr/>
        </p:nvSpPr>
        <p:spPr>
          <a:xfrm>
            <a:off x="2170112" y="3209925"/>
            <a:ext cx="733425" cy="349250"/>
          </a:xfrm>
          <a:prstGeom prst="roundRect">
            <a:avLst/>
          </a:prstGeom>
          <a:solidFill>
            <a:srgbClr val="168B82"/>
          </a:solidFill>
          <a:ln>
            <a:noFill/>
          </a:ln>
        </p:spPr>
      </p:sp>
      <p:sp>
        <p:nvSpPr>
          <p:cNvPr id="19" name="Text 19"/>
          <p:cNvSpPr txBox="1"/>
          <p:nvPr/>
        </p:nvSpPr>
        <p:spPr>
          <a:xfrm>
            <a:off x="2205038" y="3286760"/>
            <a:ext cx="663575" cy="258445"/>
          </a:xfrm>
          <a:prstGeom prst="rect">
            <a:avLst/>
          </a:prstGeom>
          <a:noFill/>
          <a:ln>
            <a:noFill/>
          </a:ln>
        </p:spPr>
        <p:txBody>
          <a:bodyPr wrap="square" lIns="0" tIns="0" rIns="0" bIns="0" anchor="t">
            <a:noAutofit/>
          </a:bodyPr>
          <a:lstStyle/>
          <a:p>
            <a:pPr algn="ctr">
              <a:lnSpc>
                <a:spcPts val="1359"/>
              </a:lnSpc>
            </a:pPr>
            <a:r>
              <a:rPr lang="ko-KR" sz="1045" b="1">
                <a:solidFill>
                  <a:srgbClr val="FFFFFF"/>
                </a:solidFill>
                <a:latin typeface="Arial"/>
                <a:ea typeface="Malgun Gothic"/>
                <a:cs typeface="Arial"/>
              </a:rPr>
              <a:t xml:space="preserve">C</a:t>
            </a:r>
            <a:endParaRPr lang="ko-KR" sz="1045"/>
          </a:p>
        </p:txBody>
      </p:sp>
      <p:sp>
        <p:nvSpPr>
          <p:cNvPr id="20" name="Text 20"/>
          <p:cNvSpPr txBox="1"/>
          <p:nvPr/>
        </p:nvSpPr>
        <p:spPr>
          <a:xfrm>
            <a:off x="615950" y="3663950"/>
            <a:ext cx="2654300" cy="174625"/>
          </a:xfrm>
          <a:prstGeom prst="rect">
            <a:avLst/>
          </a:prstGeom>
          <a:noFill/>
          <a:ln>
            <a:noFill/>
          </a:ln>
        </p:spPr>
        <p:txBody>
          <a:bodyPr wrap="square" lIns="0" tIns="0" rIns="0" bIns="0" anchor="t">
            <a:noAutofit/>
          </a:bodyPr>
          <a:lstStyle/>
          <a:p>
            <a:pPr algn="ctr">
              <a:lnSpc>
                <a:spcPts val="1072"/>
              </a:lnSpc>
            </a:pPr>
            <a:r>
              <a:rPr lang="ko-KR" sz="825" b="0">
                <a:solidFill>
                  <a:srgbClr val="566979"/>
                </a:solidFill>
                <a:latin typeface="Arial"/>
                <a:ea typeface="Malgun Gothic"/>
                <a:cs typeface="Arial"/>
              </a:rPr>
              <a:t xml:space="preserve">B → A, C → A: 자식에서 부모로</a:t>
            </a:r>
            <a:endParaRPr lang="ko-KR" sz="825"/>
          </a:p>
        </p:txBody>
      </p:sp>
      <p:sp>
        <p:nvSpPr>
          <p:cNvPr id="21" name="Text 21"/>
          <p:cNvSpPr txBox="1"/>
          <p:nvPr/>
        </p:nvSpPr>
        <p:spPr>
          <a:xfrm>
            <a:off x="571500" y="4127500"/>
            <a:ext cx="3683000" cy="19431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DAG란?</a:t>
            </a:r>
            <a:endParaRPr lang="ko-KR" sz="1100"/>
          </a:p>
        </p:txBody>
      </p:sp>
      <p:sp>
        <p:nvSpPr>
          <p:cNvPr id="22" name="Text 22"/>
          <p:cNvSpPr txBox="1"/>
          <p:nvPr/>
        </p:nvSpPr>
        <p:spPr>
          <a:xfrm>
            <a:off x="571500" y="4372610"/>
            <a:ext cx="3683000" cy="375920"/>
          </a:xfrm>
          <a:prstGeom prst="rect">
            <a:avLst/>
          </a:prstGeom>
          <a:noFill/>
          <a:ln>
            <a:noFill/>
          </a:ln>
        </p:spPr>
        <p:txBody>
          <a:bodyPr wrap="square" lIns="0" tIns="0" rIns="0" bIns="0" anchor="t">
            <a:noAutofit/>
          </a:bodyPr>
          <a:lstStyle/>
          <a:p>
            <a:pPr algn="l">
              <a:lnSpc>
                <a:spcPts val="1430"/>
              </a:lnSpc>
            </a:pPr>
            <a:r>
              <a:rPr lang="ko-KR" sz="1100" b="0">
                <a:solidFill>
                  <a:srgbClr val="142536"/>
                </a:solidFill>
                <a:latin typeface="Arial"/>
                <a:ea typeface="Malgun Gothic"/>
                <a:cs typeface="Arial"/>
              </a:rPr>
              <a:t xml:space="preserve">Directed Acyclic Graph 방향성 비순환 그래프 화살표 방향을 따라</a:t>
            </a:r>
            <a:endParaRPr lang="ko-KR" sz="1100"/>
          </a:p>
          <a:p>
            <a:pPr algn="l">
              <a:lnSpc>
                <a:spcPts val="1430"/>
              </a:lnSpc>
            </a:pPr>
            <a:r>
              <a:rPr lang="ko-KR" sz="1100" b="0">
                <a:solidFill>
                  <a:srgbClr val="142536"/>
                </a:solidFill>
                <a:latin typeface="Arial"/>
                <a:ea typeface="Malgun Gothic"/>
                <a:cs typeface="Arial"/>
              </a:rPr>
              <a:t xml:space="preserve">돌아오는 고리가 없음</a:t>
            </a:r>
            <a:endParaRPr lang="ko-KR" sz="1100"/>
          </a:p>
        </p:txBody>
      </p:sp>
      <p:sp>
        <p:nvSpPr>
          <p:cNvPr id="23" name="Text 23"/>
          <p:cNvSpPr txBox="1"/>
          <p:nvPr/>
        </p:nvSpPr>
        <p:spPr>
          <a:xfrm>
            <a:off x="571500" y="4799330"/>
            <a:ext cx="3683000" cy="19431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왜 방향성인가요? — Directed</a:t>
            </a:r>
            <a:endParaRPr lang="ko-KR" sz="1100"/>
          </a:p>
        </p:txBody>
      </p:sp>
      <p:sp>
        <p:nvSpPr>
          <p:cNvPr id="24" name="Text 24"/>
          <p:cNvSpPr txBox="1"/>
          <p:nvPr/>
        </p:nvSpPr>
        <p:spPr>
          <a:xfrm>
            <a:off x="571500" y="5044440"/>
            <a:ext cx="3683000" cy="375920"/>
          </a:xfrm>
          <a:prstGeom prst="rect">
            <a:avLst/>
          </a:prstGeom>
          <a:noFill/>
          <a:ln>
            <a:noFill/>
          </a:ln>
        </p:spPr>
        <p:txBody>
          <a:bodyPr wrap="square" lIns="0" tIns="0" rIns="0" bIns="0" anchor="t">
            <a:noAutofit/>
          </a:bodyPr>
          <a:lstStyle/>
          <a:p>
            <a:pPr algn="l">
              <a:lnSpc>
                <a:spcPts val="1430"/>
              </a:lnSpc>
            </a:pPr>
            <a:r>
              <a:rPr lang="ko-KR" sz="1100" b="0">
                <a:solidFill>
                  <a:srgbClr val="142536"/>
                </a:solidFill>
                <a:latin typeface="Arial"/>
                <a:ea typeface="Malgun Gothic"/>
                <a:cs typeface="Arial"/>
              </a:rPr>
              <a:t xml:space="preserve">노드 = 커밋, 간선 = 부모 참조 자식 → 부모 방향으로 연결 B → A는</a:t>
            </a:r>
            <a:endParaRPr lang="ko-KR" sz="1100"/>
          </a:p>
          <a:p>
            <a:pPr algn="l">
              <a:lnSpc>
                <a:spcPts val="1430"/>
              </a:lnSpc>
            </a:pPr>
            <a:r>
              <a:rPr lang="ko-KR" sz="1100" b="0">
                <a:solidFill>
                  <a:srgbClr val="142536"/>
                </a:solidFill>
                <a:latin typeface="Arial"/>
                <a:ea typeface="Malgun Gothic"/>
                <a:cs typeface="Arial"/>
              </a:rPr>
              <a:t xml:space="preserve">B의 부모가 A라는 뜻</a:t>
            </a:r>
            <a:endParaRPr lang="ko-KR" sz="1100"/>
          </a:p>
        </p:txBody>
      </p:sp>
      <p:sp>
        <p:nvSpPr>
          <p:cNvPr id="25" name="Text 25"/>
          <p:cNvSpPr txBox="1"/>
          <p:nvPr/>
        </p:nvSpPr>
        <p:spPr>
          <a:xfrm>
            <a:off x="571500" y="5471160"/>
            <a:ext cx="3683000" cy="19431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왜 비순환인가요? — Acyclic</a:t>
            </a:r>
            <a:endParaRPr lang="ko-KR" sz="1100"/>
          </a:p>
        </p:txBody>
      </p:sp>
      <p:sp>
        <p:nvSpPr>
          <p:cNvPr id="26" name="Text 26"/>
          <p:cNvSpPr txBox="1"/>
          <p:nvPr/>
        </p:nvSpPr>
        <p:spPr>
          <a:xfrm>
            <a:off x="571500" y="5716270"/>
            <a:ext cx="3683000" cy="375920"/>
          </a:xfrm>
          <a:prstGeom prst="rect">
            <a:avLst/>
          </a:prstGeom>
          <a:noFill/>
          <a:ln>
            <a:noFill/>
          </a:ln>
        </p:spPr>
        <p:txBody>
          <a:bodyPr wrap="square" lIns="0" tIns="0" rIns="0" bIns="0" anchor="t">
            <a:noAutofit/>
          </a:bodyPr>
          <a:lstStyle/>
          <a:p>
            <a:pPr algn="l">
              <a:lnSpc>
                <a:spcPts val="1430"/>
              </a:lnSpc>
            </a:pPr>
            <a:r>
              <a:rPr lang="ko-KR" sz="1100" b="0">
                <a:solidFill>
                  <a:srgbClr val="142536"/>
                </a:solidFill>
                <a:latin typeface="Arial"/>
                <a:ea typeface="Malgun Gothic"/>
                <a:cs typeface="Arial"/>
              </a:rPr>
              <a:t xml:space="preserve">새 커밋은 먼저 만들어진 부모만 참조 기존 커밋의 부모 참조는 유지</a:t>
            </a:r>
            <a:endParaRPr lang="ko-KR" sz="1100"/>
          </a:p>
          <a:p>
            <a:pPr algn="l">
              <a:lnSpc>
                <a:spcPts val="1430"/>
              </a:lnSpc>
            </a:pPr>
            <a:r>
              <a:rPr lang="ko-KR" sz="1100" b="0">
                <a:solidFill>
                  <a:srgbClr val="142536"/>
                </a:solidFill>
                <a:latin typeface="Arial"/>
                <a:ea typeface="Malgun Gothic"/>
                <a:cs typeface="Arial"/>
              </a:rPr>
              <a:t xml:space="preserve">계속 이전으로 가므로 출발점에 못 돌아옴</a:t>
            </a:r>
            <a:endParaRPr lang="ko-KR" sz="1100"/>
          </a:p>
        </p:txBody>
      </p:sp>
      <p:sp>
        <p:nvSpPr>
          <p:cNvPr id="27" name="Text 27"/>
          <p:cNvSpPr txBox="1"/>
          <p:nvPr/>
        </p:nvSpPr>
        <p:spPr>
          <a:xfrm>
            <a:off x="4508500" y="1809750"/>
            <a:ext cx="3498850" cy="169545"/>
          </a:xfrm>
          <a:prstGeom prst="rect">
            <a:avLst/>
          </a:prstGeom>
          <a:noFill/>
          <a:ln>
            <a:noFill/>
          </a:ln>
        </p:spPr>
        <p:txBody>
          <a:bodyPr wrap="square" lIns="0" tIns="0" rIns="0" bIns="0" anchor="t">
            <a:noAutofit/>
          </a:bodyPr>
          <a:lstStyle/>
          <a:p>
            <a:pPr algn="l">
              <a:lnSpc>
                <a:spcPts val="1235"/>
              </a:lnSpc>
            </a:pPr>
            <a:r>
              <a:rPr lang="ko-KR" sz="950" b="0">
                <a:solidFill>
                  <a:srgbClr val="142536"/>
                </a:solidFill>
                <a:latin typeface="Arial"/>
                <a:ea typeface="Malgun Gothic"/>
                <a:cs typeface="Arial"/>
              </a:rPr>
              <a:t xml:space="preserve">아주 쉬운 설명: 커밋 하나는 commit.py의 Commit 클래스로 표현됩니다.</a:t>
            </a:r>
            <a:endParaRPr lang="ko-KR" sz="950"/>
          </a:p>
        </p:txBody>
      </p:sp>
      <p:sp>
        <p:nvSpPr>
          <p:cNvPr id="28" name="Text 28"/>
          <p:cNvSpPr txBox="1"/>
          <p:nvPr/>
        </p:nvSpPr>
        <p:spPr>
          <a:xfrm>
            <a:off x="4508500" y="2030095"/>
            <a:ext cx="3498850" cy="1424305"/>
          </a:xfrm>
          <a:prstGeom prst="rect">
            <a:avLst/>
          </a:prstGeom>
          <a:noFill/>
          <a:ln>
            <a:noFill/>
          </a:ln>
        </p:spPr>
        <p:txBody>
          <a:bodyPr wrap="square" lIns="0" tIns="0" rIns="0" bIns="0" anchor="t">
            <a:noAutofit/>
          </a:bodyPr>
          <a:lstStyle/>
          <a:p>
            <a:pPr algn="l">
              <a:lnSpc>
                <a:spcPts val="1235"/>
              </a:lnSpc>
            </a:pPr>
            <a:r>
              <a:rPr lang="ko-KR" sz="950" b="0">
                <a:solidFill>
                  <a:srgbClr val="142536"/>
                </a:solidFill>
                <a:latin typeface="Menlo"/>
                <a:ea typeface="Malgun Gothic"/>
                <a:cs typeface="Arial"/>
              </a:rPr>
              <a:t xml:space="preserve">class Commit:</a:t>
            </a:r>
            <a:endParaRPr lang="ko-KR" sz="950"/>
          </a:p>
          <a:p>
            <a:pPr algn="l">
              <a:lnSpc>
                <a:spcPts val="1235"/>
              </a:lnSpc>
            </a:pPr>
            <a:r>
              <a:rPr lang="ko-KR" sz="950" b="0">
                <a:solidFill>
                  <a:srgbClr val="142536"/>
                </a:solidFill>
                <a:latin typeface="Menlo"/>
                <a:ea typeface="Malgun Gothic"/>
                <a:cs typeface="Arial"/>
              </a:rPr>
              <a:t xml:space="preserve">    def __init__(self, commit_hash, message, author, timestamp, parents</a:t>
            </a:r>
            <a:endParaRPr lang="ko-KR" sz="950"/>
          </a:p>
          <a:p>
            <a:pPr algn="l">
              <a:lnSpc>
                <a:spcPts val="1235"/>
              </a:lnSpc>
            </a:pPr>
            <a:r>
              <a:rPr lang="ko-KR" sz="950" b="0">
                <a:solidFill>
                  <a:srgbClr val="142536"/>
                </a:solidFill>
                <a:latin typeface="Menlo"/>
                <a:ea typeface="Malgun Gothic"/>
                <a:cs typeface="Arial"/>
              </a:rPr>
              <a:t xml:space="preserve">, branch):</a:t>
            </a:r>
            <a:endParaRPr lang="ko-KR" sz="950"/>
          </a:p>
          <a:p>
            <a:pPr algn="l">
              <a:lnSpc>
                <a:spcPts val="1235"/>
              </a:lnSpc>
            </a:pPr>
            <a:r>
              <a:rPr lang="ko-KR" sz="950" b="0">
                <a:solidFill>
                  <a:srgbClr val="142536"/>
                </a:solidFill>
                <a:latin typeface="Menlo"/>
                <a:ea typeface="Malgun Gothic"/>
                <a:cs typeface="Arial"/>
              </a:rPr>
              <a:t xml:space="preserve">        self.hash = commit_hash</a:t>
            </a:r>
            <a:endParaRPr lang="ko-KR" sz="950"/>
          </a:p>
          <a:p>
            <a:pPr algn="l">
              <a:lnSpc>
                <a:spcPts val="1235"/>
              </a:lnSpc>
            </a:pPr>
            <a:r>
              <a:rPr lang="ko-KR" sz="950" b="0">
                <a:solidFill>
                  <a:srgbClr val="142536"/>
                </a:solidFill>
                <a:latin typeface="Menlo"/>
                <a:ea typeface="Malgun Gothic"/>
                <a:cs typeface="Arial"/>
              </a:rPr>
              <a:t xml:space="preserve">        self.message = message</a:t>
            </a:r>
            <a:endParaRPr lang="ko-KR" sz="950"/>
          </a:p>
          <a:p>
            <a:pPr algn="l">
              <a:lnSpc>
                <a:spcPts val="1235"/>
              </a:lnSpc>
            </a:pPr>
            <a:r>
              <a:rPr lang="ko-KR" sz="950" b="0">
                <a:solidFill>
                  <a:srgbClr val="142536"/>
                </a:solidFill>
                <a:latin typeface="Menlo"/>
                <a:ea typeface="Malgun Gothic"/>
                <a:cs typeface="Arial"/>
              </a:rPr>
              <a:t xml:space="preserve">        self.author = author</a:t>
            </a:r>
            <a:endParaRPr lang="ko-KR" sz="950"/>
          </a:p>
          <a:p>
            <a:pPr algn="l">
              <a:lnSpc>
                <a:spcPts val="1235"/>
              </a:lnSpc>
            </a:pPr>
            <a:r>
              <a:rPr lang="ko-KR" sz="950" b="0">
                <a:solidFill>
                  <a:srgbClr val="142536"/>
                </a:solidFill>
                <a:latin typeface="Menlo"/>
                <a:ea typeface="Malgun Gothic"/>
                <a:cs typeface="Arial"/>
              </a:rPr>
              <a:t xml:space="preserve">        self.timestamp = timestamp</a:t>
            </a:r>
            <a:endParaRPr lang="ko-KR" sz="950"/>
          </a:p>
          <a:p>
            <a:pPr algn="l">
              <a:lnSpc>
                <a:spcPts val="1235"/>
              </a:lnSpc>
            </a:pPr>
            <a:r>
              <a:rPr lang="ko-KR" sz="950" b="0">
                <a:solidFill>
                  <a:srgbClr val="142536"/>
                </a:solidFill>
                <a:latin typeface="Menlo"/>
                <a:ea typeface="Malgun Gothic"/>
                <a:cs typeface="Arial"/>
              </a:rPr>
              <a:t xml:space="preserve">        self.parents = list(parents)  # 0개, 1개, 또는 2개(병합) 부모 hash</a:t>
            </a:r>
            <a:endParaRPr lang="ko-KR" sz="950"/>
          </a:p>
          <a:p>
            <a:pPr algn="l">
              <a:lnSpc>
                <a:spcPts val="1235"/>
              </a:lnSpc>
            </a:pPr>
            <a:r>
              <a:rPr lang="ko-KR" sz="950" b="0">
                <a:solidFill>
                  <a:srgbClr val="142536"/>
                </a:solidFill>
                <a:latin typeface="Menlo"/>
                <a:ea typeface="Malgun Gothic"/>
                <a:cs typeface="Arial"/>
              </a:rPr>
              <a:t xml:space="preserve">        self.branch = branch</a:t>
            </a:r>
            <a:endParaRPr lang="ko-KR" sz="950"/>
          </a:p>
        </p:txBody>
      </p:sp>
      <p:sp>
        <p:nvSpPr>
          <p:cNvPr id="29" name="Text 29"/>
          <p:cNvSpPr txBox="1"/>
          <p:nvPr/>
        </p:nvSpPr>
        <p:spPr>
          <a:xfrm>
            <a:off x="4508500" y="3505200"/>
            <a:ext cx="3498850" cy="483235"/>
          </a:xfrm>
          <a:prstGeom prst="rect">
            <a:avLst/>
          </a:prstGeom>
          <a:noFill/>
          <a:ln>
            <a:noFill/>
          </a:ln>
        </p:spPr>
        <p:txBody>
          <a:bodyPr wrap="square" lIns="0" tIns="0" rIns="0" bIns="0" anchor="t">
            <a:noAutofit/>
          </a:bodyPr>
          <a:lstStyle/>
          <a:p>
            <a:pPr algn="l">
              <a:lnSpc>
                <a:spcPts val="1235"/>
              </a:lnSpc>
            </a:pPr>
            <a:r>
              <a:rPr lang="ko-KR" sz="950" b="0">
                <a:solidFill>
                  <a:srgbClr val="142536"/>
                </a:solidFill>
                <a:latin typeface="Arial"/>
                <a:ea typeface="Malgun Gothic"/>
                <a:cs typeface="Arial"/>
              </a:rPr>
              <a:t xml:space="preserve">각 커밋은 parents로 "자신보다 먼저 존재했던" 커밋(들)만 가리킵니다. 이 참</a:t>
            </a:r>
            <a:endParaRPr lang="ko-KR" sz="950"/>
          </a:p>
          <a:p>
            <a:pPr algn="l">
              <a:lnSpc>
                <a:spcPts val="1235"/>
              </a:lnSpc>
            </a:pPr>
            <a:r>
              <a:rPr lang="ko-KR" sz="950" b="0">
                <a:solidFill>
                  <a:srgbClr val="142536"/>
                </a:solidFill>
                <a:latin typeface="Arial"/>
                <a:ea typeface="Malgun Gothic"/>
                <a:cs typeface="Arial"/>
              </a:rPr>
              <a:t xml:space="preserve">조들을 전부 모으면, 커밋을 노드로 하고 "자식 → 부모" 참조를 간선으로 하는</a:t>
            </a:r>
            <a:endParaRPr lang="ko-KR" sz="950"/>
          </a:p>
          <a:p>
            <a:pPr algn="l">
              <a:lnSpc>
                <a:spcPts val="1235"/>
              </a:lnSpc>
            </a:pPr>
            <a:r>
              <a:rPr lang="ko-KR" sz="950" b="0">
                <a:solidFill>
                  <a:srgbClr val="142536"/>
                </a:solidFill>
                <a:latin typeface="Arial"/>
                <a:ea typeface="Malgun Gothic"/>
                <a:cs typeface="Arial"/>
              </a:rPr>
              <a:t xml:space="preserve">그래프가 만들어집니다.</a:t>
            </a:r>
            <a:endParaRPr lang="ko-KR" sz="950"/>
          </a:p>
        </p:txBody>
      </p:sp>
      <p:sp>
        <p:nvSpPr>
          <p:cNvPr id="30" name="Text 30"/>
          <p:cNvSpPr txBox="1"/>
          <p:nvPr/>
        </p:nvSpPr>
        <p:spPr>
          <a:xfrm>
            <a:off x="4508500" y="4039235"/>
            <a:ext cx="3498850" cy="640080"/>
          </a:xfrm>
          <a:prstGeom prst="rect">
            <a:avLst/>
          </a:prstGeom>
          <a:noFill/>
          <a:ln>
            <a:noFill/>
          </a:ln>
        </p:spPr>
        <p:txBody>
          <a:bodyPr wrap="square" lIns="0" tIns="0" rIns="0" bIns="0" anchor="t">
            <a:noAutofit/>
          </a:bodyPr>
          <a:lstStyle/>
          <a:p>
            <a:pPr algn="l">
              <a:lnSpc>
                <a:spcPts val="1235"/>
              </a:lnSpc>
            </a:pPr>
            <a:r>
              <a:rPr lang="ko-KR" sz="950" b="0">
                <a:solidFill>
                  <a:srgbClr val="142536"/>
                </a:solidFill>
                <a:latin typeface="Arial"/>
                <a:ea typeface="Malgun Gothic"/>
                <a:cs typeface="Arial"/>
              </a:rPr>
              <a:t xml:space="preserve">왜 방향성(Directed)인가: parents 참조는 항상 "과거"만 가리킵니다. 커밋 B</a:t>
            </a:r>
            <a:endParaRPr lang="ko-KR" sz="950"/>
          </a:p>
          <a:p>
            <a:pPr algn="l">
              <a:lnSpc>
                <a:spcPts val="1235"/>
              </a:lnSpc>
            </a:pPr>
            <a:r>
              <a:rPr lang="ko-KR" sz="950" b="0">
                <a:solidFill>
                  <a:srgbClr val="142536"/>
                </a:solidFill>
                <a:latin typeface="Arial"/>
                <a:ea typeface="Malgun Gothic"/>
                <a:cs typeface="Arial"/>
              </a:rPr>
              <a:t xml:space="preserve">가 커밋 A를 부모로 가진다는 것은 "B가 A보다 나중 에 만들어졌다"는 뜻이고</a:t>
            </a:r>
            <a:endParaRPr lang="ko-KR" sz="950"/>
          </a:p>
          <a:p>
            <a:pPr algn="l">
              <a:lnSpc>
                <a:spcPts val="1235"/>
              </a:lnSpc>
            </a:pPr>
            <a:r>
              <a:rPr lang="ko-KR" sz="950" b="0">
                <a:solidFill>
                  <a:srgbClr val="142536"/>
                </a:solidFill>
                <a:latin typeface="Arial"/>
                <a:ea typeface="Malgun Gothic"/>
                <a:cs typeface="Arial"/>
              </a:rPr>
              <a:t xml:space="preserve">, 이 관계는 절대 뒤집힐 수 없습니다(A가 B의 부모이면서 동시에 B가 A의 부</a:t>
            </a:r>
            <a:endParaRPr lang="ko-KR" sz="950"/>
          </a:p>
          <a:p>
            <a:pPr algn="l">
              <a:lnSpc>
                <a:spcPts val="1235"/>
              </a:lnSpc>
            </a:pPr>
            <a:r>
              <a:rPr lang="ko-KR" sz="950" b="0">
                <a:solidFill>
                  <a:srgbClr val="142536"/>
                </a:solidFill>
                <a:latin typeface="Arial"/>
                <a:ea typeface="Malgun Gothic"/>
                <a:cs typeface="Arial"/>
              </a:rPr>
              <a:t xml:space="preserve">모일 수 없음). 그래서 간선 에 방향이 있습니다.</a:t>
            </a:r>
            <a:endParaRPr lang="ko-KR" sz="950"/>
          </a:p>
        </p:txBody>
      </p:sp>
      <p:sp>
        <p:nvSpPr>
          <p:cNvPr id="31" name="Text 31"/>
          <p:cNvSpPr txBox="1"/>
          <p:nvPr/>
        </p:nvSpPr>
        <p:spPr>
          <a:xfrm>
            <a:off x="4508500" y="4730115"/>
            <a:ext cx="3498850" cy="796925"/>
          </a:xfrm>
          <a:prstGeom prst="rect">
            <a:avLst/>
          </a:prstGeom>
          <a:noFill/>
          <a:ln>
            <a:noFill/>
          </a:ln>
        </p:spPr>
        <p:txBody>
          <a:bodyPr wrap="square" lIns="0" tIns="0" rIns="0" bIns="0" anchor="t">
            <a:noAutofit/>
          </a:bodyPr>
          <a:lstStyle/>
          <a:p>
            <a:pPr algn="l">
              <a:lnSpc>
                <a:spcPts val="1235"/>
              </a:lnSpc>
            </a:pPr>
            <a:r>
              <a:rPr lang="ko-KR" sz="950" b="0">
                <a:solidFill>
                  <a:srgbClr val="142536"/>
                </a:solidFill>
                <a:latin typeface="Arial"/>
                <a:ea typeface="Malgun Gothic"/>
                <a:cs typeface="Arial"/>
              </a:rPr>
              <a:t xml:space="preserve">왜 비순환(Acyclic)인가: 순환이 있으려면 "A → B → C → A"처럼 자기 자신에</a:t>
            </a:r>
            <a:endParaRPr lang="ko-KR" sz="950"/>
          </a:p>
          <a:p>
            <a:pPr algn="l">
              <a:lnSpc>
                <a:spcPts val="1235"/>
              </a:lnSpc>
            </a:pPr>
            <a:r>
              <a:rPr lang="ko-KR" sz="950" b="0">
                <a:solidFill>
                  <a:srgbClr val="142536"/>
                </a:solidFill>
                <a:latin typeface="Arial"/>
                <a:ea typeface="Malgun Gothic"/>
                <a:cs typeface="Arial"/>
              </a:rPr>
              <a:t xml:space="preserve">게 돌아오는 경로가 있어야 하는데, 이는 "A가 자기 자신보다 나중에 만들어</a:t>
            </a:r>
            <a:endParaRPr lang="ko-KR" sz="950"/>
          </a:p>
          <a:p>
            <a:pPr algn="l">
              <a:lnSpc>
                <a:spcPts val="1235"/>
              </a:lnSpc>
            </a:pPr>
            <a:r>
              <a:rPr lang="ko-KR" sz="950" b="0">
                <a:solidFill>
                  <a:srgbClr val="142536"/>
                </a:solidFill>
                <a:latin typeface="Arial"/>
                <a:ea typeface="Malgun Gothic"/>
                <a:cs typeface="Arial"/>
              </a:rPr>
              <a:t xml:space="preserve">졌다"는 모순을 뜻합니다. COMMIT 명령이 항상 "현재 시점의 HEAD를 부모</a:t>
            </a:r>
            <a:endParaRPr lang="ko-KR" sz="950"/>
          </a:p>
          <a:p>
            <a:pPr algn="l">
              <a:lnSpc>
                <a:spcPts val="1235"/>
              </a:lnSpc>
            </a:pPr>
            <a:r>
              <a:rPr lang="ko-KR" sz="950" b="0">
                <a:solidFill>
                  <a:srgbClr val="142536"/>
                </a:solidFill>
                <a:latin typeface="Arial"/>
                <a:ea typeface="Malgun Gothic"/>
                <a:cs typeface="Arial"/>
              </a:rPr>
              <a:t xml:space="preserve">로 하는 새 커밋"만 만들 수 있게 되어 있어서(repository.commit()), 구조적</a:t>
            </a:r>
            <a:endParaRPr lang="ko-KR" sz="950"/>
          </a:p>
          <a:p>
            <a:pPr algn="l">
              <a:lnSpc>
                <a:spcPts val="1235"/>
              </a:lnSpc>
            </a:pPr>
            <a:r>
              <a:rPr lang="ko-KR" sz="950" b="0">
                <a:solidFill>
                  <a:srgbClr val="142536"/>
                </a:solidFill>
                <a:latin typeface="Arial"/>
                <a:ea typeface="Malgun Gothic"/>
                <a:cs typeface="Arial"/>
              </a:rPr>
              <a:t xml:space="preserve">으로 이미 존재하는 커밋을 미래의 부모로 되돌릴 방법이 없습니다.</a:t>
            </a:r>
            <a:endParaRPr lang="ko-KR" sz="950"/>
          </a:p>
        </p:txBody>
      </p:sp>
      <p:sp>
        <p:nvSpPr>
          <p:cNvPr id="32" name="Text 32"/>
          <p:cNvSpPr txBox="1"/>
          <p:nvPr/>
        </p:nvSpPr>
        <p:spPr>
          <a:xfrm>
            <a:off x="4508500" y="5577840"/>
            <a:ext cx="3498850" cy="483235"/>
          </a:xfrm>
          <a:prstGeom prst="rect">
            <a:avLst/>
          </a:prstGeom>
          <a:noFill/>
          <a:ln>
            <a:noFill/>
          </a:ln>
        </p:spPr>
        <p:txBody>
          <a:bodyPr wrap="square" lIns="0" tIns="0" rIns="0" bIns="0" anchor="t">
            <a:noAutofit/>
          </a:bodyPr>
          <a:lstStyle/>
          <a:p>
            <a:pPr algn="l">
              <a:lnSpc>
                <a:spcPts val="1235"/>
              </a:lnSpc>
            </a:pPr>
            <a:r>
              <a:rPr lang="ko-KR" sz="950" b="0">
                <a:solidFill>
                  <a:srgbClr val="142536"/>
                </a:solidFill>
                <a:latin typeface="Arial"/>
                <a:ea typeface="Malgun Gothic"/>
                <a:cs typeface="Arial"/>
              </a:rPr>
              <a:t xml:space="preserve">방향이 있으면서 사이클이 없는 그래프 = DAG(Directed Acyclic Graph)이</a:t>
            </a:r>
            <a:endParaRPr lang="ko-KR" sz="950"/>
          </a:p>
          <a:p>
            <a:pPr algn="l">
              <a:lnSpc>
                <a:spcPts val="1235"/>
              </a:lnSpc>
            </a:pPr>
            <a:r>
              <a:rPr lang="ko-KR" sz="950" b="0">
                <a:solidFill>
                  <a:srgbClr val="142536"/>
                </a:solidFill>
                <a:latin typeface="Arial"/>
                <a:ea typeface="Malgun Gothic"/>
                <a:cs typeface="Arial"/>
              </a:rPr>
              <a:t xml:space="preserve">고, 병합 커밋으로 부모가 2개가 되어도(브랜치 두 개 가 합쳐져도) 이 두 성질</a:t>
            </a:r>
            <a:endParaRPr lang="ko-KR" sz="950"/>
          </a:p>
          <a:p>
            <a:pPr algn="l">
              <a:lnSpc>
                <a:spcPts val="1235"/>
              </a:lnSpc>
            </a:pPr>
            <a:r>
              <a:rPr lang="ko-KR" sz="950" b="0">
                <a:solidFill>
                  <a:srgbClr val="142536"/>
                </a:solidFill>
                <a:latin typeface="Arial"/>
                <a:ea typeface="Malgun Gothic"/>
                <a:cs typeface="Arial"/>
              </a:rPr>
              <a:t xml:space="preserve">은 그대로 유지됩니다.</a:t>
            </a:r>
            <a:endParaRPr lang="ko-KR" sz="950"/>
          </a:p>
        </p:txBody>
      </p:sp>
      <p:sp>
        <p:nvSpPr>
          <p:cNvPr id="33" name="Text 33"/>
          <p:cNvSpPr txBox="1"/>
          <p:nvPr/>
        </p:nvSpPr>
        <p:spPr>
          <a:xfrm>
            <a:off x="8185150" y="1809750"/>
            <a:ext cx="3498850" cy="169545"/>
          </a:xfrm>
          <a:prstGeom prst="rect">
            <a:avLst/>
          </a:prstGeom>
          <a:noFill/>
          <a:ln>
            <a:noFill/>
          </a:ln>
        </p:spPr>
        <p:txBody>
          <a:bodyPr wrap="square" lIns="0" tIns="0" rIns="0" bIns="0" anchor="t">
            <a:noAutofit/>
          </a:bodyPr>
          <a:lstStyle/>
          <a:p>
            <a:pPr algn="l">
              <a:lnSpc>
                <a:spcPts val="1235"/>
              </a:lnSpc>
            </a:pPr>
            <a:r>
              <a:rPr lang="ko-KR" sz="950" b="1">
                <a:solidFill>
                  <a:srgbClr val="168B82"/>
                </a:solidFill>
                <a:latin typeface="Arial"/>
                <a:ea typeface="Malgun Gothic"/>
                <a:cs typeface="Arial"/>
              </a:rPr>
              <a:t xml:space="preserve">Q1. 병합 커밋(부모 2개)이 생기면 DAG 성질이 깨지지 않는가?</a:t>
            </a:r>
            <a:endParaRPr lang="ko-KR" sz="950"/>
          </a:p>
        </p:txBody>
      </p:sp>
      <p:sp>
        <p:nvSpPr>
          <p:cNvPr id="34" name="Text 34"/>
          <p:cNvSpPr txBox="1"/>
          <p:nvPr/>
        </p:nvSpPr>
        <p:spPr>
          <a:xfrm>
            <a:off x="8185150" y="2030095"/>
            <a:ext cx="3498850" cy="953770"/>
          </a:xfrm>
          <a:prstGeom prst="rect">
            <a:avLst/>
          </a:prstGeom>
          <a:noFill/>
          <a:ln>
            <a:noFill/>
          </a:ln>
        </p:spPr>
        <p:txBody>
          <a:bodyPr wrap="square" lIns="0" tIns="0" rIns="0" bIns="0" anchor="t">
            <a:noAutofit/>
          </a:bodyPr>
          <a:lstStyle/>
          <a:p>
            <a:pPr algn="l">
              <a:lnSpc>
                <a:spcPts val="1235"/>
              </a:lnSpc>
            </a:pPr>
            <a:r>
              <a:rPr lang="ko-KR" sz="950" b="0">
                <a:solidFill>
                  <a:srgbClr val="142536"/>
                </a:solidFill>
                <a:latin typeface="Arial"/>
                <a:ea typeface="Malgun Gothic"/>
                <a:cs typeface="Arial"/>
              </a:rPr>
              <a:t xml:space="preserve">깨지지 않습니다. 부모가 1개든 2개든, "자식이 부모보다 나중에 만들어졌다"</a:t>
            </a:r>
            <a:endParaRPr lang="ko-KR" sz="950"/>
          </a:p>
          <a:p>
            <a:pPr algn="l">
              <a:lnSpc>
                <a:spcPts val="1235"/>
              </a:lnSpc>
            </a:pPr>
            <a:r>
              <a:rPr lang="ko-KR" sz="950" b="0">
                <a:solidFill>
                  <a:srgbClr val="142536"/>
                </a:solidFill>
                <a:latin typeface="Arial"/>
                <a:ea typeface="Malgun Gothic"/>
                <a:cs typeface="Arial"/>
              </a:rPr>
              <a:t xml:space="preserve">는 방향성과 "자기 자신으로 돌아오는 경로가 없다" 는 비순환성은 그대로 유</a:t>
            </a:r>
            <a:endParaRPr lang="ko-KR" sz="950"/>
          </a:p>
          <a:p>
            <a:pPr algn="l">
              <a:lnSpc>
                <a:spcPts val="1235"/>
              </a:lnSpc>
            </a:pPr>
            <a:r>
              <a:rPr lang="ko-KR" sz="950" b="0">
                <a:solidFill>
                  <a:srgbClr val="142536"/>
                </a:solidFill>
                <a:latin typeface="Arial"/>
                <a:ea typeface="Malgun Gothic"/>
                <a:cs typeface="Arial"/>
              </a:rPr>
              <a:t xml:space="preserve">지됩니다. traversal.py의 세 함수(위상 정렬/최단 경로/조상) 모두 commit.p</a:t>
            </a:r>
            <a:endParaRPr lang="ko-KR" sz="950"/>
          </a:p>
          <a:p>
            <a:pPr algn="l">
              <a:lnSpc>
                <a:spcPts val="1235"/>
              </a:lnSpc>
            </a:pPr>
            <a:r>
              <a:rPr lang="ko-KR" sz="950" b="0">
                <a:solidFill>
                  <a:srgbClr val="142536"/>
                </a:solidFill>
                <a:latin typeface="Arial"/>
                <a:ea typeface="Malgun Gothic"/>
                <a:cs typeface="Arial"/>
              </a:rPr>
              <a:t xml:space="preserve">arents의 길이를 가정하지 않고 일반적으로 순회하도록 작성해서, 병합 커밋</a:t>
            </a:r>
            <a:endParaRPr lang="ko-KR" sz="950"/>
          </a:p>
          <a:p>
            <a:pPr algn="l">
              <a:lnSpc>
                <a:spcPts val="1235"/>
              </a:lnSpc>
            </a:pPr>
            <a:r>
              <a:rPr lang="ko-KR" sz="950" b="0">
                <a:solidFill>
                  <a:srgbClr val="142536"/>
                </a:solidFill>
                <a:latin typeface="Arial"/>
                <a:ea typeface="Malgun Gothic"/>
                <a:cs typeface="Arial"/>
              </a:rPr>
              <a:t xml:space="preserve">이 있어도 코드 수정 없이 그대로 동작합니다(단위 테스트에서 다이아몬드형</a:t>
            </a:r>
            <a:endParaRPr lang="ko-KR" sz="950"/>
          </a:p>
          <a:p>
            <a:pPr algn="l">
              <a:lnSpc>
                <a:spcPts val="1235"/>
              </a:lnSpc>
            </a:pPr>
            <a:r>
              <a:rPr lang="ko-KR" sz="950" b="0">
                <a:solidFill>
                  <a:srgbClr val="142536"/>
                </a:solidFill>
                <a:latin typeface="Arial"/>
                <a:ea typeface="Malgun Gothic"/>
                <a:cs typeface="Arial"/>
              </a:rPr>
              <a:t xml:space="preserve">그 래프로 이미 검증).</a:t>
            </a:r>
            <a:endParaRPr lang="ko-KR" sz="950"/>
          </a:p>
        </p:txBody>
      </p:sp>
      <p:sp>
        <p:nvSpPr>
          <p:cNvPr id="35" name="Text 35"/>
          <p:cNvSpPr txBox="1"/>
          <p:nvPr/>
        </p:nvSpPr>
        <p:spPr>
          <a:xfrm>
            <a:off x="8185150" y="3034665"/>
            <a:ext cx="3498850" cy="2992755"/>
          </a:xfrm>
          <a:prstGeom prst="rect">
            <a:avLst/>
          </a:prstGeom>
          <a:noFill/>
          <a:ln>
            <a:noFill/>
          </a:ln>
        </p:spPr>
        <p:txBody>
          <a:bodyPr wrap="square" lIns="0" tIns="0" rIns="0" bIns="0" anchor="t">
            <a:noAutofit/>
          </a:bodyPr>
          <a:lstStyle/>
          <a:p>
            <a:pPr algn="l">
              <a:lnSpc>
                <a:spcPts val="1235"/>
              </a:lnSpc>
            </a:pPr>
            <a:r>
              <a:rPr lang="ko-KR" sz="950" b="0">
                <a:solidFill>
                  <a:srgbClr val="142536"/>
                </a:solidFill>
                <a:latin typeface="Arial"/>
                <a:ea typeface="Malgun Gothic"/>
                <a:cs typeface="Arial"/>
              </a:rPr>
              <a:t xml:space="preserve">평가 답변: DAG는 Directed Acyclic Graph의 약자로, 방향성 비순환 그래프</a:t>
            </a:r>
            <a:endParaRPr lang="ko-KR" sz="950"/>
          </a:p>
          <a:p>
            <a:pPr algn="l">
              <a:lnSpc>
                <a:spcPts val="1235"/>
              </a:lnSpc>
            </a:pPr>
            <a:r>
              <a:rPr lang="ko-KR" sz="950" b="0">
                <a:solidFill>
                  <a:srgbClr val="142536"/>
                </a:solidFill>
                <a:latin typeface="Arial"/>
                <a:ea typeface="Malgun Gothic"/>
                <a:cs typeface="Arial"/>
              </a:rPr>
              <a:t xml:space="preserve">입니다. 커밋 하나가 노드이고, 자식 커밋에서 부모 커밋으로 향하는 참조가</a:t>
            </a:r>
            <a:endParaRPr lang="ko-KR" sz="950"/>
          </a:p>
          <a:p>
            <a:pPr algn="l">
              <a:lnSpc>
                <a:spcPts val="1235"/>
              </a:lnSpc>
            </a:pPr>
            <a:r>
              <a:rPr lang="ko-KR" sz="950" b="0">
                <a:solidFill>
                  <a:srgbClr val="142536"/>
                </a:solidFill>
                <a:latin typeface="Arial"/>
                <a:ea typeface="Malgun Gothic"/>
                <a:cs typeface="Arial"/>
              </a:rPr>
              <a:t xml:space="preserve">간선이므로 방향성이 있습니다. 새 커밋은 이미 만들어진 커밋만 부모로 참조</a:t>
            </a:r>
            <a:endParaRPr lang="ko-KR" sz="950"/>
          </a:p>
          <a:p>
            <a:pPr algn="l">
              <a:lnSpc>
                <a:spcPts val="1235"/>
              </a:lnSpc>
            </a:pPr>
            <a:r>
              <a:rPr lang="ko-KR" sz="950" b="0">
                <a:solidFill>
                  <a:srgbClr val="142536"/>
                </a:solidFill>
                <a:latin typeface="Arial"/>
                <a:ea typeface="Malgun Gothic"/>
                <a:cs typeface="Arial"/>
              </a:rPr>
              <a:t xml:space="preserve">하며, 기존 커밋의 부모 참조는 바꾸지 않습니다. 따라서 부모를 한 번 따라갈</a:t>
            </a:r>
            <a:endParaRPr lang="ko-KR" sz="950"/>
          </a:p>
          <a:p>
            <a:pPr algn="l">
              <a:lnSpc>
                <a:spcPts val="1235"/>
              </a:lnSpc>
            </a:pPr>
            <a:r>
              <a:rPr lang="ko-KR" sz="950" b="0">
                <a:solidFill>
                  <a:srgbClr val="142536"/>
                </a:solidFill>
                <a:latin typeface="Arial"/>
                <a:ea typeface="Malgun Gothic"/>
                <a:cs typeface="Arial"/>
              </a:rPr>
              <a:t xml:space="preserve">때마다 생성 순서가 반드시 더 이전으로 갑니다. 더 이전으로만 이동해서는 출</a:t>
            </a:r>
            <a:endParaRPr lang="ko-KR" sz="950"/>
          </a:p>
          <a:p>
            <a:pPr algn="l">
              <a:lnSpc>
                <a:spcPts val="1235"/>
              </a:lnSpc>
            </a:pPr>
            <a:r>
              <a:rPr lang="ko-KR" sz="950" b="0">
                <a:solidFill>
                  <a:srgbClr val="142536"/>
                </a:solidFill>
                <a:latin typeface="Arial"/>
                <a:ea typeface="Malgun Gothic"/>
                <a:cs typeface="Arial"/>
              </a:rPr>
              <a:t xml:space="preserve">발 커밋으로 돌아올 수 없으므로 순환이 없습니다. 이 두 조건을 만족하여 커</a:t>
            </a:r>
            <a:endParaRPr lang="ko-KR" sz="950"/>
          </a:p>
          <a:p>
            <a:pPr algn="l">
              <a:lnSpc>
                <a:spcPts val="1235"/>
              </a:lnSpc>
            </a:pPr>
            <a:r>
              <a:rPr lang="ko-KR" sz="950" b="0">
                <a:solidFill>
                  <a:srgbClr val="142536"/>
                </a:solidFill>
                <a:latin typeface="Arial"/>
                <a:ea typeface="Malgun Gothic"/>
                <a:cs typeface="Arial"/>
              </a:rPr>
              <a:t xml:space="preserve">밋 그래프는 DAG입니다. 그림 설명: A를 먼저 만들고, A를 부모로 하는 B와</a:t>
            </a:r>
            <a:endParaRPr lang="ko-KR" sz="950"/>
          </a:p>
          <a:p>
            <a:pPr algn="l">
              <a:lnSpc>
                <a:spcPts val="1235"/>
              </a:lnSpc>
            </a:pPr>
            <a:r>
              <a:rPr lang="ko-KR" sz="950" b="0">
                <a:solidFill>
                  <a:srgbClr val="142536"/>
                </a:solidFill>
                <a:latin typeface="Arial"/>
                <a:ea typeface="Malgun Gothic"/>
                <a:cs typeface="Arial"/>
              </a:rPr>
              <a:t xml:space="preserve">C를 만듭니다. B → A와 C → A는 가능하지만 A가 나중에 생긴 B나 C를 부모</a:t>
            </a:r>
            <a:endParaRPr lang="ko-KR" sz="950"/>
          </a:p>
          <a:p>
            <a:pPr algn="l">
              <a:lnSpc>
                <a:spcPts val="1235"/>
              </a:lnSpc>
            </a:pPr>
            <a:r>
              <a:rPr lang="ko-KR" sz="950" b="0">
                <a:solidFill>
                  <a:srgbClr val="142536"/>
                </a:solidFill>
                <a:latin typeface="Arial"/>
                <a:ea typeface="Malgun Gothic"/>
                <a:cs typeface="Arial"/>
              </a:rPr>
              <a:t xml:space="preserve">로 참조하지는 않습니다. B → A → B처럼 화살표를 따라 출발점으로 돌아오는</a:t>
            </a:r>
            <a:endParaRPr lang="ko-KR" sz="950"/>
          </a:p>
          <a:p>
            <a:pPr algn="l">
              <a:lnSpc>
                <a:spcPts val="1235"/>
              </a:lnSpc>
            </a:pPr>
            <a:r>
              <a:rPr lang="ko-KR" sz="950" b="0">
                <a:solidFill>
                  <a:srgbClr val="142536"/>
                </a:solidFill>
                <a:latin typeface="Arial"/>
                <a:ea typeface="Malgun Gothic"/>
                <a:cs typeface="Arial"/>
              </a:rPr>
              <a:t xml:space="preserve">경로가 있으면 순환이며 DAG가 아닙니다. 주의: 여기서 이전은 timestamp</a:t>
            </a:r>
            <a:endParaRPr lang="ko-KR" sz="950"/>
          </a:p>
          <a:p>
            <a:pPr algn="l">
              <a:lnSpc>
                <a:spcPts val="1235"/>
              </a:lnSpc>
            </a:pPr>
            <a:r>
              <a:rPr lang="ko-KR" sz="950" b="0">
                <a:solidFill>
                  <a:srgbClr val="142536"/>
                </a:solidFill>
                <a:latin typeface="Arial"/>
                <a:ea typeface="Malgun Gothic"/>
                <a:cs typeface="Arial"/>
              </a:rPr>
              <a:t xml:space="preserve">값이 아니라 생성 순서를 뜻합니다. PC 시계가 바뀌어도 부모는 생성 당시 존</a:t>
            </a:r>
            <a:endParaRPr lang="ko-KR" sz="950"/>
          </a:p>
          <a:p>
            <a:pPr algn="l">
              <a:lnSpc>
                <a:spcPts val="1235"/>
              </a:lnSpc>
            </a:pPr>
            <a:r>
              <a:rPr lang="ko-KR" sz="950" b="0">
                <a:solidFill>
                  <a:srgbClr val="142536"/>
                </a:solidFill>
                <a:latin typeface="Arial"/>
                <a:ea typeface="Malgun Gothic"/>
                <a:cs typeface="Arial"/>
              </a:rPr>
              <a:t xml:space="preserve">재한 커밋입니다. 병합으로 두 경로가 합쳐져도, 새 병합 커밋이 기존 커밋들</a:t>
            </a:r>
            <a:endParaRPr lang="ko-KR" sz="950"/>
          </a:p>
          <a:p>
            <a:pPr algn="l">
              <a:lnSpc>
                <a:spcPts val="1235"/>
              </a:lnSpc>
            </a:pPr>
            <a:r>
              <a:rPr lang="ko-KR" sz="950" b="0">
                <a:solidFill>
                  <a:srgbClr val="142536"/>
                </a:solidFill>
                <a:latin typeface="Arial"/>
                <a:ea typeface="Malgun Gothic"/>
                <a:cs typeface="Arial"/>
              </a:rPr>
              <a:t xml:space="preserve">을 부모로 참조하고 기존 부모 참조가 유지되면 방향성 순환은 생기지 않습니</a:t>
            </a:r>
            <a:endParaRPr lang="ko-KR" sz="950"/>
          </a:p>
          <a:p>
            <a:pPr algn="l">
              <a:lnSpc>
                <a:spcPts val="1235"/>
              </a:lnSpc>
            </a:pPr>
            <a:r>
              <a:rPr lang="ko-KR" sz="950" b="0">
                <a:solidFill>
                  <a:srgbClr val="142536"/>
                </a:solidFill>
                <a:latin typeface="Arial"/>
                <a:ea typeface="Malgun Gothic"/>
                <a:cs typeface="Arial"/>
              </a:rPr>
              <a:t xml:space="preserve">다. DAG는 반드시 트리일 필요가 없습니다. Mini Git의 정상 COMMIT 명령</a:t>
            </a:r>
            <a:endParaRPr lang="ko-KR" sz="950"/>
          </a:p>
          <a:p>
            <a:pPr algn="l">
              <a:lnSpc>
                <a:spcPts val="1235"/>
              </a:lnSpc>
            </a:pPr>
            <a:r>
              <a:rPr lang="ko-KR" sz="950" b="0">
                <a:solidFill>
                  <a:srgbClr val="142536"/>
                </a:solidFill>
                <a:latin typeface="Arial"/>
                <a:ea typeface="Malgun Gothic"/>
                <a:cs typeface="Arial"/>
              </a:rPr>
              <a:t xml:space="preserve">은 기존 HEAD를 부모로 저장하며 기존 커밋의 parents를 수정하지 않습니</a:t>
            </a:r>
            <a:endParaRPr lang="ko-KR" sz="950"/>
          </a:p>
          <a:p>
            <a:pPr algn="l">
              <a:lnSpc>
                <a:spcPts val="1235"/>
              </a:lnSpc>
            </a:pPr>
            <a:r>
              <a:rPr lang="ko-KR" sz="950" b="0">
                <a:solidFill>
                  <a:srgbClr val="142536"/>
                </a:solidFill>
                <a:latin typeface="Arial"/>
                <a:ea typeface="Malgun Gothic"/>
                <a:cs typeface="Arial"/>
              </a:rPr>
              <a:t xml:space="preserve">다. Commit 클래스 자체는 변경 가능한 Python 객체이므로 외부 코드가 par</a:t>
            </a:r>
            <a:endParaRPr lang="ko-KR" sz="950"/>
          </a:p>
          <a:p>
            <a:pPr algn="l">
              <a:lnSpc>
                <a:spcPts val="1235"/>
              </a:lnSpc>
            </a:pPr>
            <a:r>
              <a:rPr lang="ko-KR" sz="950" b="0">
                <a:solidFill>
                  <a:srgbClr val="142536"/>
                </a:solidFill>
                <a:latin typeface="Arial"/>
                <a:ea typeface="Malgun Gothic"/>
                <a:cs typeface="Arial"/>
              </a:rPr>
              <a:t xml:space="preserve">ents를 임의로 변경하는 상황까지 이 생성 규칙이 보장하는 것은 아닙니다. C</a:t>
            </a:r>
            <a:endParaRPr lang="ko-KR" sz="950"/>
          </a:p>
          <a:p>
            <a:pPr algn="l">
              <a:lnSpc>
                <a:spcPts val="1235"/>
              </a:lnSpc>
            </a:pPr>
            <a:r>
              <a:rPr lang="ko-KR" sz="950" b="0">
                <a:solidFill>
                  <a:srgbClr val="142536"/>
                </a:solidFill>
                <a:latin typeface="Arial"/>
                <a:ea typeface="Malgun Gothic"/>
                <a:cs typeface="Arial"/>
              </a:rPr>
              <a:t xml:space="preserve">LI MERGE는 구현하지 않았고, 다중 부모는 자료구조와 테스트에서 지원합니</a:t>
            </a:r>
            <a:endParaRPr lang="ko-KR" sz="950"/>
          </a:p>
          <a:p>
            <a:pPr algn="l">
              <a:lnSpc>
                <a:spcPts val="1235"/>
              </a:lnSpc>
            </a:pPr>
            <a:r>
              <a:rPr lang="ko-KR" sz="950" b="0">
                <a:solidFill>
                  <a:srgbClr val="142536"/>
                </a:solidFill>
                <a:latin typeface="Arial"/>
                <a:ea typeface="Malgun Gothic"/>
                <a:cs typeface="Arial"/>
              </a:rPr>
              <a:t xml:space="preserve">다.</a:t>
            </a:r>
            <a:endParaRPr lang="ko-KR" sz="950"/>
          </a:p>
        </p:txBody>
      </p:sp>
      <p:sp>
        <p:nvSpPr>
          <p:cNvPr id="36" name="Text 36"/>
          <p:cNvSpPr txBox="1"/>
          <p:nvPr/>
        </p:nvSpPr>
        <p:spPr>
          <a:xfrm>
            <a:off x="508000" y="6299200"/>
            <a:ext cx="11176000" cy="22860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부모를 따라갈수록 생성 순서가 더 이전으로 가므로, 출발 커밋으로 돌아오는 순환이 없습니다.</a:t>
            </a:r>
            <a:endParaRPr lang="ko-KR" sz="1250"/>
          </a:p>
        </p:txBody>
      </p:sp>
      <p:sp>
        <p:nvSpPr>
          <p:cNvPr id="37" name="Text 37"/>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mini_git/commit.py · repository.py: commit() · 평가질문_설명자료.md</a:t>
            </a:r>
            <a:endParaRPr lang="ko-KR" sz="1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브랜치와 HEAD는 ‘끝을 가리키는 이름표’">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EXPLAIN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13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142536"/>
                </a:solidFill>
                <a:latin typeface="Arial"/>
                <a:ea typeface="Malgun Gothic"/>
                <a:cs typeface="Arial"/>
              </a:rPr>
              <a:t xml:space="preserve">브랜치와 HEAD는 ‘끝을 가리키는 이름표’</a:t>
            </a:r>
            <a:endParaRPr lang="ko-KR" sz="3200"/>
          </a:p>
        </p:txBody>
      </p:sp>
      <p:sp>
        <p:nvSpPr>
          <p:cNvPr id="6" name="Shape 6"/>
          <p:cNvSpPr/>
          <p:nvPr/>
        </p:nvSpPr>
        <p:spPr>
          <a:xfrm>
            <a:off x="508000" y="1657450"/>
            <a:ext cx="5397500" cy="2387500"/>
          </a:xfrm>
          <a:prstGeom prst="roundRect">
            <a:avLst/>
          </a:prstGeom>
          <a:solidFill>
            <a:srgbClr val="FFFFFF"/>
          </a:solidFill>
          <a:ln w="12700">
            <a:solidFill>
              <a:srgbClr val="D7DFDB"/>
            </a:solidFill>
          </a:ln>
        </p:spPr>
      </p:sp>
      <p:sp>
        <p:nvSpPr>
          <p:cNvPr id="7" name="Text 7"/>
          <p:cNvSpPr txBox="1"/>
          <p:nvPr/>
        </p:nvSpPr>
        <p:spPr>
          <a:xfrm>
            <a:off x="698500" y="1733850"/>
            <a:ext cx="4953000" cy="229200"/>
          </a:xfrm>
          <a:prstGeom prst="rect">
            <a:avLst/>
          </a:prstGeom>
          <a:noFill/>
          <a:ln>
            <a:noFill/>
          </a:ln>
        </p:spPr>
        <p:txBody>
          <a:bodyPr wrap="square" lIns="0" tIns="0" rIns="0" bIns="0" anchor="t">
            <a:noAutofit/>
          </a:bodyPr>
          <a:lstStyle/>
          <a:p>
            <a:pPr algn="l">
              <a:lnSpc>
                <a:spcPts val="1495"/>
              </a:lnSpc>
            </a:pPr>
            <a:r>
              <a:rPr lang="ko-KR" sz="1150" b="1">
                <a:solidFill>
                  <a:srgbClr val="168B82"/>
                </a:solidFill>
                <a:latin typeface="Arial"/>
                <a:ea typeface="Malgun Gothic"/>
                <a:cs typeface="Arial"/>
              </a:rPr>
              <a:t xml:space="preserve">한눈에 이해하기</a:t>
            </a:r>
            <a:endParaRPr lang="ko-KR" sz="1150"/>
          </a:p>
        </p:txBody>
      </p:sp>
      <p:sp>
        <p:nvSpPr>
          <p:cNvPr id="8" name="Shape 8"/>
          <p:cNvSpPr/>
          <p:nvPr/>
        </p:nvSpPr>
        <p:spPr>
          <a:xfrm>
            <a:off x="1016000" y="2898950"/>
            <a:ext cx="1333500" cy="382000"/>
          </a:xfrm>
          <a:prstGeom prst="roundRect">
            <a:avLst/>
          </a:prstGeom>
          <a:solidFill>
            <a:srgbClr val="168B82"/>
          </a:solidFill>
          <a:ln>
            <a:noFill/>
          </a:ln>
        </p:spPr>
      </p:sp>
      <p:sp>
        <p:nvSpPr>
          <p:cNvPr id="9" name="Text 9"/>
          <p:cNvSpPr txBox="1"/>
          <p:nvPr/>
        </p:nvSpPr>
        <p:spPr>
          <a:xfrm>
            <a:off x="1079500" y="2982990"/>
            <a:ext cx="1206500" cy="282680"/>
          </a:xfrm>
          <a:prstGeom prst="rect">
            <a:avLst/>
          </a:prstGeom>
          <a:noFill/>
          <a:ln>
            <a:noFill/>
          </a:ln>
        </p:spPr>
        <p:txBody>
          <a:bodyPr wrap="square" lIns="0" tIns="0" rIns="0" bIns="0" anchor="t">
            <a:noAutofit/>
          </a:bodyPr>
          <a:lstStyle/>
          <a:p>
            <a:pPr algn="ctr">
              <a:lnSpc>
                <a:spcPts val="1885"/>
              </a:lnSpc>
            </a:pPr>
            <a:r>
              <a:rPr lang="ko-KR" sz="1450" b="1">
                <a:solidFill>
                  <a:srgbClr val="FFFFFF"/>
                </a:solidFill>
                <a:latin typeface="Arial"/>
                <a:ea typeface="Malgun Gothic"/>
                <a:cs typeface="Arial"/>
              </a:rPr>
              <a:t xml:space="preserve">A</a:t>
            </a:r>
            <a:endParaRPr lang="ko-KR" sz="1450"/>
          </a:p>
        </p:txBody>
      </p:sp>
      <p:sp>
        <p:nvSpPr>
          <p:cNvPr id="10" name="Shape 10"/>
          <p:cNvSpPr/>
          <p:nvPr/>
        </p:nvSpPr>
        <p:spPr>
          <a:xfrm>
            <a:off x="3873500" y="2898950"/>
            <a:ext cx="1333500" cy="382000"/>
          </a:xfrm>
          <a:prstGeom prst="roundRect">
            <a:avLst/>
          </a:prstGeom>
          <a:solidFill>
            <a:srgbClr val="168B82"/>
          </a:solidFill>
          <a:ln>
            <a:noFill/>
          </a:ln>
        </p:spPr>
      </p:sp>
      <p:sp>
        <p:nvSpPr>
          <p:cNvPr id="11" name="Text 11"/>
          <p:cNvSpPr txBox="1"/>
          <p:nvPr/>
        </p:nvSpPr>
        <p:spPr>
          <a:xfrm>
            <a:off x="3937000" y="2982990"/>
            <a:ext cx="1206500" cy="282680"/>
          </a:xfrm>
          <a:prstGeom prst="rect">
            <a:avLst/>
          </a:prstGeom>
          <a:noFill/>
          <a:ln>
            <a:noFill/>
          </a:ln>
        </p:spPr>
        <p:txBody>
          <a:bodyPr wrap="square" lIns="0" tIns="0" rIns="0" bIns="0" anchor="t">
            <a:noAutofit/>
          </a:bodyPr>
          <a:lstStyle/>
          <a:p>
            <a:pPr algn="ctr">
              <a:lnSpc>
                <a:spcPts val="1885"/>
              </a:lnSpc>
            </a:pPr>
            <a:r>
              <a:rPr lang="ko-KR" sz="1450" b="1">
                <a:solidFill>
                  <a:srgbClr val="FFFFFF"/>
                </a:solidFill>
                <a:latin typeface="Arial"/>
                <a:ea typeface="Malgun Gothic"/>
                <a:cs typeface="Arial"/>
              </a:rPr>
              <a:t xml:space="preserve">B</a:t>
            </a:r>
            <a:endParaRPr lang="ko-KR" sz="1450"/>
          </a:p>
        </p:txBody>
      </p:sp>
      <p:cxnSp>
        <p:nvCxnSpPr>
          <p:cNvPr id="12" name="Edge 12"/>
          <p:cNvCxnSpPr/>
          <p:nvPr/>
        </p:nvCxnSpPr>
        <p:spPr>
          <a:xfrm flipH="1" flipV="0">
            <a:off x="2349500" y="3089950"/>
            <a:ext cx="1524000" cy="6350"/>
          </a:xfrm>
          <a:prstGeom prst="line">
            <a:avLst/>
          </a:prstGeom>
          <a:ln w="31750">
            <a:solidFill>
              <a:srgbClr val="168B82"/>
            </a:solidFill>
            <a:tailEnd type="triangle" w="med" len="med"/>
          </a:ln>
        </p:spPr>
      </p:cxnSp>
      <p:sp>
        <p:nvSpPr>
          <p:cNvPr id="13" name="Text 13"/>
          <p:cNvSpPr txBox="1"/>
          <p:nvPr/>
        </p:nvSpPr>
        <p:spPr>
          <a:xfrm>
            <a:off x="1111250" y="2154050"/>
            <a:ext cx="1270000" cy="248300"/>
          </a:xfrm>
          <a:prstGeom prst="rect">
            <a:avLst/>
          </a:prstGeom>
          <a:noFill/>
          <a:ln>
            <a:noFill/>
          </a:ln>
        </p:spPr>
        <p:txBody>
          <a:bodyPr wrap="square" lIns="0" tIns="0" rIns="0" bIns="0" anchor="t">
            <a:noAutofit/>
          </a:bodyPr>
          <a:lstStyle/>
          <a:p>
            <a:pPr algn="ctr">
              <a:lnSpc>
                <a:spcPts val="1950"/>
              </a:lnSpc>
            </a:pPr>
            <a:r>
              <a:rPr lang="ko-KR" sz="1500" b="1">
                <a:solidFill>
                  <a:srgbClr val="168B82"/>
                </a:solidFill>
                <a:latin typeface="Arial"/>
                <a:ea typeface="Malgun Gothic"/>
                <a:cs typeface="Arial"/>
              </a:rPr>
              <a:t xml:space="preserve">main</a:t>
            </a:r>
            <a:endParaRPr lang="ko-KR" sz="1500"/>
          </a:p>
        </p:txBody>
      </p:sp>
      <p:cxnSp>
        <p:nvCxnSpPr>
          <p:cNvPr id="14" name="Edge 14"/>
          <p:cNvCxnSpPr/>
          <p:nvPr/>
        </p:nvCxnSpPr>
        <p:spPr>
          <a:xfrm flipH="0" flipV="0">
            <a:off x="1682750" y="2459650"/>
            <a:ext cx="6350" cy="401100"/>
          </a:xfrm>
          <a:prstGeom prst="line">
            <a:avLst/>
          </a:prstGeom>
          <a:ln w="31750">
            <a:solidFill>
              <a:srgbClr val="168B82"/>
            </a:solidFill>
            <a:tailEnd type="triangle" w="med" len="med"/>
          </a:ln>
        </p:spPr>
      </p:cxnSp>
      <p:sp>
        <p:nvSpPr>
          <p:cNvPr id="15" name="Text 15"/>
          <p:cNvSpPr txBox="1"/>
          <p:nvPr/>
        </p:nvSpPr>
        <p:spPr>
          <a:xfrm>
            <a:off x="3905250" y="2154050"/>
            <a:ext cx="1270000" cy="248300"/>
          </a:xfrm>
          <a:prstGeom prst="rect">
            <a:avLst/>
          </a:prstGeom>
          <a:noFill/>
          <a:ln>
            <a:noFill/>
          </a:ln>
        </p:spPr>
        <p:txBody>
          <a:bodyPr wrap="square" lIns="0" tIns="0" rIns="0" bIns="0" anchor="t">
            <a:noAutofit/>
          </a:bodyPr>
          <a:lstStyle/>
          <a:p>
            <a:pPr algn="ctr">
              <a:lnSpc>
                <a:spcPts val="1950"/>
              </a:lnSpc>
            </a:pPr>
            <a:r>
              <a:rPr lang="ko-KR" sz="1500" b="1">
                <a:solidFill>
                  <a:srgbClr val="168B82"/>
                </a:solidFill>
                <a:latin typeface="Arial"/>
                <a:ea typeface="Malgun Gothic"/>
                <a:cs typeface="Arial"/>
              </a:rPr>
              <a:t xml:space="preserve">feature</a:t>
            </a:r>
            <a:endParaRPr lang="ko-KR" sz="1500"/>
          </a:p>
        </p:txBody>
      </p:sp>
      <p:cxnSp>
        <p:nvCxnSpPr>
          <p:cNvPr id="16" name="Edge 16"/>
          <p:cNvCxnSpPr/>
          <p:nvPr/>
        </p:nvCxnSpPr>
        <p:spPr>
          <a:xfrm flipH="0" flipV="0">
            <a:off x="4540250" y="2459650"/>
            <a:ext cx="6350" cy="401100"/>
          </a:xfrm>
          <a:prstGeom prst="line">
            <a:avLst/>
          </a:prstGeom>
          <a:ln w="31750">
            <a:solidFill>
              <a:srgbClr val="168B82"/>
            </a:solidFill>
            <a:tailEnd type="triangle" w="med" len="med"/>
          </a:ln>
        </p:spPr>
      </p:cxnSp>
      <p:sp>
        <p:nvSpPr>
          <p:cNvPr id="17" name="Text 17"/>
          <p:cNvSpPr txBox="1"/>
          <p:nvPr/>
        </p:nvSpPr>
        <p:spPr>
          <a:xfrm>
            <a:off x="952500" y="3720250"/>
            <a:ext cx="4127500" cy="191000"/>
          </a:xfrm>
          <a:prstGeom prst="rect">
            <a:avLst/>
          </a:prstGeom>
          <a:noFill/>
          <a:ln>
            <a:noFill/>
          </a:ln>
        </p:spPr>
        <p:txBody>
          <a:bodyPr wrap="square" lIns="0" tIns="0" rIns="0" bIns="0" anchor="t">
            <a:noAutofit/>
          </a:bodyPr>
          <a:lstStyle/>
          <a:p>
            <a:pPr algn="ctr">
              <a:lnSpc>
                <a:spcPts val="1495"/>
              </a:lnSpc>
            </a:pPr>
            <a:r>
              <a:rPr lang="ko-KR" sz="1150" b="0">
                <a:solidFill>
                  <a:srgbClr val="566979"/>
                </a:solidFill>
                <a:latin typeface="Arial"/>
                <a:ea typeface="Malgun Gothic"/>
                <a:cs typeface="Arial"/>
              </a:rPr>
              <a:t xml:space="preserve">현재 브랜치: feature</a:t>
            </a:r>
            <a:endParaRPr lang="ko-KR" sz="1150"/>
          </a:p>
        </p:txBody>
      </p:sp>
      <p:sp>
        <p:nvSpPr>
          <p:cNvPr id="18" name="Text 18"/>
          <p:cNvSpPr txBox="1"/>
          <p:nvPr/>
        </p:nvSpPr>
        <p:spPr>
          <a:xfrm>
            <a:off x="6540500" y="1657450"/>
            <a:ext cx="5016500" cy="19864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A에서 feature 생성</a:t>
            </a:r>
            <a:endParaRPr lang="ko-KR" sz="1100"/>
          </a:p>
        </p:txBody>
      </p:sp>
      <p:sp>
        <p:nvSpPr>
          <p:cNvPr id="19" name="Text 19"/>
          <p:cNvSpPr txBox="1"/>
          <p:nvPr/>
        </p:nvSpPr>
        <p:spPr>
          <a:xfrm>
            <a:off x="6540500" y="1894290"/>
            <a:ext cx="5016500" cy="890060"/>
          </a:xfrm>
          <a:prstGeom prst="rect">
            <a:avLst/>
          </a:prstGeom>
          <a:noFill/>
          <a:ln>
            <a:noFill/>
          </a:ln>
        </p:spPr>
        <p:txBody>
          <a:bodyPr wrap="square" lIns="0" tIns="0" rIns="0" bIns="0" anchor="t">
            <a:noAutofit/>
          </a:bodyPr>
          <a:lstStyle/>
          <a:p>
            <a:pPr algn="l">
              <a:lnSpc>
                <a:spcPts val="1755"/>
              </a:lnSpc>
            </a:pPr>
            <a:r>
              <a:rPr lang="ko-KR" sz="1350" b="0">
                <a:solidFill>
                  <a:srgbClr val="142536"/>
                </a:solidFill>
                <a:latin typeface="Arial"/>
                <a:ea typeface="Malgun Gothic"/>
                <a:cs typeface="Arial"/>
              </a:rPr>
              <a:t xml:space="preserve">main → A</a:t>
            </a:r>
            <a:endParaRPr lang="ko-KR" sz="1350"/>
          </a:p>
          <a:p>
            <a:pPr algn="l">
              <a:lnSpc>
                <a:spcPts val="1755"/>
              </a:lnSpc>
            </a:pPr>
            <a:r>
              <a:rPr lang="ko-KR" sz="1350" b="0">
                <a:solidFill>
                  <a:srgbClr val="142536"/>
                </a:solidFill>
                <a:latin typeface="Arial"/>
                <a:ea typeface="Malgun Gothic"/>
                <a:cs typeface="Arial"/>
              </a:rPr>
              <a:t xml:space="preserve">feature → A</a:t>
            </a:r>
            <a:endParaRPr lang="ko-KR" sz="1350"/>
          </a:p>
          <a:p>
            <a:pPr algn="l">
              <a:lnSpc>
                <a:spcPts val="1755"/>
              </a:lnSpc>
            </a:pPr>
            <a:r>
              <a:rPr lang="ko-KR" sz="1350" b="0">
                <a:solidFill>
                  <a:srgbClr val="142536"/>
                </a:solidFill>
                <a:latin typeface="Arial"/>
                <a:ea typeface="Malgun Gothic"/>
                <a:cs typeface="Arial"/>
              </a:rPr>
              <a:t xml:space="preserve">현재 브랜치: main</a:t>
            </a:r>
            <a:endParaRPr lang="ko-KR" sz="1350"/>
          </a:p>
        </p:txBody>
      </p:sp>
      <p:sp>
        <p:nvSpPr>
          <p:cNvPr id="20" name="Text 20"/>
          <p:cNvSpPr txBox="1"/>
          <p:nvPr/>
        </p:nvSpPr>
        <p:spPr>
          <a:xfrm>
            <a:off x="6540500" y="2851200"/>
            <a:ext cx="5016500" cy="19864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feature에서 B 커밋</a:t>
            </a:r>
            <a:endParaRPr lang="ko-KR" sz="1100"/>
          </a:p>
        </p:txBody>
      </p:sp>
      <p:sp>
        <p:nvSpPr>
          <p:cNvPr id="21" name="Text 21"/>
          <p:cNvSpPr txBox="1"/>
          <p:nvPr/>
        </p:nvSpPr>
        <p:spPr>
          <a:xfrm>
            <a:off x="6540500" y="3088040"/>
            <a:ext cx="5016500" cy="890060"/>
          </a:xfrm>
          <a:prstGeom prst="rect">
            <a:avLst/>
          </a:prstGeom>
          <a:noFill/>
          <a:ln>
            <a:noFill/>
          </a:ln>
        </p:spPr>
        <p:txBody>
          <a:bodyPr wrap="square" lIns="0" tIns="0" rIns="0" bIns="0" anchor="t">
            <a:noAutofit/>
          </a:bodyPr>
          <a:lstStyle/>
          <a:p>
            <a:pPr algn="l">
              <a:lnSpc>
                <a:spcPts val="1755"/>
              </a:lnSpc>
            </a:pPr>
            <a:r>
              <a:rPr lang="ko-KR" sz="1350" b="0">
                <a:solidFill>
                  <a:srgbClr val="142536"/>
                </a:solidFill>
                <a:latin typeface="Arial"/>
                <a:ea typeface="Malgun Gothic"/>
                <a:cs typeface="Arial"/>
              </a:rPr>
              <a:t xml:space="preserve">main → A</a:t>
            </a:r>
            <a:endParaRPr lang="ko-KR" sz="1350"/>
          </a:p>
          <a:p>
            <a:pPr algn="l">
              <a:lnSpc>
                <a:spcPts val="1755"/>
              </a:lnSpc>
            </a:pPr>
            <a:r>
              <a:rPr lang="ko-KR" sz="1350" b="0">
                <a:solidFill>
                  <a:srgbClr val="142536"/>
                </a:solidFill>
                <a:latin typeface="Arial"/>
                <a:ea typeface="Malgun Gothic"/>
                <a:cs typeface="Arial"/>
              </a:rPr>
              <a:t xml:space="preserve">feature → B</a:t>
            </a:r>
            <a:endParaRPr lang="ko-KR" sz="1350"/>
          </a:p>
          <a:p>
            <a:pPr algn="l">
              <a:lnSpc>
                <a:spcPts val="1755"/>
              </a:lnSpc>
            </a:pPr>
            <a:r>
              <a:rPr lang="ko-KR" sz="1350" b="0">
                <a:solidFill>
                  <a:srgbClr val="142536"/>
                </a:solidFill>
                <a:latin typeface="Arial"/>
                <a:ea typeface="Malgun Gothic"/>
                <a:cs typeface="Arial"/>
              </a:rPr>
              <a:t xml:space="preserve">B.parents = [A.hash]</a:t>
            </a:r>
            <a:endParaRPr lang="ko-KR" sz="1350"/>
          </a:p>
        </p:txBody>
      </p:sp>
      <p:sp>
        <p:nvSpPr>
          <p:cNvPr id="22" name="Shape 22"/>
          <p:cNvSpPr/>
          <p:nvPr/>
        </p:nvSpPr>
        <p:spPr>
          <a:xfrm>
            <a:off x="508000" y="4197350"/>
            <a:ext cx="11176000" cy="1581150"/>
          </a:xfrm>
          <a:prstGeom prst="roundRect">
            <a:avLst/>
          </a:prstGeom>
          <a:solidFill>
            <a:srgbClr val="EBEEE8"/>
          </a:solidFill>
          <a:ln>
            <a:noFill/>
          </a:ln>
        </p:spPr>
      </p:sp>
      <p:sp>
        <p:nvSpPr>
          <p:cNvPr id="23" name="Text 23"/>
          <p:cNvSpPr txBox="1"/>
          <p:nvPr/>
        </p:nvSpPr>
        <p:spPr>
          <a:xfrm>
            <a:off x="730250" y="427355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실행 확인 · 명령은 한 줄씩 입력</a:t>
            </a:r>
            <a:endParaRPr lang="ko-KR" sz="1200"/>
          </a:p>
        </p:txBody>
      </p:sp>
      <p:sp>
        <p:nvSpPr>
          <p:cNvPr id="24" name="Text 24"/>
          <p:cNvSpPr txBox="1"/>
          <p:nvPr/>
        </p:nvSpPr>
        <p:spPr>
          <a:xfrm>
            <a:off x="730250" y="4540250"/>
            <a:ext cx="10731500" cy="64389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mini-git&gt; · 5페이지 실습과 별도로 처음부터 실행</a:t>
            </a:r>
            <a:endParaRPr lang="ko-KR" sz="1300"/>
          </a:p>
          <a:p>
            <a:pPr algn="l">
              <a:lnSpc>
                <a:spcPts val="1690"/>
              </a:lnSpc>
            </a:pPr>
            <a:r>
              <a:rPr lang="ko-KR" sz="1300" b="0">
                <a:solidFill>
                  <a:srgbClr val="142536"/>
                </a:solidFill>
                <a:latin typeface="Arial"/>
                <a:ea typeface="Malgun Gothic"/>
                <a:cs typeface="Arial"/>
              </a:rPr>
              <a:t xml:space="preserve">INIT "Alice Kim"  →  COMMIT "Initial commit"  →  BRANCH feature  →  SWITCH feature  →  COMMIT "Add login feature"  →  SWITCH main  →  LOG</a:t>
            </a:r>
            <a:endParaRPr lang="ko-KR" sz="1300"/>
          </a:p>
          <a:p>
            <a:pPr algn="l">
              <a:lnSpc>
                <a:spcPts val="1690"/>
              </a:lnSpc>
            </a:pPr>
            <a:r>
              <a:rPr lang="ko-KR" sz="1300" b="0">
                <a:solidFill>
                  <a:srgbClr val="142536"/>
                </a:solidFill>
                <a:latin typeface="Arial"/>
                <a:ea typeface="Malgun Gothic"/>
                <a:cs typeface="Arial"/>
              </a:rPr>
              <a:t xml:space="preserve">확인: INIT은 기존 데이터를 초기화함. main에는 최초 커밋, feature에는 로그인 커밋</a:t>
            </a:r>
            <a:endParaRPr lang="ko-KR" sz="1300"/>
          </a:p>
        </p:txBody>
      </p:sp>
      <p:sp>
        <p:nvSpPr>
          <p:cNvPr id="25" name="Text 25"/>
          <p:cNvSpPr txBox="1"/>
          <p:nvPr/>
        </p:nvSpPr>
        <p:spPr>
          <a:xfrm>
            <a:off x="730250" y="5260340"/>
            <a:ext cx="10731500" cy="4292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HEAD를 커밋 하나를 담는 별도 객체라고 생각할 필요는 없습니다. 이 구현에서는 current_branch가 현재 브랜치를 나타내고 branches[current_branch]가 현재 커밋입니</a:t>
            </a:r>
            <a:endParaRPr lang="ko-KR" sz="1300"/>
          </a:p>
          <a:p>
            <a:pPr algn="l">
              <a:lnSpc>
                <a:spcPts val="1690"/>
              </a:lnSpc>
            </a:pPr>
            <a:r>
              <a:rPr lang="ko-KR" sz="1300" b="0">
                <a:solidFill>
                  <a:srgbClr val="142536"/>
                </a:solidFill>
                <a:latin typeface="Arial"/>
                <a:ea typeface="Malgun Gothic"/>
                <a:cs typeface="Arial"/>
              </a:rPr>
              <a:t xml:space="preserve">다. branch는 저장된 커밋을 복제하지 않습니다. 같은 커밋을 가리키는 이름표를 추가합니다. COMMIT은 현재 브랜치만 앞으로 이동시킵니다.</a:t>
            </a:r>
            <a:endParaRPr lang="ko-KR" sz="1300"/>
          </a:p>
        </p:txBody>
      </p:sp>
      <p:sp>
        <p:nvSpPr>
          <p:cNvPr id="26" name="Shape 26"/>
          <p:cNvSpPr/>
          <p:nvPr/>
        </p:nvSpPr>
        <p:spPr>
          <a:xfrm>
            <a:off x="508000" y="5937250"/>
            <a:ext cx="11176000" cy="508000"/>
          </a:xfrm>
          <a:prstGeom prst="roundRect">
            <a:avLst/>
          </a:prstGeom>
          <a:solidFill>
            <a:srgbClr val="168B82"/>
          </a:solidFill>
          <a:ln>
            <a:noFill/>
          </a:ln>
        </p:spPr>
      </p:sp>
      <p:sp>
        <p:nvSpPr>
          <p:cNvPr id="27" name="Text 27"/>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BRANCH는 이름표를 만들고, SWITCH는 사용할 이름표를 고릅니다.</a:t>
            </a:r>
            <a:endParaRPr lang="ko-KR" sz="1600"/>
          </a:p>
        </p:txBody>
      </p:sp>
      <p:sp>
        <p:nvSpPr>
          <p:cNvPr id="28" name="Text 28"/>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mini_git/repository.py: branch(), switch(), commit()</a:t>
            </a:r>
            <a:endParaRPr lang="ko-KR" sz="1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LOG: 선수과목을 먼저 출력하는 방식">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EXPLAIN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14 / 26</a:t>
            </a:r>
            <a:endParaRPr lang="ko-KR" sz="1250"/>
          </a:p>
        </p:txBody>
      </p:sp>
      <p:sp>
        <p:nvSpPr>
          <p:cNvPr id="5" name="Text 5"/>
          <p:cNvSpPr txBox="1"/>
          <p:nvPr/>
        </p:nvSpPr>
        <p:spPr>
          <a:xfrm>
            <a:off x="508000" y="793750"/>
            <a:ext cx="11176000" cy="635000"/>
          </a:xfrm>
          <a:prstGeom prst="rect">
            <a:avLst/>
          </a:prstGeom>
          <a:noFill/>
          <a:ln>
            <a:noFill/>
          </a:ln>
        </p:spPr>
        <p:txBody>
          <a:bodyPr wrap="square" lIns="0" tIns="0" rIns="0" bIns="0" anchor="t">
            <a:noAutofit/>
          </a:bodyPr>
          <a:lstStyle/>
          <a:p>
            <a:pPr algn="l">
              <a:lnSpc>
                <a:spcPts val="3900"/>
              </a:lnSpc>
            </a:pPr>
            <a:r>
              <a:rPr lang="ko-KR" sz="3000" b="1">
                <a:solidFill>
                  <a:srgbClr val="142536"/>
                </a:solidFill>
                <a:latin typeface="Arial"/>
                <a:ea typeface="Malgun Gothic"/>
                <a:cs typeface="Arial"/>
              </a:rPr>
              <a:t xml:space="preserve">LOG: 선수과목을 먼저 출력하는 방식</a:t>
            </a:r>
            <a:endParaRPr lang="ko-KR" sz="3000"/>
          </a:p>
        </p:txBody>
      </p:sp>
      <p:sp>
        <p:nvSpPr>
          <p:cNvPr id="6" name="Text 6"/>
          <p:cNvSpPr txBox="1"/>
          <p:nvPr/>
        </p:nvSpPr>
        <p:spPr>
          <a:xfrm>
            <a:off x="571500" y="1492250"/>
            <a:ext cx="3683000" cy="24130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핵심 · 그림 · 실행</a:t>
            </a:r>
            <a:endParaRPr lang="ko-KR" sz="1300"/>
          </a:p>
        </p:txBody>
      </p:sp>
      <p:sp>
        <p:nvSpPr>
          <p:cNvPr id="7" name="Text 7"/>
          <p:cNvSpPr txBox="1"/>
          <p:nvPr/>
        </p:nvSpPr>
        <p:spPr>
          <a:xfrm>
            <a:off x="4508500" y="1492250"/>
            <a:ext cx="7175500" cy="24130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상세 설명 · 코드 · 문답 전체</a:t>
            </a:r>
            <a:endParaRPr lang="ko-KR" sz="1300"/>
          </a:p>
        </p:txBody>
      </p:sp>
      <p:sp>
        <p:nvSpPr>
          <p:cNvPr id="8" name="Shape 8"/>
          <p:cNvSpPr/>
          <p:nvPr/>
        </p:nvSpPr>
        <p:spPr>
          <a:xfrm>
            <a:off x="4349750" y="1778000"/>
            <a:ext cx="12700" cy="4381500"/>
          </a:xfrm>
          <a:prstGeom prst="rect">
            <a:avLst/>
          </a:prstGeom>
          <a:solidFill>
            <a:srgbClr val="D7DFDB"/>
          </a:solidFill>
          <a:ln>
            <a:noFill/>
          </a:ln>
        </p:spPr>
      </p:sp>
      <p:sp>
        <p:nvSpPr>
          <p:cNvPr id="9" name="Shape 9"/>
          <p:cNvSpPr/>
          <p:nvPr/>
        </p:nvSpPr>
        <p:spPr>
          <a:xfrm>
            <a:off x="476250" y="1778000"/>
            <a:ext cx="2968625" cy="2182812"/>
          </a:xfrm>
          <a:prstGeom prst="roundRect">
            <a:avLst/>
          </a:prstGeom>
          <a:solidFill>
            <a:srgbClr val="FFFFFF"/>
          </a:solidFill>
          <a:ln w="12700">
            <a:solidFill>
              <a:srgbClr val="D7DFDB"/>
            </a:solidFill>
          </a:ln>
        </p:spPr>
      </p:sp>
      <p:sp>
        <p:nvSpPr>
          <p:cNvPr id="10" name="Text 10"/>
          <p:cNvSpPr txBox="1"/>
          <p:nvPr/>
        </p:nvSpPr>
        <p:spPr>
          <a:xfrm>
            <a:off x="581025" y="1847850"/>
            <a:ext cx="2724150" cy="209550"/>
          </a:xfrm>
          <a:prstGeom prst="rect">
            <a:avLst/>
          </a:prstGeom>
          <a:noFill/>
          <a:ln>
            <a:noFill/>
          </a:ln>
        </p:spPr>
        <p:txBody>
          <a:bodyPr wrap="square" lIns="0" tIns="0" rIns="0" bIns="0" anchor="t">
            <a:noAutofit/>
          </a:bodyPr>
          <a:lstStyle/>
          <a:p>
            <a:pPr algn="l">
              <a:lnSpc>
                <a:spcPts val="1072"/>
              </a:lnSpc>
            </a:pPr>
            <a:r>
              <a:rPr lang="ko-KR" sz="825" b="1">
                <a:solidFill>
                  <a:srgbClr val="168B82"/>
                </a:solidFill>
                <a:latin typeface="Arial"/>
                <a:ea typeface="Malgun Gothic"/>
                <a:cs typeface="Arial"/>
              </a:rPr>
              <a:t xml:space="preserve">한눈에 이해하기</a:t>
            </a:r>
            <a:endParaRPr lang="ko-KR" sz="825"/>
          </a:p>
        </p:txBody>
      </p:sp>
      <p:cxnSp>
        <p:nvCxnSpPr>
          <p:cNvPr id="11" name="Edge 11"/>
          <p:cNvCxnSpPr/>
          <p:nvPr/>
        </p:nvCxnSpPr>
        <p:spPr>
          <a:xfrm flipH="0" flipV="1">
            <a:off x="1489075" y="2441575"/>
            <a:ext cx="681037" cy="471488"/>
          </a:xfrm>
          <a:prstGeom prst="line">
            <a:avLst/>
          </a:prstGeom>
          <a:ln w="31750">
            <a:solidFill>
              <a:srgbClr val="168B82"/>
            </a:solidFill>
            <a:tailEnd type="triangle" w="med" len="med"/>
          </a:ln>
        </p:spPr>
      </p:cxnSp>
      <p:cxnSp>
        <p:nvCxnSpPr>
          <p:cNvPr id="12" name="Edge 12"/>
          <p:cNvCxnSpPr/>
          <p:nvPr/>
        </p:nvCxnSpPr>
        <p:spPr>
          <a:xfrm flipH="0" flipV="0">
            <a:off x="1489075" y="2913062"/>
            <a:ext cx="681037" cy="471488"/>
          </a:xfrm>
          <a:prstGeom prst="line">
            <a:avLst/>
          </a:prstGeom>
          <a:ln w="31750">
            <a:solidFill>
              <a:srgbClr val="168B82"/>
            </a:solidFill>
            <a:tailEnd type="triangle" w="med" len="med"/>
          </a:ln>
        </p:spPr>
      </p:cxnSp>
      <p:sp>
        <p:nvSpPr>
          <p:cNvPr id="13" name="Shape 13"/>
          <p:cNvSpPr/>
          <p:nvPr/>
        </p:nvSpPr>
        <p:spPr>
          <a:xfrm>
            <a:off x="755650" y="2738438"/>
            <a:ext cx="733425" cy="349250"/>
          </a:xfrm>
          <a:prstGeom prst="roundRect">
            <a:avLst/>
          </a:prstGeom>
          <a:solidFill>
            <a:srgbClr val="168B82"/>
          </a:solidFill>
          <a:ln>
            <a:noFill/>
          </a:ln>
        </p:spPr>
      </p:sp>
      <p:sp>
        <p:nvSpPr>
          <p:cNvPr id="14" name="Text 14"/>
          <p:cNvSpPr txBox="1"/>
          <p:nvPr/>
        </p:nvSpPr>
        <p:spPr>
          <a:xfrm>
            <a:off x="790575" y="2815272"/>
            <a:ext cx="663575" cy="258445"/>
          </a:xfrm>
          <a:prstGeom prst="rect">
            <a:avLst/>
          </a:prstGeom>
          <a:noFill/>
          <a:ln>
            <a:noFill/>
          </a:ln>
        </p:spPr>
        <p:txBody>
          <a:bodyPr wrap="square" lIns="0" tIns="0" rIns="0" bIns="0" anchor="t">
            <a:noAutofit/>
          </a:bodyPr>
          <a:lstStyle/>
          <a:p>
            <a:pPr algn="ctr">
              <a:lnSpc>
                <a:spcPts val="1359"/>
              </a:lnSpc>
            </a:pPr>
            <a:r>
              <a:rPr lang="ko-KR" sz="1045" b="1">
                <a:solidFill>
                  <a:srgbClr val="FFFFFF"/>
                </a:solidFill>
                <a:latin typeface="Arial"/>
                <a:ea typeface="Malgun Gothic"/>
                <a:cs typeface="Arial"/>
              </a:rPr>
              <a:t xml:space="preserve">A</a:t>
            </a:r>
            <a:endParaRPr lang="ko-KR" sz="1045"/>
          </a:p>
        </p:txBody>
      </p:sp>
      <p:sp>
        <p:nvSpPr>
          <p:cNvPr id="15" name="Shape 15"/>
          <p:cNvSpPr/>
          <p:nvPr/>
        </p:nvSpPr>
        <p:spPr>
          <a:xfrm>
            <a:off x="2170112" y="2266950"/>
            <a:ext cx="733425" cy="349250"/>
          </a:xfrm>
          <a:prstGeom prst="roundRect">
            <a:avLst/>
          </a:prstGeom>
          <a:solidFill>
            <a:srgbClr val="168B82"/>
          </a:solidFill>
          <a:ln>
            <a:noFill/>
          </a:ln>
        </p:spPr>
      </p:sp>
      <p:sp>
        <p:nvSpPr>
          <p:cNvPr id="16" name="Text 16"/>
          <p:cNvSpPr txBox="1"/>
          <p:nvPr/>
        </p:nvSpPr>
        <p:spPr>
          <a:xfrm>
            <a:off x="2205038" y="2343785"/>
            <a:ext cx="663575" cy="258445"/>
          </a:xfrm>
          <a:prstGeom prst="rect">
            <a:avLst/>
          </a:prstGeom>
          <a:noFill/>
          <a:ln>
            <a:noFill/>
          </a:ln>
        </p:spPr>
        <p:txBody>
          <a:bodyPr wrap="square" lIns="0" tIns="0" rIns="0" bIns="0" anchor="t">
            <a:noAutofit/>
          </a:bodyPr>
          <a:lstStyle/>
          <a:p>
            <a:pPr algn="ctr">
              <a:lnSpc>
                <a:spcPts val="1359"/>
              </a:lnSpc>
            </a:pPr>
            <a:r>
              <a:rPr lang="ko-KR" sz="1045" b="1">
                <a:solidFill>
                  <a:srgbClr val="FFFFFF"/>
                </a:solidFill>
                <a:latin typeface="Arial"/>
                <a:ea typeface="Malgun Gothic"/>
                <a:cs typeface="Arial"/>
              </a:rPr>
              <a:t xml:space="preserve">B</a:t>
            </a:r>
            <a:endParaRPr lang="ko-KR" sz="1045"/>
          </a:p>
        </p:txBody>
      </p:sp>
      <p:sp>
        <p:nvSpPr>
          <p:cNvPr id="17" name="Shape 17"/>
          <p:cNvSpPr/>
          <p:nvPr/>
        </p:nvSpPr>
        <p:spPr>
          <a:xfrm>
            <a:off x="2170112" y="3209925"/>
            <a:ext cx="733425" cy="349250"/>
          </a:xfrm>
          <a:prstGeom prst="roundRect">
            <a:avLst/>
          </a:prstGeom>
          <a:solidFill>
            <a:srgbClr val="168B82"/>
          </a:solidFill>
          <a:ln>
            <a:noFill/>
          </a:ln>
        </p:spPr>
      </p:sp>
      <p:sp>
        <p:nvSpPr>
          <p:cNvPr id="18" name="Text 18"/>
          <p:cNvSpPr txBox="1"/>
          <p:nvPr/>
        </p:nvSpPr>
        <p:spPr>
          <a:xfrm>
            <a:off x="2205038" y="3286760"/>
            <a:ext cx="663575" cy="258445"/>
          </a:xfrm>
          <a:prstGeom prst="rect">
            <a:avLst/>
          </a:prstGeom>
          <a:noFill/>
          <a:ln>
            <a:noFill/>
          </a:ln>
        </p:spPr>
        <p:txBody>
          <a:bodyPr wrap="square" lIns="0" tIns="0" rIns="0" bIns="0" anchor="t">
            <a:noAutofit/>
          </a:bodyPr>
          <a:lstStyle/>
          <a:p>
            <a:pPr algn="ctr">
              <a:lnSpc>
                <a:spcPts val="1359"/>
              </a:lnSpc>
            </a:pPr>
            <a:r>
              <a:rPr lang="ko-KR" sz="1045" b="1">
                <a:solidFill>
                  <a:srgbClr val="FFFFFF"/>
                </a:solidFill>
                <a:latin typeface="Arial"/>
                <a:ea typeface="Malgun Gothic"/>
                <a:cs typeface="Arial"/>
              </a:rPr>
              <a:t xml:space="preserve">C</a:t>
            </a:r>
            <a:endParaRPr lang="ko-KR" sz="1045"/>
          </a:p>
        </p:txBody>
      </p:sp>
      <p:sp>
        <p:nvSpPr>
          <p:cNvPr id="19" name="Text 19"/>
          <p:cNvSpPr txBox="1"/>
          <p:nvPr/>
        </p:nvSpPr>
        <p:spPr>
          <a:xfrm>
            <a:off x="615950" y="3663950"/>
            <a:ext cx="2654300" cy="174625"/>
          </a:xfrm>
          <a:prstGeom prst="rect">
            <a:avLst/>
          </a:prstGeom>
          <a:noFill/>
          <a:ln>
            <a:noFill/>
          </a:ln>
        </p:spPr>
        <p:txBody>
          <a:bodyPr wrap="square" lIns="0" tIns="0" rIns="0" bIns="0" anchor="t">
            <a:noAutofit/>
          </a:bodyPr>
          <a:lstStyle/>
          <a:p>
            <a:pPr algn="ctr">
              <a:lnSpc>
                <a:spcPts val="1072"/>
              </a:lnSpc>
            </a:pPr>
            <a:r>
              <a:rPr lang="ko-KR" sz="825" b="0">
                <a:solidFill>
                  <a:srgbClr val="566979"/>
                </a:solidFill>
                <a:latin typeface="Arial"/>
                <a:ea typeface="Malgun Gothic"/>
                <a:cs typeface="Arial"/>
              </a:rPr>
              <a:t xml:space="preserve">A를 먼저 출력 → B와 C가 후보</a:t>
            </a:r>
            <a:endParaRPr lang="ko-KR" sz="825"/>
          </a:p>
        </p:txBody>
      </p:sp>
      <p:sp>
        <p:nvSpPr>
          <p:cNvPr id="20" name="Text 20"/>
          <p:cNvSpPr txBox="1"/>
          <p:nvPr/>
        </p:nvSpPr>
        <p:spPr>
          <a:xfrm>
            <a:off x="571500" y="4127500"/>
            <a:ext cx="3683000" cy="161290"/>
          </a:xfrm>
          <a:prstGeom prst="rect">
            <a:avLst/>
          </a:prstGeom>
          <a:noFill/>
          <a:ln>
            <a:noFill/>
          </a:ln>
        </p:spPr>
        <p:txBody>
          <a:bodyPr wrap="square" lIns="0" tIns="0" rIns="0" bIns="0" anchor="t">
            <a:noAutofit/>
          </a:bodyPr>
          <a:lstStyle/>
          <a:p>
            <a:pPr algn="l">
              <a:lnSpc>
                <a:spcPts val="1170"/>
              </a:lnSpc>
            </a:pPr>
            <a:r>
              <a:rPr lang="ko-KR" sz="900" b="1">
                <a:solidFill>
                  <a:srgbClr val="168B82"/>
                </a:solidFill>
                <a:latin typeface="Arial"/>
                <a:ea typeface="Malgun Gothic"/>
                <a:cs typeface="Arial"/>
              </a:rPr>
              <a:t xml:space="preserve">Kahn 알고리즘의 세 단계</a:t>
            </a:r>
            <a:endParaRPr lang="ko-KR" sz="900"/>
          </a:p>
        </p:txBody>
      </p:sp>
      <p:sp>
        <p:nvSpPr>
          <p:cNvPr id="21" name="Text 21"/>
          <p:cNvSpPr txBox="1"/>
          <p:nvPr/>
        </p:nvSpPr>
        <p:spPr>
          <a:xfrm>
            <a:off x="571500" y="4339590"/>
            <a:ext cx="3683000" cy="309880"/>
          </a:xfrm>
          <a:prstGeom prst="rect">
            <a:avLst/>
          </a:prstGeom>
          <a:noFill/>
          <a:ln>
            <a:noFill/>
          </a:ln>
        </p:spPr>
        <p:txBody>
          <a:bodyPr wrap="square" lIns="0" tIns="0" rIns="0" bIns="0" anchor="t">
            <a:noAutofit/>
          </a:bodyPr>
          <a:lstStyle/>
          <a:p>
            <a:pPr algn="l">
              <a:lnSpc>
                <a:spcPts val="1170"/>
              </a:lnSpc>
            </a:pPr>
            <a:r>
              <a:rPr lang="ko-KR" sz="900" b="0">
                <a:solidFill>
                  <a:srgbClr val="142536"/>
                </a:solidFill>
                <a:latin typeface="Arial"/>
                <a:ea typeface="Malgun Gothic"/>
                <a:cs typeface="Arial"/>
              </a:rPr>
              <a:t xml:space="preserve">1. 남은 부모 수를 센다: A=0, B=1, C=1 2. A를 출력하고 B·C의 수를 0으로 줄인다</a:t>
            </a:r>
            <a:endParaRPr lang="ko-KR" sz="900"/>
          </a:p>
          <a:p>
            <a:pPr algn="l">
              <a:lnSpc>
                <a:spcPts val="1170"/>
              </a:lnSpc>
            </a:pPr>
            <a:r>
              <a:rPr lang="ko-KR" sz="900" b="0">
                <a:solidFill>
                  <a:srgbClr val="142536"/>
                </a:solidFill>
                <a:latin typeface="Arial"/>
                <a:ea typeface="Malgun Gothic"/>
                <a:cs typeface="Arial"/>
              </a:rPr>
              <a:t xml:space="preserve">3. 큐에 들어온 B·C를 차례로 출력한다</a:t>
            </a:r>
            <a:endParaRPr lang="ko-KR" sz="900"/>
          </a:p>
        </p:txBody>
      </p:sp>
      <p:sp>
        <p:nvSpPr>
          <p:cNvPr id="22" name="Text 22"/>
          <p:cNvSpPr txBox="1"/>
          <p:nvPr/>
        </p:nvSpPr>
        <p:spPr>
          <a:xfrm>
            <a:off x="571500" y="4700270"/>
            <a:ext cx="3683000" cy="161290"/>
          </a:xfrm>
          <a:prstGeom prst="rect">
            <a:avLst/>
          </a:prstGeom>
          <a:noFill/>
          <a:ln>
            <a:noFill/>
          </a:ln>
        </p:spPr>
        <p:txBody>
          <a:bodyPr wrap="square" lIns="0" tIns="0" rIns="0" bIns="0" anchor="t">
            <a:noAutofit/>
          </a:bodyPr>
          <a:lstStyle/>
          <a:p>
            <a:pPr algn="l">
              <a:lnSpc>
                <a:spcPts val="1170"/>
              </a:lnSpc>
            </a:pPr>
            <a:r>
              <a:rPr lang="ko-KR" sz="900" b="1">
                <a:solidFill>
                  <a:srgbClr val="168B82"/>
                </a:solidFill>
                <a:latin typeface="Arial"/>
                <a:ea typeface="Malgun Gothic"/>
                <a:cs typeface="Arial"/>
              </a:rPr>
              <a:t xml:space="preserve">출력 예</a:t>
            </a:r>
            <a:endParaRPr lang="ko-KR" sz="900"/>
          </a:p>
        </p:txBody>
      </p:sp>
      <p:sp>
        <p:nvSpPr>
          <p:cNvPr id="23" name="Text 23"/>
          <p:cNvSpPr txBox="1"/>
          <p:nvPr/>
        </p:nvSpPr>
        <p:spPr>
          <a:xfrm>
            <a:off x="571500" y="4912360"/>
            <a:ext cx="3683000" cy="161290"/>
          </a:xfrm>
          <a:prstGeom prst="rect">
            <a:avLst/>
          </a:prstGeom>
          <a:noFill/>
          <a:ln>
            <a:noFill/>
          </a:ln>
        </p:spPr>
        <p:txBody>
          <a:bodyPr wrap="square" lIns="0" tIns="0" rIns="0" bIns="0" anchor="t">
            <a:noAutofit/>
          </a:bodyPr>
          <a:lstStyle/>
          <a:p>
            <a:pPr algn="l">
              <a:lnSpc>
                <a:spcPts val="1170"/>
              </a:lnSpc>
            </a:pPr>
            <a:r>
              <a:rPr lang="ko-KR" sz="900" b="0">
                <a:solidFill>
                  <a:srgbClr val="142536"/>
                </a:solidFill>
                <a:latin typeface="Arial"/>
                <a:ea typeface="Malgun Gothic"/>
                <a:cs typeface="Arial"/>
              </a:rPr>
              <a:t xml:space="preserve">A → B → C A는 반드시 두 자식보다 먼저 B·C 사이의 순서는 FIFO 큐</a:t>
            </a:r>
            <a:endParaRPr lang="ko-KR" sz="900"/>
          </a:p>
        </p:txBody>
      </p:sp>
      <p:sp>
        <p:nvSpPr>
          <p:cNvPr id="24" name="Text 24"/>
          <p:cNvSpPr txBox="1"/>
          <p:nvPr/>
        </p:nvSpPr>
        <p:spPr>
          <a:xfrm>
            <a:off x="571500" y="5124450"/>
            <a:ext cx="3683000" cy="161290"/>
          </a:xfrm>
          <a:prstGeom prst="rect">
            <a:avLst/>
          </a:prstGeom>
          <a:noFill/>
          <a:ln>
            <a:noFill/>
          </a:ln>
        </p:spPr>
        <p:txBody>
          <a:bodyPr wrap="square" lIns="0" tIns="0" rIns="0" bIns="0" anchor="t">
            <a:noAutofit/>
          </a:bodyPr>
          <a:lstStyle/>
          <a:p>
            <a:pPr algn="l">
              <a:lnSpc>
                <a:spcPts val="1170"/>
              </a:lnSpc>
            </a:pPr>
            <a:r>
              <a:rPr lang="ko-KR" sz="900" b="1">
                <a:solidFill>
                  <a:srgbClr val="168B82"/>
                </a:solidFill>
                <a:latin typeface="Arial"/>
                <a:ea typeface="Malgun Gothic"/>
                <a:cs typeface="Arial"/>
              </a:rPr>
              <a:t xml:space="preserve">방향 구분</a:t>
            </a:r>
            <a:endParaRPr lang="ko-KR" sz="900"/>
          </a:p>
        </p:txBody>
      </p:sp>
      <p:sp>
        <p:nvSpPr>
          <p:cNvPr id="25" name="Text 25"/>
          <p:cNvSpPr txBox="1"/>
          <p:nvPr/>
        </p:nvSpPr>
        <p:spPr>
          <a:xfrm>
            <a:off x="571500" y="5336540"/>
            <a:ext cx="3683000" cy="161290"/>
          </a:xfrm>
          <a:prstGeom prst="rect">
            <a:avLst/>
          </a:prstGeom>
          <a:noFill/>
          <a:ln>
            <a:noFill/>
          </a:ln>
        </p:spPr>
        <p:txBody>
          <a:bodyPr wrap="square" lIns="0" tIns="0" rIns="0" bIns="0" anchor="t">
            <a:noAutofit/>
          </a:bodyPr>
          <a:lstStyle/>
          <a:p>
            <a:pPr algn="l">
              <a:lnSpc>
                <a:spcPts val="1170"/>
              </a:lnSpc>
            </a:pPr>
            <a:r>
              <a:rPr lang="ko-KR" sz="900" b="0">
                <a:solidFill>
                  <a:srgbClr val="142536"/>
                </a:solidFill>
                <a:latin typeface="Arial"/>
                <a:ea typeface="Malgun Gothic"/>
                <a:cs typeface="Arial"/>
              </a:rPr>
              <a:t xml:space="preserve">저장 참조: 자식 → 부모 LOG 계산: 부모 → 자식으로 뒤집어 처리</a:t>
            </a:r>
            <a:endParaRPr lang="ko-KR" sz="900"/>
          </a:p>
        </p:txBody>
      </p:sp>
      <p:sp>
        <p:nvSpPr>
          <p:cNvPr id="26" name="Text 26"/>
          <p:cNvSpPr txBox="1"/>
          <p:nvPr/>
        </p:nvSpPr>
        <p:spPr>
          <a:xfrm>
            <a:off x="571500" y="5548630"/>
            <a:ext cx="3683000" cy="161290"/>
          </a:xfrm>
          <a:prstGeom prst="rect">
            <a:avLst/>
          </a:prstGeom>
          <a:noFill/>
          <a:ln>
            <a:noFill/>
          </a:ln>
        </p:spPr>
        <p:txBody>
          <a:bodyPr wrap="square" lIns="0" tIns="0" rIns="0" bIns="0" anchor="t">
            <a:noAutofit/>
          </a:bodyPr>
          <a:lstStyle/>
          <a:p>
            <a:pPr algn="l">
              <a:lnSpc>
                <a:spcPts val="1170"/>
              </a:lnSpc>
            </a:pPr>
            <a:r>
              <a:rPr lang="ko-KR" sz="900" b="1">
                <a:solidFill>
                  <a:srgbClr val="168B82"/>
                </a:solidFill>
                <a:latin typeface="Arial"/>
                <a:ea typeface="Malgun Gothic"/>
                <a:cs typeface="Arial"/>
              </a:rPr>
              <a:t xml:space="preserve">실행 확인 · mini-git&gt; · 5페이지 실습 후</a:t>
            </a:r>
            <a:endParaRPr lang="ko-KR" sz="900"/>
          </a:p>
        </p:txBody>
      </p:sp>
      <p:sp>
        <p:nvSpPr>
          <p:cNvPr id="27" name="Text 27"/>
          <p:cNvSpPr txBox="1"/>
          <p:nvPr/>
        </p:nvSpPr>
        <p:spPr>
          <a:xfrm>
            <a:off x="571500" y="5760720"/>
            <a:ext cx="3683000" cy="161290"/>
          </a:xfrm>
          <a:prstGeom prst="rect">
            <a:avLst/>
          </a:prstGeom>
          <a:noFill/>
          <a:ln>
            <a:noFill/>
          </a:ln>
        </p:spPr>
        <p:txBody>
          <a:bodyPr wrap="square" lIns="0" tIns="0" rIns="0" bIns="0" anchor="t">
            <a:noAutofit/>
          </a:bodyPr>
          <a:lstStyle/>
          <a:p>
            <a:pPr algn="l">
              <a:lnSpc>
                <a:spcPts val="1170"/>
              </a:lnSpc>
            </a:pPr>
            <a:r>
              <a:rPr lang="ko-KR" sz="900" b="0">
                <a:solidFill>
                  <a:srgbClr val="142536"/>
                </a:solidFill>
                <a:latin typeface="Menlo"/>
                <a:ea typeface="Malgun Gothic"/>
                <a:cs typeface="Arial"/>
              </a:rPr>
              <a:t xml:space="preserve">LOG</a:t>
            </a:r>
            <a:endParaRPr lang="ko-KR" sz="900"/>
          </a:p>
        </p:txBody>
      </p:sp>
      <p:sp>
        <p:nvSpPr>
          <p:cNvPr id="28" name="Text 28"/>
          <p:cNvSpPr txBox="1"/>
          <p:nvPr/>
        </p:nvSpPr>
        <p:spPr>
          <a:xfrm>
            <a:off x="571500" y="5972810"/>
            <a:ext cx="3683000" cy="161290"/>
          </a:xfrm>
          <a:prstGeom prst="rect">
            <a:avLst/>
          </a:prstGeom>
          <a:noFill/>
          <a:ln>
            <a:noFill/>
          </a:ln>
        </p:spPr>
        <p:txBody>
          <a:bodyPr wrap="square" lIns="0" tIns="0" rIns="0" bIns="0" anchor="t">
            <a:noAutofit/>
          </a:bodyPr>
          <a:lstStyle/>
          <a:p>
            <a:pPr algn="l">
              <a:lnSpc>
                <a:spcPts val="1170"/>
              </a:lnSpc>
            </a:pPr>
            <a:r>
              <a:rPr lang="ko-KR" sz="900" b="0">
                <a:solidFill>
                  <a:srgbClr val="142536"/>
                </a:solidFill>
                <a:latin typeface="Arial"/>
                <a:ea typeface="Malgun Gothic"/>
                <a:cs typeface="Arial"/>
              </a:rPr>
              <a:t xml:space="preserve">확인: Initial이 Login·Payment보다 먼저 출력</a:t>
            </a:r>
            <a:endParaRPr lang="ko-KR" sz="900"/>
          </a:p>
        </p:txBody>
      </p:sp>
      <p:sp>
        <p:nvSpPr>
          <p:cNvPr id="29" name="Text 29"/>
          <p:cNvSpPr txBox="1"/>
          <p:nvPr/>
        </p:nvSpPr>
        <p:spPr>
          <a:xfrm>
            <a:off x="4508500" y="1809750"/>
            <a:ext cx="3498850" cy="483235"/>
          </a:xfrm>
          <a:prstGeom prst="rect">
            <a:avLst/>
          </a:prstGeom>
          <a:noFill/>
          <a:ln>
            <a:noFill/>
          </a:ln>
        </p:spPr>
        <p:txBody>
          <a:bodyPr wrap="square" lIns="0" tIns="0" rIns="0" bIns="0" anchor="t">
            <a:noAutofit/>
          </a:bodyPr>
          <a:lstStyle/>
          <a:p>
            <a:pPr algn="l">
              <a:lnSpc>
                <a:spcPts val="1235"/>
              </a:lnSpc>
            </a:pPr>
            <a:r>
              <a:rPr lang="ko-KR" sz="950" b="0">
                <a:solidFill>
                  <a:srgbClr val="142536"/>
                </a:solidFill>
                <a:latin typeface="Arial"/>
                <a:ea typeface="Malgun Gothic"/>
                <a:cs typeface="Arial"/>
              </a:rPr>
              <a:t xml:space="preserve">traversal.topological_order는 Kahn의 알고리즘을 씁니다. 커밋의 부모 참</a:t>
            </a:r>
            <a:endParaRPr lang="ko-KR" sz="950"/>
          </a:p>
          <a:p>
            <a:pPr algn="l">
              <a:lnSpc>
                <a:spcPts val="1235"/>
              </a:lnSpc>
            </a:pPr>
            <a:r>
              <a:rPr lang="ko-KR" sz="950" b="0">
                <a:solidFill>
                  <a:srgbClr val="142536"/>
                </a:solidFill>
                <a:latin typeface="Arial"/>
                <a:ea typeface="Malgun Gothic"/>
                <a:cs typeface="Arial"/>
              </a:rPr>
              <a:t xml:space="preserve">조(자식→부모)를 뒤집어 부모→자식 간선으로 처리 하므로 부모 수가 이 그래</a:t>
            </a:r>
            <a:endParaRPr lang="ko-KR" sz="950"/>
          </a:p>
          <a:p>
            <a:pPr algn="l">
              <a:lnSpc>
                <a:spcPts val="1235"/>
              </a:lnSpc>
            </a:pPr>
            <a:r>
              <a:rPr lang="ko-KR" sz="950" b="0">
                <a:solidFill>
                  <a:srgbClr val="142536"/>
                </a:solidFill>
                <a:latin typeface="Arial"/>
                <a:ea typeface="Malgun Gothic"/>
                <a:cs typeface="Arial"/>
              </a:rPr>
              <a:t xml:space="preserve">프의 진입차수가 됩니다.</a:t>
            </a:r>
            <a:endParaRPr lang="ko-KR" sz="950"/>
          </a:p>
        </p:txBody>
      </p:sp>
      <p:sp>
        <p:nvSpPr>
          <p:cNvPr id="30" name="Text 30"/>
          <p:cNvSpPr txBox="1"/>
          <p:nvPr/>
        </p:nvSpPr>
        <p:spPr>
          <a:xfrm>
            <a:off x="4508500" y="2343785"/>
            <a:ext cx="3498850" cy="2365375"/>
          </a:xfrm>
          <a:prstGeom prst="rect">
            <a:avLst/>
          </a:prstGeom>
          <a:noFill/>
          <a:ln>
            <a:noFill/>
          </a:ln>
        </p:spPr>
        <p:txBody>
          <a:bodyPr wrap="square" lIns="0" tIns="0" rIns="0" bIns="0" anchor="t">
            <a:noAutofit/>
          </a:bodyPr>
          <a:lstStyle/>
          <a:p>
            <a:pPr algn="l">
              <a:lnSpc>
                <a:spcPts val="1235"/>
              </a:lnSpc>
            </a:pPr>
            <a:r>
              <a:rPr lang="ko-KR" sz="950" b="0">
                <a:solidFill>
                  <a:srgbClr val="142536"/>
                </a:solidFill>
                <a:latin typeface="Menlo"/>
                <a:ea typeface="Malgun Gothic"/>
                <a:cs typeface="Arial"/>
              </a:rPr>
              <a:t xml:space="preserve">in_degree = {h: len(c.parents) for h, c in commits.items()}</a:t>
            </a:r>
            <a:endParaRPr lang="ko-KR" sz="950"/>
          </a:p>
          <a:p>
            <a:pPr algn="l">
              <a:lnSpc>
                <a:spcPts val="1235"/>
              </a:lnSpc>
            </a:pPr>
            <a:r>
              <a:rPr lang="ko-KR" sz="950" b="0">
                <a:solidFill>
                  <a:srgbClr val="142536"/>
                </a:solidFill>
                <a:latin typeface="Menlo"/>
                <a:ea typeface="Malgun Gothic"/>
                <a:cs typeface="Arial"/>
              </a:rPr>
              <a:t xml:space="preserve">children = {h: [] for h in commits}</a:t>
            </a:r>
            <a:endParaRPr lang="ko-KR" sz="950"/>
          </a:p>
          <a:p>
            <a:pPr algn="l">
              <a:lnSpc>
                <a:spcPts val="1235"/>
              </a:lnSpc>
            </a:pPr>
            <a:r>
              <a:rPr lang="ko-KR" sz="950" b="0">
                <a:solidFill>
                  <a:srgbClr val="142536"/>
                </a:solidFill>
                <a:latin typeface="Menlo"/>
                <a:ea typeface="Malgun Gothic"/>
                <a:cs typeface="Arial"/>
              </a:rPr>
              <a:t xml:space="preserve">for h, c in commits.items():</a:t>
            </a:r>
            <a:endParaRPr lang="ko-KR" sz="950"/>
          </a:p>
          <a:p>
            <a:pPr algn="l">
              <a:lnSpc>
                <a:spcPts val="1235"/>
              </a:lnSpc>
            </a:pPr>
            <a:r>
              <a:rPr lang="ko-KR" sz="950" b="0">
                <a:solidFill>
                  <a:srgbClr val="142536"/>
                </a:solidFill>
                <a:latin typeface="Menlo"/>
                <a:ea typeface="Malgun Gothic"/>
                <a:cs typeface="Arial"/>
              </a:rPr>
              <a:t xml:space="preserve">    for p in c.parents:</a:t>
            </a:r>
            <a:endParaRPr lang="ko-KR" sz="950"/>
          </a:p>
          <a:p>
            <a:pPr algn="l">
              <a:lnSpc>
                <a:spcPts val="1235"/>
              </a:lnSpc>
            </a:pPr>
            <a:r>
              <a:rPr lang="ko-KR" sz="950" b="0">
                <a:solidFill>
                  <a:srgbClr val="142536"/>
                </a:solidFill>
                <a:latin typeface="Menlo"/>
                <a:ea typeface="Malgun Gothic"/>
                <a:cs typeface="Arial"/>
              </a:rPr>
              <a:t xml:space="preserve">        children[p].append(h)</a:t>
            </a:r>
            <a:endParaRPr lang="ko-KR" sz="950"/>
          </a:p>
          <a:p>
            <a:pPr algn="l">
              <a:lnSpc>
                <a:spcPts val="1235"/>
              </a:lnSpc>
            </a:pPr>
            <a:r>
              <a:rPr lang="ko-KR" sz="950" b="0">
                <a:solidFill>
                  <a:srgbClr val="142536"/>
                </a:solidFill>
                <a:latin typeface="Menlo"/>
                <a:ea typeface="Malgun Gothic"/>
                <a:cs typeface="Arial"/>
              </a:rPr>
              <a:t xml:space="preserve"/>
            </a:r>
            <a:endParaRPr lang="ko-KR" sz="950"/>
          </a:p>
          <a:p>
            <a:pPr algn="l">
              <a:lnSpc>
                <a:spcPts val="1235"/>
              </a:lnSpc>
            </a:pPr>
            <a:r>
              <a:rPr lang="ko-KR" sz="950" b="0">
                <a:solidFill>
                  <a:srgbClr val="142536"/>
                </a:solidFill>
                <a:latin typeface="Menlo"/>
                <a:ea typeface="Malgun Gothic"/>
                <a:cs typeface="Arial"/>
              </a:rPr>
              <a:t xml:space="preserve">queue = [h for h in commits if in_degree[h] == 0]  # 부모 없는 커밋부터</a:t>
            </a:r>
            <a:endParaRPr lang="ko-KR" sz="950"/>
          </a:p>
          <a:p>
            <a:pPr algn="l">
              <a:lnSpc>
                <a:spcPts val="1235"/>
              </a:lnSpc>
            </a:pPr>
            <a:r>
              <a:rPr lang="ko-KR" sz="950" b="0">
                <a:solidFill>
                  <a:srgbClr val="142536"/>
                </a:solidFill>
                <a:latin typeface="Menlo"/>
                <a:ea typeface="Malgun Gothic"/>
                <a:cs typeface="Arial"/>
              </a:rPr>
              <a:t xml:space="preserve">시작</a:t>
            </a:r>
            <a:endParaRPr lang="ko-KR" sz="950"/>
          </a:p>
          <a:p>
            <a:pPr algn="l">
              <a:lnSpc>
                <a:spcPts val="1235"/>
              </a:lnSpc>
            </a:pPr>
            <a:r>
              <a:rPr lang="ko-KR" sz="950" b="0">
                <a:solidFill>
                  <a:srgbClr val="142536"/>
                </a:solidFill>
                <a:latin typeface="Menlo"/>
                <a:ea typeface="Malgun Gothic"/>
                <a:cs typeface="Arial"/>
              </a:rPr>
              <a:t xml:space="preserve">result = []</a:t>
            </a:r>
            <a:endParaRPr lang="ko-KR" sz="950"/>
          </a:p>
          <a:p>
            <a:pPr algn="l">
              <a:lnSpc>
                <a:spcPts val="1235"/>
              </a:lnSpc>
            </a:pPr>
            <a:r>
              <a:rPr lang="ko-KR" sz="950" b="0">
                <a:solidFill>
                  <a:srgbClr val="142536"/>
                </a:solidFill>
                <a:latin typeface="Menlo"/>
                <a:ea typeface="Malgun Gothic"/>
                <a:cs typeface="Arial"/>
              </a:rPr>
              <a:t xml:space="preserve">head = 0</a:t>
            </a:r>
            <a:endParaRPr lang="ko-KR" sz="950"/>
          </a:p>
          <a:p>
            <a:pPr algn="l">
              <a:lnSpc>
                <a:spcPts val="1235"/>
              </a:lnSpc>
            </a:pPr>
            <a:r>
              <a:rPr lang="ko-KR" sz="950" b="0">
                <a:solidFill>
                  <a:srgbClr val="142536"/>
                </a:solidFill>
                <a:latin typeface="Menlo"/>
                <a:ea typeface="Malgun Gothic"/>
                <a:cs typeface="Arial"/>
              </a:rPr>
              <a:t xml:space="preserve">while head &lt; len(queue):</a:t>
            </a:r>
            <a:endParaRPr lang="ko-KR" sz="950"/>
          </a:p>
          <a:p>
            <a:pPr algn="l">
              <a:lnSpc>
                <a:spcPts val="1235"/>
              </a:lnSpc>
            </a:pPr>
            <a:r>
              <a:rPr lang="ko-KR" sz="950" b="0">
                <a:solidFill>
                  <a:srgbClr val="142536"/>
                </a:solidFill>
                <a:latin typeface="Menlo"/>
                <a:ea typeface="Malgun Gothic"/>
                <a:cs typeface="Arial"/>
              </a:rPr>
              <a:t xml:space="preserve">    current = queue[head]</a:t>
            </a:r>
            <a:endParaRPr lang="ko-KR" sz="950"/>
          </a:p>
          <a:p>
            <a:pPr algn="l">
              <a:lnSpc>
                <a:spcPts val="1235"/>
              </a:lnSpc>
            </a:pPr>
            <a:r>
              <a:rPr lang="ko-KR" sz="950" b="0">
                <a:solidFill>
                  <a:srgbClr val="142536"/>
                </a:solidFill>
                <a:latin typeface="Menlo"/>
                <a:ea typeface="Malgun Gothic"/>
                <a:cs typeface="Arial"/>
              </a:rPr>
              <a:t xml:space="preserve">    head += 1</a:t>
            </a:r>
            <a:endParaRPr lang="ko-KR" sz="950"/>
          </a:p>
          <a:p>
            <a:pPr algn="l">
              <a:lnSpc>
                <a:spcPts val="1235"/>
              </a:lnSpc>
            </a:pPr>
            <a:r>
              <a:rPr lang="ko-KR" sz="950" b="0">
                <a:solidFill>
                  <a:srgbClr val="142536"/>
                </a:solidFill>
                <a:latin typeface="Menlo"/>
                <a:ea typeface="Malgun Gothic"/>
                <a:cs typeface="Arial"/>
              </a:rPr>
              <a:t xml:space="preserve">    result.append(current)</a:t>
            </a:r>
            <a:endParaRPr lang="ko-KR" sz="950"/>
          </a:p>
          <a:p>
            <a:pPr algn="l">
              <a:lnSpc>
                <a:spcPts val="1235"/>
              </a:lnSpc>
            </a:pPr>
            <a:r>
              <a:rPr lang="ko-KR" sz="950" b="0">
                <a:solidFill>
                  <a:srgbClr val="142536"/>
                </a:solidFill>
                <a:latin typeface="Menlo"/>
                <a:ea typeface="Malgun Gothic"/>
                <a:cs typeface="Arial"/>
              </a:rPr>
              <a:t xml:space="preserve">    for child in children[current]:</a:t>
            </a:r>
            <a:endParaRPr lang="ko-KR" sz="950"/>
          </a:p>
        </p:txBody>
      </p:sp>
      <p:sp>
        <p:nvSpPr>
          <p:cNvPr id="31" name="Text 31"/>
          <p:cNvSpPr txBox="1"/>
          <p:nvPr/>
        </p:nvSpPr>
        <p:spPr>
          <a:xfrm>
            <a:off x="4508500" y="4759960"/>
            <a:ext cx="3498850" cy="483235"/>
          </a:xfrm>
          <a:prstGeom prst="rect">
            <a:avLst/>
          </a:prstGeom>
          <a:noFill/>
          <a:ln>
            <a:noFill/>
          </a:ln>
        </p:spPr>
        <p:txBody>
          <a:bodyPr wrap="square" lIns="0" tIns="0" rIns="0" bIns="0" anchor="t">
            <a:noAutofit/>
          </a:bodyPr>
          <a:lstStyle/>
          <a:p>
            <a:pPr algn="l">
              <a:lnSpc>
                <a:spcPts val="1235"/>
              </a:lnSpc>
            </a:pPr>
            <a:r>
              <a:rPr lang="ko-KR" sz="950" b="0">
                <a:solidFill>
                  <a:srgbClr val="142536"/>
                </a:solidFill>
                <a:latin typeface="Menlo"/>
                <a:ea typeface="Malgun Gothic"/>
                <a:cs typeface="Arial"/>
              </a:rPr>
              <a:t xml:space="preserve">        in_degree[child] -= 1</a:t>
            </a:r>
            <a:endParaRPr lang="ko-KR" sz="950"/>
          </a:p>
          <a:p>
            <a:pPr algn="l">
              <a:lnSpc>
                <a:spcPts val="1235"/>
              </a:lnSpc>
            </a:pPr>
            <a:r>
              <a:rPr lang="ko-KR" sz="950" b="0">
                <a:solidFill>
                  <a:srgbClr val="142536"/>
                </a:solidFill>
                <a:latin typeface="Menlo"/>
                <a:ea typeface="Malgun Gothic"/>
                <a:cs typeface="Arial"/>
              </a:rPr>
              <a:t xml:space="preserve">        if in_degree[child] == 0:</a:t>
            </a:r>
            <a:endParaRPr lang="ko-KR" sz="950"/>
          </a:p>
          <a:p>
            <a:pPr algn="l">
              <a:lnSpc>
                <a:spcPts val="1235"/>
              </a:lnSpc>
            </a:pPr>
            <a:r>
              <a:rPr lang="ko-KR" sz="950" b="0">
                <a:solidFill>
                  <a:srgbClr val="142536"/>
                </a:solidFill>
                <a:latin typeface="Menlo"/>
                <a:ea typeface="Malgun Gothic"/>
                <a:cs typeface="Arial"/>
              </a:rPr>
              <a:t xml:space="preserve">            queue.append(child)</a:t>
            </a:r>
            <a:endParaRPr lang="ko-KR" sz="950"/>
          </a:p>
        </p:txBody>
      </p:sp>
      <p:sp>
        <p:nvSpPr>
          <p:cNvPr id="32" name="Text 32"/>
          <p:cNvSpPr txBox="1"/>
          <p:nvPr/>
        </p:nvSpPr>
        <p:spPr>
          <a:xfrm>
            <a:off x="4508500" y="5293995"/>
            <a:ext cx="3498850" cy="796925"/>
          </a:xfrm>
          <a:prstGeom prst="rect">
            <a:avLst/>
          </a:prstGeom>
          <a:noFill/>
          <a:ln>
            <a:noFill/>
          </a:ln>
        </p:spPr>
        <p:txBody>
          <a:bodyPr wrap="square" lIns="0" tIns="0" rIns="0" bIns="0" anchor="t">
            <a:noAutofit/>
          </a:bodyPr>
          <a:lstStyle/>
          <a:p>
            <a:pPr algn="l">
              <a:lnSpc>
                <a:spcPts val="1235"/>
              </a:lnSpc>
            </a:pPr>
            <a:r>
              <a:rPr lang="ko-KR" sz="950" b="0">
                <a:solidFill>
                  <a:srgbClr val="142536"/>
                </a:solidFill>
                <a:latin typeface="Arial"/>
                <a:ea typeface="Malgun Gothic"/>
                <a:cs typeface="Arial"/>
              </a:rPr>
              <a:t xml:space="preserve">아주 쉬운 설명: "진입차수"는 "이 커밋을 출력하기 전에 먼저 출력돼야 하는</a:t>
            </a:r>
            <a:endParaRPr lang="ko-KR" sz="950"/>
          </a:p>
          <a:p>
            <a:pPr algn="l">
              <a:lnSpc>
                <a:spcPts val="1235"/>
              </a:lnSpc>
            </a:pPr>
            <a:r>
              <a:rPr lang="ko-KR" sz="950" b="0">
                <a:solidFill>
                  <a:srgbClr val="142536"/>
                </a:solidFill>
                <a:latin typeface="Arial"/>
                <a:ea typeface="Malgun Gothic"/>
                <a:cs typeface="Arial"/>
              </a:rPr>
              <a:t xml:space="preserve">다른 커밋이 몇 개 남았는가"입니다(= 아직 안 나온 부모의 수). 부모가 0개인</a:t>
            </a:r>
            <a:endParaRPr lang="ko-KR" sz="950"/>
          </a:p>
          <a:p>
            <a:pPr algn="l">
              <a:lnSpc>
                <a:spcPts val="1235"/>
              </a:lnSpc>
            </a:pPr>
            <a:r>
              <a:rPr lang="ko-KR" sz="950" b="0">
                <a:solidFill>
                  <a:srgbClr val="142536"/>
                </a:solidFill>
                <a:latin typeface="Arial"/>
                <a:ea typeface="Malgun Gothic"/>
                <a:cs typeface="Arial"/>
              </a:rPr>
              <a:t xml:space="preserve">커밋(뿌리)부터 출력 후보에 넣고, 하나를 출력할 때마다 그 커밋을 부모로 둔</a:t>
            </a:r>
            <a:endParaRPr lang="ko-KR" sz="950"/>
          </a:p>
          <a:p>
            <a:pPr algn="l">
              <a:lnSpc>
                <a:spcPts val="1235"/>
              </a:lnSpc>
            </a:pPr>
            <a:r>
              <a:rPr lang="ko-KR" sz="950" b="0">
                <a:solidFill>
                  <a:srgbClr val="142536"/>
                </a:solidFill>
                <a:latin typeface="Arial"/>
                <a:ea typeface="Malgun Gothic"/>
                <a:cs typeface="Arial"/>
              </a:rPr>
              <a:t xml:space="preserve">자식들의 "남은 부모 수" 를 하나씩 지웁니다. 0이 되는 순간 그 자식도 이제</a:t>
            </a:r>
            <a:endParaRPr lang="ko-KR" sz="950"/>
          </a:p>
          <a:p>
            <a:pPr algn="l">
              <a:lnSpc>
                <a:spcPts val="1235"/>
              </a:lnSpc>
            </a:pPr>
            <a:r>
              <a:rPr lang="ko-KR" sz="950" b="0">
                <a:solidFill>
                  <a:srgbClr val="142536"/>
                </a:solidFill>
                <a:latin typeface="Arial"/>
                <a:ea typeface="Malgun Gothic"/>
                <a:cs typeface="Arial"/>
              </a:rPr>
              <a:t xml:space="preserve">출력해도 되는 상태가 되어 후보에 추가됩니다. 이 과정을 반복하면 "부모가</a:t>
            </a:r>
            <a:endParaRPr lang="ko-KR" sz="950"/>
          </a:p>
        </p:txBody>
      </p:sp>
      <p:sp>
        <p:nvSpPr>
          <p:cNvPr id="33" name="Text 33"/>
          <p:cNvSpPr txBox="1"/>
          <p:nvPr/>
        </p:nvSpPr>
        <p:spPr>
          <a:xfrm>
            <a:off x="8185150" y="1809750"/>
            <a:ext cx="3498850" cy="169545"/>
          </a:xfrm>
          <a:prstGeom prst="rect">
            <a:avLst/>
          </a:prstGeom>
          <a:noFill/>
          <a:ln>
            <a:noFill/>
          </a:ln>
        </p:spPr>
        <p:txBody>
          <a:bodyPr wrap="square" lIns="0" tIns="0" rIns="0" bIns="0" anchor="t">
            <a:noAutofit/>
          </a:bodyPr>
          <a:lstStyle/>
          <a:p>
            <a:pPr algn="l">
              <a:lnSpc>
                <a:spcPts val="1235"/>
              </a:lnSpc>
            </a:pPr>
            <a:r>
              <a:rPr lang="ko-KR" sz="950" b="0">
                <a:solidFill>
                  <a:srgbClr val="142536"/>
                </a:solidFill>
                <a:latin typeface="Arial"/>
                <a:ea typeface="Malgun Gothic"/>
                <a:cs typeface="Arial"/>
              </a:rPr>
              <a:t xml:space="preserve">항상 자식보다 먼저 나오는" 순서가 자연스럽게 만들어집니다.</a:t>
            </a:r>
            <a:endParaRPr lang="ko-KR" sz="950"/>
          </a:p>
        </p:txBody>
      </p:sp>
      <p:sp>
        <p:nvSpPr>
          <p:cNvPr id="34" name="Text 34"/>
          <p:cNvSpPr txBox="1"/>
          <p:nvPr/>
        </p:nvSpPr>
        <p:spPr>
          <a:xfrm>
            <a:off x="8185150" y="2030095"/>
            <a:ext cx="3498850" cy="796925"/>
          </a:xfrm>
          <a:prstGeom prst="rect">
            <a:avLst/>
          </a:prstGeom>
          <a:noFill/>
          <a:ln>
            <a:noFill/>
          </a:ln>
        </p:spPr>
        <p:txBody>
          <a:bodyPr wrap="square" lIns="0" tIns="0" rIns="0" bIns="0" anchor="t">
            <a:noAutofit/>
          </a:bodyPr>
          <a:lstStyle/>
          <a:p>
            <a:pPr algn="l">
              <a:lnSpc>
                <a:spcPts val="1235"/>
              </a:lnSpc>
            </a:pPr>
            <a:r>
              <a:rPr lang="ko-KR" sz="950" b="0">
                <a:solidFill>
                  <a:srgbClr val="142536"/>
                </a:solidFill>
                <a:latin typeface="Arial"/>
                <a:ea typeface="Malgun Gothic"/>
                <a:cs typeface="Arial"/>
              </a:rPr>
              <a:t xml:space="preserve">단순 정렬로는 안 되는 이유: "최신순"이라면 timestamp로 정렬하면 그만이</a:t>
            </a:r>
            <a:endParaRPr lang="ko-KR" sz="950"/>
          </a:p>
          <a:p>
            <a:pPr algn="l">
              <a:lnSpc>
                <a:spcPts val="1235"/>
              </a:lnSpc>
            </a:pPr>
            <a:r>
              <a:rPr lang="ko-KR" sz="950" b="0">
                <a:solidFill>
                  <a:srgbClr val="142536"/>
                </a:solidFill>
                <a:latin typeface="Arial"/>
                <a:ea typeface="Malgun Gothic"/>
                <a:cs typeface="Arial"/>
              </a:rPr>
              <a:t xml:space="preserve">지만, "부모가 먼저"라는 조건은 timestamp 하나만 으로는 보장되지 않습니</a:t>
            </a:r>
            <a:endParaRPr lang="ko-KR" sz="950"/>
          </a:p>
          <a:p>
            <a:pPr algn="l">
              <a:lnSpc>
                <a:spcPts val="1235"/>
              </a:lnSpc>
            </a:pPr>
            <a:r>
              <a:rPr lang="ko-KR" sz="950" b="0">
                <a:solidFill>
                  <a:srgbClr val="142536"/>
                </a:solidFill>
                <a:latin typeface="Arial"/>
                <a:ea typeface="Malgun Gothic"/>
                <a:cs typeface="Arial"/>
              </a:rPr>
              <a:t xml:space="preserve">다(이론적으로 시계가 부정확하거나 동시각에 커밋되면 꼬일 수 있음). 반면</a:t>
            </a:r>
            <a:endParaRPr lang="ko-KR" sz="950"/>
          </a:p>
          <a:p>
            <a:pPr algn="l">
              <a:lnSpc>
                <a:spcPts val="1235"/>
              </a:lnSpc>
            </a:pPr>
            <a:r>
              <a:rPr lang="ko-KR" sz="950" b="0">
                <a:solidFill>
                  <a:srgbClr val="142536"/>
                </a:solidFill>
                <a:latin typeface="Arial"/>
                <a:ea typeface="Malgun Gothic"/>
                <a:cs typeface="Arial"/>
              </a:rPr>
              <a:t xml:space="preserve">위상 정렬은 애초에 그래프 의 부모-자식 "관계"만 보고 순서를 결정하므로,</a:t>
            </a:r>
            <a:endParaRPr lang="ko-KR" sz="950"/>
          </a:p>
          <a:p>
            <a:pPr algn="l">
              <a:lnSpc>
                <a:spcPts val="1235"/>
              </a:lnSpc>
            </a:pPr>
            <a:r>
              <a:rPr lang="ko-KR" sz="950" b="0">
                <a:solidFill>
                  <a:srgbClr val="142536"/>
                </a:solidFill>
                <a:latin typeface="Arial"/>
                <a:ea typeface="Malgun Gothic"/>
                <a:cs typeface="Arial"/>
              </a:rPr>
              <a:t xml:space="preserve">시각 정보와 무관하게 항상 정확합니다.</a:t>
            </a:r>
            <a:endParaRPr lang="ko-KR" sz="950"/>
          </a:p>
        </p:txBody>
      </p:sp>
      <p:sp>
        <p:nvSpPr>
          <p:cNvPr id="35" name="Text 35"/>
          <p:cNvSpPr txBox="1"/>
          <p:nvPr/>
        </p:nvSpPr>
        <p:spPr>
          <a:xfrm>
            <a:off x="8185150" y="2877820"/>
            <a:ext cx="3498850" cy="796925"/>
          </a:xfrm>
          <a:prstGeom prst="rect">
            <a:avLst/>
          </a:prstGeom>
          <a:noFill/>
          <a:ln>
            <a:noFill/>
          </a:ln>
        </p:spPr>
        <p:txBody>
          <a:bodyPr wrap="square" lIns="0" tIns="0" rIns="0" bIns="0" anchor="t">
            <a:noAutofit/>
          </a:bodyPr>
          <a:lstStyle/>
          <a:p>
            <a:pPr algn="l">
              <a:lnSpc>
                <a:spcPts val="1235"/>
              </a:lnSpc>
            </a:pPr>
            <a:r>
              <a:rPr lang="ko-KR" sz="950" b="0">
                <a:solidFill>
                  <a:srgbClr val="142536"/>
                </a:solidFill>
                <a:latin typeface="Arial"/>
                <a:ea typeface="Malgun Gothic"/>
                <a:cs typeface="Arial"/>
              </a:rPr>
              <a:t xml:space="preserve">실제 확인: 제출/results/02_LOG_위상정렬.txt에서 뿌리 커밋(Initial commi</a:t>
            </a:r>
            <a:endParaRPr lang="ko-KR" sz="950"/>
          </a:p>
          <a:p>
            <a:pPr algn="l">
              <a:lnSpc>
                <a:spcPts val="1235"/>
              </a:lnSpc>
            </a:pPr>
            <a:r>
              <a:rPr lang="ko-KR" sz="950" b="0">
                <a:solidFill>
                  <a:srgbClr val="142536"/>
                </a:solidFill>
                <a:latin typeface="Arial"/>
                <a:ea typeface="Malgun Gothic"/>
                <a:cs typeface="Arial"/>
              </a:rPr>
              <a:t xml:space="preserve">t)이 항상 맨 위에 오고, 그 뒤로 두 브랜치(feature/ main)에서 갈라진 자식</a:t>
            </a:r>
            <a:endParaRPr lang="ko-KR" sz="950"/>
          </a:p>
          <a:p>
            <a:pPr algn="l">
              <a:lnSpc>
                <a:spcPts val="1235"/>
              </a:lnSpc>
            </a:pPr>
            <a:r>
              <a:rPr lang="ko-KR" sz="950" b="0">
                <a:solidFill>
                  <a:srgbClr val="142536"/>
                </a:solidFill>
                <a:latin typeface="Arial"/>
                <a:ea typeface="Malgun Gothic"/>
                <a:cs typeface="Arial"/>
              </a:rPr>
              <a:t xml:space="preserve">커밋들이 나오는 것을 확인했습니다. 단위 테스트에서는 병합 커밋까지 있는</a:t>
            </a:r>
            <a:endParaRPr lang="ko-KR" sz="950"/>
          </a:p>
          <a:p>
            <a:pPr algn="l">
              <a:lnSpc>
                <a:spcPts val="1235"/>
              </a:lnSpc>
            </a:pPr>
            <a:r>
              <a:rPr lang="ko-KR" sz="950" b="0">
                <a:solidFill>
                  <a:srgbClr val="142536"/>
                </a:solidFill>
                <a:latin typeface="Arial"/>
                <a:ea typeface="Malgun Gothic"/>
                <a:cs typeface="Arial"/>
              </a:rPr>
              <a:t xml:space="preserve">다이아몬드형 그래프로 "부 모가 항상 자식보다 앞선 위치"라는 성질을 모든</a:t>
            </a:r>
            <a:endParaRPr lang="ko-KR" sz="950"/>
          </a:p>
          <a:p>
            <a:pPr algn="l">
              <a:lnSpc>
                <a:spcPts val="1235"/>
              </a:lnSpc>
            </a:pPr>
            <a:r>
              <a:rPr lang="ko-KR" sz="950" b="0">
                <a:solidFill>
                  <a:srgbClr val="142536"/>
                </a:solidFill>
                <a:latin typeface="Arial"/>
                <a:ea typeface="Malgun Gothic"/>
                <a:cs typeface="Arial"/>
              </a:rPr>
              <a:t xml:space="preserve">간선에 대해 검증했습니다(tests/test_mini_git.py).</a:t>
            </a:r>
            <a:endParaRPr lang="ko-KR" sz="950"/>
          </a:p>
        </p:txBody>
      </p:sp>
      <p:sp>
        <p:nvSpPr>
          <p:cNvPr id="36" name="Text 36"/>
          <p:cNvSpPr txBox="1"/>
          <p:nvPr/>
        </p:nvSpPr>
        <p:spPr>
          <a:xfrm>
            <a:off x="8185150" y="3725545"/>
            <a:ext cx="3498850" cy="326390"/>
          </a:xfrm>
          <a:prstGeom prst="rect">
            <a:avLst/>
          </a:prstGeom>
          <a:noFill/>
          <a:ln>
            <a:noFill/>
          </a:ln>
        </p:spPr>
        <p:txBody>
          <a:bodyPr wrap="square" lIns="0" tIns="0" rIns="0" bIns="0" anchor="t">
            <a:noAutofit/>
          </a:bodyPr>
          <a:lstStyle/>
          <a:p>
            <a:pPr algn="l">
              <a:lnSpc>
                <a:spcPts val="1235"/>
              </a:lnSpc>
            </a:pPr>
            <a:r>
              <a:rPr lang="ko-KR" sz="950" b="1">
                <a:solidFill>
                  <a:srgbClr val="168B82"/>
                </a:solidFill>
                <a:latin typeface="Arial"/>
                <a:ea typeface="Malgun Gothic"/>
                <a:cs typeface="Arial"/>
              </a:rPr>
              <a:t xml:space="preserve">Q1. 위상 정렬에서 동시에 진입차수가 0이 되는 커밋이 여러 개면 어떤 순서</a:t>
            </a:r>
            <a:endParaRPr lang="ko-KR" sz="950"/>
          </a:p>
          <a:p>
            <a:pPr algn="l">
              <a:lnSpc>
                <a:spcPts val="1235"/>
              </a:lnSpc>
            </a:pPr>
            <a:r>
              <a:rPr lang="ko-KR" sz="950" b="1">
                <a:solidFill>
                  <a:srgbClr val="168B82"/>
                </a:solidFill>
                <a:latin typeface="Arial"/>
                <a:ea typeface="Malgun Gothic"/>
                <a:cs typeface="Arial"/>
              </a:rPr>
              <a:t xml:space="preserve">로 나오는가?</a:t>
            </a:r>
            <a:endParaRPr lang="ko-KR" sz="950"/>
          </a:p>
        </p:txBody>
      </p:sp>
      <p:sp>
        <p:nvSpPr>
          <p:cNvPr id="37" name="Text 37"/>
          <p:cNvSpPr txBox="1"/>
          <p:nvPr/>
        </p:nvSpPr>
        <p:spPr>
          <a:xfrm>
            <a:off x="8185150" y="4102735"/>
            <a:ext cx="3498850" cy="953770"/>
          </a:xfrm>
          <a:prstGeom prst="rect">
            <a:avLst/>
          </a:prstGeom>
          <a:noFill/>
          <a:ln>
            <a:noFill/>
          </a:ln>
        </p:spPr>
        <p:txBody>
          <a:bodyPr wrap="square" lIns="0" tIns="0" rIns="0" bIns="0" anchor="t">
            <a:noAutofit/>
          </a:bodyPr>
          <a:lstStyle/>
          <a:p>
            <a:pPr algn="l">
              <a:lnSpc>
                <a:spcPts val="1235"/>
              </a:lnSpc>
            </a:pPr>
            <a:r>
              <a:rPr lang="ko-KR" sz="950" b="0">
                <a:solidFill>
                  <a:srgbClr val="142536"/>
                </a:solidFill>
                <a:latin typeface="Arial"/>
                <a:ea typeface="Malgun Gothic"/>
                <a:cs typeface="Arial"/>
              </a:rPr>
              <a:t xml:space="preserve">FIFO 큐(리스트를 인덱스로 순회)를 쓰기 때문에, "먼저 큐에 들어온" 순서가</a:t>
            </a:r>
            <a:endParaRPr lang="ko-KR" sz="950"/>
          </a:p>
          <a:p>
            <a:pPr algn="l">
              <a:lnSpc>
                <a:spcPts val="1235"/>
              </a:lnSpc>
            </a:pPr>
            <a:r>
              <a:rPr lang="ko-KR" sz="950" b="0">
                <a:solidFill>
                  <a:srgbClr val="142536"/>
                </a:solidFill>
                <a:latin typeface="Arial"/>
                <a:ea typeface="Malgun Gothic"/>
                <a:cs typeface="Arial"/>
              </a:rPr>
              <a:t xml:space="preserve">그대로 유지됩니다. 이 프로젝트의 전형적인 시나리 오(하나의 뿌리 커밋에서</a:t>
            </a:r>
            <a:endParaRPr lang="ko-KR" sz="950"/>
          </a:p>
          <a:p>
            <a:pPr algn="l">
              <a:lnSpc>
                <a:spcPts val="1235"/>
              </a:lnSpc>
            </a:pPr>
            <a:r>
              <a:rPr lang="ko-KR" sz="950" b="0">
                <a:solidFill>
                  <a:srgbClr val="142536"/>
                </a:solidFill>
                <a:latin typeface="Arial"/>
                <a:ea typeface="Malgun Gothic"/>
                <a:cs typeface="Arial"/>
              </a:rPr>
              <a:t xml:space="preserve">여러 브랜치가 갈라지는 경우)에서는 이 순서가 대체로 "먼저 생성된 순서"와</a:t>
            </a:r>
            <a:endParaRPr lang="ko-KR" sz="950"/>
          </a:p>
          <a:p>
            <a:pPr algn="l">
              <a:lnSpc>
                <a:spcPts val="1235"/>
              </a:lnSpc>
            </a:pPr>
            <a:r>
              <a:rPr lang="ko-KR" sz="950" b="0">
                <a:solidFill>
                  <a:srgbClr val="142536"/>
                </a:solidFill>
                <a:latin typeface="Arial"/>
                <a:ea typeface="Malgun Gothic"/>
                <a:cs typeface="Arial"/>
              </a:rPr>
              <a:t xml:space="preserve">일치합니다. 과제 명세도 " 학습 목적상 부모가 자식보다 먼저"라는 조건만 요</a:t>
            </a:r>
            <a:endParaRPr lang="ko-KR" sz="950"/>
          </a:p>
          <a:p>
            <a:pPr algn="l">
              <a:lnSpc>
                <a:spcPts val="1235"/>
              </a:lnSpc>
            </a:pPr>
            <a:r>
              <a:rPr lang="ko-KR" sz="950" b="0">
                <a:solidFill>
                  <a:srgbClr val="142536"/>
                </a:solidFill>
                <a:latin typeface="Arial"/>
                <a:ea typeface="Malgun Gothic"/>
                <a:cs typeface="Arial"/>
              </a:rPr>
              <a:t xml:space="preserve">구할 뿐 동률 처리 규칙은 정하지 않았으므로, 이 방식은 결정적이고 설명 가</a:t>
            </a:r>
            <a:endParaRPr lang="ko-KR" sz="950"/>
          </a:p>
          <a:p>
            <a:pPr algn="l">
              <a:lnSpc>
                <a:spcPts val="1235"/>
              </a:lnSpc>
            </a:pPr>
            <a:r>
              <a:rPr lang="ko-KR" sz="950" b="0">
                <a:solidFill>
                  <a:srgbClr val="142536"/>
                </a:solidFill>
                <a:latin typeface="Arial"/>
                <a:ea typeface="Malgun Gothic"/>
                <a:cs typeface="Arial"/>
              </a:rPr>
              <a:t xml:space="preserve">능 한 선택입니다.</a:t>
            </a:r>
            <a:endParaRPr lang="ko-KR" sz="950"/>
          </a:p>
        </p:txBody>
      </p:sp>
      <p:sp>
        <p:nvSpPr>
          <p:cNvPr id="38" name="Text 38"/>
          <p:cNvSpPr txBox="1"/>
          <p:nvPr/>
        </p:nvSpPr>
        <p:spPr>
          <a:xfrm>
            <a:off x="8185150" y="5107305"/>
            <a:ext cx="3498850" cy="796925"/>
          </a:xfrm>
          <a:prstGeom prst="rect">
            <a:avLst/>
          </a:prstGeom>
          <a:noFill/>
          <a:ln>
            <a:noFill/>
          </a:ln>
        </p:spPr>
        <p:txBody>
          <a:bodyPr wrap="square" lIns="0" tIns="0" rIns="0" bIns="0" anchor="t">
            <a:noAutofit/>
          </a:bodyPr>
          <a:lstStyle/>
          <a:p>
            <a:pPr algn="l">
              <a:lnSpc>
                <a:spcPts val="1235"/>
              </a:lnSpc>
            </a:pPr>
            <a:r>
              <a:rPr lang="ko-KR" sz="950" b="0">
                <a:solidFill>
                  <a:srgbClr val="142536"/>
                </a:solidFill>
                <a:latin typeface="Arial"/>
                <a:ea typeface="Malgun Gothic"/>
                <a:cs typeface="Arial"/>
              </a:rPr>
              <a:t xml:space="preserve">진입차수라는 어려운 용어는 아직 처리되지 않은 선수과목 수라고 풀어 설명</a:t>
            </a:r>
            <a:endParaRPr lang="ko-KR" sz="950"/>
          </a:p>
          <a:p>
            <a:pPr algn="l">
              <a:lnSpc>
                <a:spcPts val="1235"/>
              </a:lnSpc>
            </a:pPr>
            <a:r>
              <a:rPr lang="ko-KR" sz="950" b="0">
                <a:solidFill>
                  <a:srgbClr val="142536"/>
                </a:solidFill>
                <a:latin typeface="Arial"/>
                <a:ea typeface="Malgun Gothic"/>
                <a:cs typeface="Arial"/>
              </a:rPr>
              <a:t xml:space="preserve">합니다. FIFO는 먼저 들어온 것이 먼저 나오는 줄입니다. 동시에 후보가 된 커</a:t>
            </a:r>
            <a:endParaRPr lang="ko-KR" sz="950"/>
          </a:p>
          <a:p>
            <a:pPr algn="l">
              <a:lnSpc>
                <a:spcPts val="1235"/>
              </a:lnSpc>
            </a:pPr>
            <a:r>
              <a:rPr lang="ko-KR" sz="950" b="0">
                <a:solidFill>
                  <a:srgbClr val="142536"/>
                </a:solidFill>
                <a:latin typeface="Arial"/>
                <a:ea typeface="Malgun Gothic"/>
                <a:cs typeface="Arial"/>
              </a:rPr>
              <a:t xml:space="preserve">밋은 이 큐 순서를 따릅니다. 최신순 정렬은 요구사항을 만족하지 않습니다.</a:t>
            </a:r>
            <a:endParaRPr lang="ko-KR" sz="950"/>
          </a:p>
          <a:p>
            <a:pPr algn="l">
              <a:lnSpc>
                <a:spcPts val="1235"/>
              </a:lnSpc>
            </a:pPr>
            <a:r>
              <a:rPr lang="ko-KR" sz="950" b="0">
                <a:solidFill>
                  <a:srgbClr val="142536"/>
                </a:solidFill>
                <a:latin typeface="Arial"/>
                <a:ea typeface="Malgun Gothic"/>
                <a:cs typeface="Arial"/>
              </a:rPr>
              <a:t xml:space="preserve">위상 정렬은 날짜가 아니라 관계를 사용하므로 부모 우선을 보장합니다. 시간</a:t>
            </a:r>
            <a:endParaRPr lang="ko-KR" sz="950"/>
          </a:p>
          <a:p>
            <a:pPr algn="l">
              <a:lnSpc>
                <a:spcPts val="1235"/>
              </a:lnSpc>
            </a:pPr>
            <a:r>
              <a:rPr lang="ko-KR" sz="950" b="0">
                <a:solidFill>
                  <a:srgbClr val="142536"/>
                </a:solidFill>
                <a:latin typeface="Arial"/>
                <a:ea typeface="Malgun Gothic"/>
                <a:cs typeface="Arial"/>
              </a:rPr>
              <a:t xml:space="preserve">복잡도는 V개 커밋과 E개 연결을 처리하는 O(V+E)입니다.</a:t>
            </a:r>
            <a:endParaRPr lang="ko-KR" sz="950"/>
          </a:p>
        </p:txBody>
      </p:sp>
      <p:sp>
        <p:nvSpPr>
          <p:cNvPr id="39" name="Text 39"/>
          <p:cNvSpPr txBox="1"/>
          <p:nvPr/>
        </p:nvSpPr>
        <p:spPr>
          <a:xfrm>
            <a:off x="508000" y="6299200"/>
            <a:ext cx="11176000" cy="22860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아직 출력하지 않은 부모가 0개인 커밋부터 꺼냅니다.</a:t>
            </a:r>
            <a:endParaRPr lang="ko-KR" sz="1250"/>
          </a:p>
        </p:txBody>
      </p:sp>
      <p:sp>
        <p:nvSpPr>
          <p:cNvPr id="40" name="Text 40"/>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mini_git/traversal.py: topological_order() · 평가질문_설명자료.md</a:t>
            </a:r>
            <a:endParaRPr lang="ko-KR" sz="1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PATH: 한 칸씩 넓혀 가면 가장 짧은 길">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EXPLAIN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15 / 26</a:t>
            </a:r>
            <a:endParaRPr lang="ko-KR" sz="1250"/>
          </a:p>
        </p:txBody>
      </p:sp>
      <p:sp>
        <p:nvSpPr>
          <p:cNvPr id="5" name="Text 5"/>
          <p:cNvSpPr txBox="1"/>
          <p:nvPr/>
        </p:nvSpPr>
        <p:spPr>
          <a:xfrm>
            <a:off x="508000" y="793750"/>
            <a:ext cx="11176000" cy="635000"/>
          </a:xfrm>
          <a:prstGeom prst="rect">
            <a:avLst/>
          </a:prstGeom>
          <a:noFill/>
          <a:ln>
            <a:noFill/>
          </a:ln>
        </p:spPr>
        <p:txBody>
          <a:bodyPr wrap="square" lIns="0" tIns="0" rIns="0" bIns="0" anchor="t">
            <a:noAutofit/>
          </a:bodyPr>
          <a:lstStyle/>
          <a:p>
            <a:pPr algn="l">
              <a:lnSpc>
                <a:spcPts val="3900"/>
              </a:lnSpc>
            </a:pPr>
            <a:r>
              <a:rPr lang="ko-KR" sz="3000" b="1">
                <a:solidFill>
                  <a:srgbClr val="142536"/>
                </a:solidFill>
                <a:latin typeface="Arial"/>
                <a:ea typeface="Malgun Gothic"/>
                <a:cs typeface="Arial"/>
              </a:rPr>
              <a:t xml:space="preserve">PATH: 한 칸씩 넓혀 가면 가장 짧은 길</a:t>
            </a:r>
            <a:endParaRPr lang="ko-KR" sz="3000"/>
          </a:p>
        </p:txBody>
      </p:sp>
      <p:sp>
        <p:nvSpPr>
          <p:cNvPr id="6" name="Text 6"/>
          <p:cNvSpPr txBox="1"/>
          <p:nvPr/>
        </p:nvSpPr>
        <p:spPr>
          <a:xfrm>
            <a:off x="571500" y="1492250"/>
            <a:ext cx="3683000" cy="24130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핵심 · 그림 · 실행</a:t>
            </a:r>
            <a:endParaRPr lang="ko-KR" sz="1300"/>
          </a:p>
        </p:txBody>
      </p:sp>
      <p:sp>
        <p:nvSpPr>
          <p:cNvPr id="7" name="Text 7"/>
          <p:cNvSpPr txBox="1"/>
          <p:nvPr/>
        </p:nvSpPr>
        <p:spPr>
          <a:xfrm>
            <a:off x="4508500" y="1492250"/>
            <a:ext cx="7175500" cy="24130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상세 설명 · 코드 · 문답 전체</a:t>
            </a:r>
            <a:endParaRPr lang="ko-KR" sz="1300"/>
          </a:p>
        </p:txBody>
      </p:sp>
      <p:sp>
        <p:nvSpPr>
          <p:cNvPr id="8" name="Shape 8"/>
          <p:cNvSpPr/>
          <p:nvPr/>
        </p:nvSpPr>
        <p:spPr>
          <a:xfrm>
            <a:off x="4349750" y="1778000"/>
            <a:ext cx="12700" cy="4381500"/>
          </a:xfrm>
          <a:prstGeom prst="rect">
            <a:avLst/>
          </a:prstGeom>
          <a:solidFill>
            <a:srgbClr val="D7DFDB"/>
          </a:solidFill>
          <a:ln>
            <a:noFill/>
          </a:ln>
        </p:spPr>
      </p:sp>
      <p:sp>
        <p:nvSpPr>
          <p:cNvPr id="9" name="Shape 9"/>
          <p:cNvSpPr/>
          <p:nvPr/>
        </p:nvSpPr>
        <p:spPr>
          <a:xfrm>
            <a:off x="476250" y="1778000"/>
            <a:ext cx="2968625" cy="2182812"/>
          </a:xfrm>
          <a:prstGeom prst="roundRect">
            <a:avLst/>
          </a:prstGeom>
          <a:solidFill>
            <a:srgbClr val="FFFFFF"/>
          </a:solidFill>
          <a:ln w="12700">
            <a:solidFill>
              <a:srgbClr val="D7DFDB"/>
            </a:solidFill>
          </a:ln>
        </p:spPr>
      </p:sp>
      <p:sp>
        <p:nvSpPr>
          <p:cNvPr id="10" name="Text 10"/>
          <p:cNvSpPr txBox="1"/>
          <p:nvPr/>
        </p:nvSpPr>
        <p:spPr>
          <a:xfrm>
            <a:off x="581025" y="1847850"/>
            <a:ext cx="2724150" cy="209550"/>
          </a:xfrm>
          <a:prstGeom prst="rect">
            <a:avLst/>
          </a:prstGeom>
          <a:noFill/>
          <a:ln>
            <a:noFill/>
          </a:ln>
        </p:spPr>
        <p:txBody>
          <a:bodyPr wrap="square" lIns="0" tIns="0" rIns="0" bIns="0" anchor="t">
            <a:noAutofit/>
          </a:bodyPr>
          <a:lstStyle/>
          <a:p>
            <a:pPr algn="l">
              <a:lnSpc>
                <a:spcPts val="1072"/>
              </a:lnSpc>
            </a:pPr>
            <a:r>
              <a:rPr lang="ko-KR" sz="825" b="1">
                <a:solidFill>
                  <a:srgbClr val="168B82"/>
                </a:solidFill>
                <a:latin typeface="Arial"/>
                <a:ea typeface="Malgun Gothic"/>
                <a:cs typeface="Arial"/>
              </a:rPr>
              <a:t xml:space="preserve">한눈에 이해하기</a:t>
            </a:r>
            <a:endParaRPr lang="ko-KR" sz="825"/>
          </a:p>
        </p:txBody>
      </p:sp>
      <p:cxnSp>
        <p:nvCxnSpPr>
          <p:cNvPr id="11" name="Edge 11"/>
          <p:cNvCxnSpPr/>
          <p:nvPr/>
        </p:nvCxnSpPr>
        <p:spPr>
          <a:xfrm flipH="0" flipV="1">
            <a:off x="1489075" y="2441575"/>
            <a:ext cx="681037" cy="471488"/>
          </a:xfrm>
          <a:prstGeom prst="line">
            <a:avLst/>
          </a:prstGeom>
          <a:ln w="31750">
            <a:solidFill>
              <a:srgbClr val="168B82"/>
            </a:solidFill>
          </a:ln>
        </p:spPr>
      </p:cxnSp>
      <p:cxnSp>
        <p:nvCxnSpPr>
          <p:cNvPr id="12" name="Edge 12"/>
          <p:cNvCxnSpPr/>
          <p:nvPr/>
        </p:nvCxnSpPr>
        <p:spPr>
          <a:xfrm flipH="0" flipV="0">
            <a:off x="1489075" y="2913062"/>
            <a:ext cx="681037" cy="471488"/>
          </a:xfrm>
          <a:prstGeom prst="line">
            <a:avLst/>
          </a:prstGeom>
          <a:ln w="31750">
            <a:solidFill>
              <a:srgbClr val="168B82"/>
            </a:solidFill>
          </a:ln>
        </p:spPr>
      </p:cxnSp>
      <p:sp>
        <p:nvSpPr>
          <p:cNvPr id="13" name="Shape 13"/>
          <p:cNvSpPr/>
          <p:nvPr/>
        </p:nvSpPr>
        <p:spPr>
          <a:xfrm>
            <a:off x="755650" y="2738438"/>
            <a:ext cx="733425" cy="349250"/>
          </a:xfrm>
          <a:prstGeom prst="roundRect">
            <a:avLst/>
          </a:prstGeom>
          <a:solidFill>
            <a:srgbClr val="168B82"/>
          </a:solidFill>
          <a:ln>
            <a:noFill/>
          </a:ln>
        </p:spPr>
      </p:sp>
      <p:sp>
        <p:nvSpPr>
          <p:cNvPr id="14" name="Text 14"/>
          <p:cNvSpPr txBox="1"/>
          <p:nvPr/>
        </p:nvSpPr>
        <p:spPr>
          <a:xfrm>
            <a:off x="790575" y="2815272"/>
            <a:ext cx="663575" cy="258445"/>
          </a:xfrm>
          <a:prstGeom prst="rect">
            <a:avLst/>
          </a:prstGeom>
          <a:noFill/>
          <a:ln>
            <a:noFill/>
          </a:ln>
        </p:spPr>
        <p:txBody>
          <a:bodyPr wrap="square" lIns="0" tIns="0" rIns="0" bIns="0" anchor="t">
            <a:noAutofit/>
          </a:bodyPr>
          <a:lstStyle/>
          <a:p>
            <a:pPr algn="ctr">
              <a:lnSpc>
                <a:spcPts val="1359"/>
              </a:lnSpc>
            </a:pPr>
            <a:r>
              <a:rPr lang="ko-KR" sz="1045" b="1">
                <a:solidFill>
                  <a:srgbClr val="FFFFFF"/>
                </a:solidFill>
                <a:latin typeface="Arial"/>
                <a:ea typeface="Malgun Gothic"/>
                <a:cs typeface="Arial"/>
              </a:rPr>
              <a:t xml:space="preserve">A</a:t>
            </a:r>
            <a:endParaRPr lang="ko-KR" sz="1045"/>
          </a:p>
        </p:txBody>
      </p:sp>
      <p:sp>
        <p:nvSpPr>
          <p:cNvPr id="15" name="Shape 15"/>
          <p:cNvSpPr/>
          <p:nvPr/>
        </p:nvSpPr>
        <p:spPr>
          <a:xfrm>
            <a:off x="2170112" y="2266950"/>
            <a:ext cx="733425" cy="349250"/>
          </a:xfrm>
          <a:prstGeom prst="roundRect">
            <a:avLst/>
          </a:prstGeom>
          <a:solidFill>
            <a:srgbClr val="168B82"/>
          </a:solidFill>
          <a:ln>
            <a:noFill/>
          </a:ln>
        </p:spPr>
      </p:sp>
      <p:sp>
        <p:nvSpPr>
          <p:cNvPr id="16" name="Text 16"/>
          <p:cNvSpPr txBox="1"/>
          <p:nvPr/>
        </p:nvSpPr>
        <p:spPr>
          <a:xfrm>
            <a:off x="2205038" y="2343785"/>
            <a:ext cx="663575" cy="258445"/>
          </a:xfrm>
          <a:prstGeom prst="rect">
            <a:avLst/>
          </a:prstGeom>
          <a:noFill/>
          <a:ln>
            <a:noFill/>
          </a:ln>
        </p:spPr>
        <p:txBody>
          <a:bodyPr wrap="square" lIns="0" tIns="0" rIns="0" bIns="0" anchor="t">
            <a:noAutofit/>
          </a:bodyPr>
          <a:lstStyle/>
          <a:p>
            <a:pPr algn="ctr">
              <a:lnSpc>
                <a:spcPts val="1359"/>
              </a:lnSpc>
            </a:pPr>
            <a:r>
              <a:rPr lang="ko-KR" sz="1045" b="1">
                <a:solidFill>
                  <a:srgbClr val="FFFFFF"/>
                </a:solidFill>
                <a:latin typeface="Arial"/>
                <a:ea typeface="Malgun Gothic"/>
                <a:cs typeface="Arial"/>
              </a:rPr>
              <a:t xml:space="preserve">B</a:t>
            </a:r>
            <a:endParaRPr lang="ko-KR" sz="1045"/>
          </a:p>
        </p:txBody>
      </p:sp>
      <p:sp>
        <p:nvSpPr>
          <p:cNvPr id="17" name="Shape 17"/>
          <p:cNvSpPr/>
          <p:nvPr/>
        </p:nvSpPr>
        <p:spPr>
          <a:xfrm>
            <a:off x="2170112" y="3209925"/>
            <a:ext cx="733425" cy="349250"/>
          </a:xfrm>
          <a:prstGeom prst="roundRect">
            <a:avLst/>
          </a:prstGeom>
          <a:solidFill>
            <a:srgbClr val="168B82"/>
          </a:solidFill>
          <a:ln>
            <a:noFill/>
          </a:ln>
        </p:spPr>
      </p:sp>
      <p:sp>
        <p:nvSpPr>
          <p:cNvPr id="18" name="Text 18"/>
          <p:cNvSpPr txBox="1"/>
          <p:nvPr/>
        </p:nvSpPr>
        <p:spPr>
          <a:xfrm>
            <a:off x="2205038" y="3286760"/>
            <a:ext cx="663575" cy="258445"/>
          </a:xfrm>
          <a:prstGeom prst="rect">
            <a:avLst/>
          </a:prstGeom>
          <a:noFill/>
          <a:ln>
            <a:noFill/>
          </a:ln>
        </p:spPr>
        <p:txBody>
          <a:bodyPr wrap="square" lIns="0" tIns="0" rIns="0" bIns="0" anchor="t">
            <a:noAutofit/>
          </a:bodyPr>
          <a:lstStyle/>
          <a:p>
            <a:pPr algn="ctr">
              <a:lnSpc>
                <a:spcPts val="1359"/>
              </a:lnSpc>
            </a:pPr>
            <a:r>
              <a:rPr lang="ko-KR" sz="1045" b="1">
                <a:solidFill>
                  <a:srgbClr val="FFFFFF"/>
                </a:solidFill>
                <a:latin typeface="Arial"/>
                <a:ea typeface="Malgun Gothic"/>
                <a:cs typeface="Arial"/>
              </a:rPr>
              <a:t xml:space="preserve">C</a:t>
            </a:r>
            <a:endParaRPr lang="ko-KR" sz="1045"/>
          </a:p>
        </p:txBody>
      </p:sp>
      <p:sp>
        <p:nvSpPr>
          <p:cNvPr id="19" name="Text 19"/>
          <p:cNvSpPr txBox="1"/>
          <p:nvPr/>
        </p:nvSpPr>
        <p:spPr>
          <a:xfrm>
            <a:off x="615950" y="3663950"/>
            <a:ext cx="2654300" cy="174625"/>
          </a:xfrm>
          <a:prstGeom prst="rect">
            <a:avLst/>
          </a:prstGeom>
          <a:noFill/>
          <a:ln>
            <a:noFill/>
          </a:ln>
        </p:spPr>
        <p:txBody>
          <a:bodyPr wrap="square" lIns="0" tIns="0" rIns="0" bIns="0" anchor="t">
            <a:noAutofit/>
          </a:bodyPr>
          <a:lstStyle/>
          <a:p>
            <a:pPr algn="ctr">
              <a:lnSpc>
                <a:spcPts val="1072"/>
              </a:lnSpc>
            </a:pPr>
            <a:r>
              <a:rPr lang="ko-KR" sz="825" b="0">
                <a:solidFill>
                  <a:srgbClr val="566979"/>
                </a:solidFill>
                <a:latin typeface="Arial"/>
                <a:ea typeface="Malgun Gothic"/>
                <a:cs typeface="Arial"/>
              </a:rPr>
              <a:t xml:space="preserve">B ↔ A ↔ C: 간선 2개</a:t>
            </a:r>
            <a:endParaRPr lang="ko-KR" sz="825"/>
          </a:p>
        </p:txBody>
      </p:sp>
      <p:sp>
        <p:nvSpPr>
          <p:cNvPr id="20" name="Text 20"/>
          <p:cNvSpPr txBox="1"/>
          <p:nvPr/>
        </p:nvSpPr>
        <p:spPr>
          <a:xfrm>
            <a:off x="571500" y="4127500"/>
            <a:ext cx="3683000" cy="153035"/>
          </a:xfrm>
          <a:prstGeom prst="rect">
            <a:avLst/>
          </a:prstGeom>
          <a:noFill/>
          <a:ln>
            <a:noFill/>
          </a:ln>
        </p:spPr>
        <p:txBody>
          <a:bodyPr wrap="square" lIns="0" tIns="0" rIns="0" bIns="0" anchor="t">
            <a:noAutofit/>
          </a:bodyPr>
          <a:lstStyle/>
          <a:p>
            <a:pPr algn="l">
              <a:lnSpc>
                <a:spcPts val="1105"/>
              </a:lnSpc>
            </a:pPr>
            <a:r>
              <a:rPr lang="ko-KR" sz="850" b="1">
                <a:solidFill>
                  <a:srgbClr val="168B82"/>
                </a:solidFill>
                <a:latin typeface="Arial"/>
                <a:ea typeface="Malgun Gothic"/>
                <a:cs typeface="Arial"/>
              </a:rPr>
              <a:t xml:space="preserve">BFS = 가까운 곳부터</a:t>
            </a:r>
            <a:endParaRPr lang="ko-KR" sz="850"/>
          </a:p>
        </p:txBody>
      </p:sp>
      <p:sp>
        <p:nvSpPr>
          <p:cNvPr id="21" name="Text 21"/>
          <p:cNvSpPr txBox="1"/>
          <p:nvPr/>
        </p:nvSpPr>
        <p:spPr>
          <a:xfrm>
            <a:off x="571500" y="4331335"/>
            <a:ext cx="3683000" cy="153035"/>
          </a:xfrm>
          <a:prstGeom prst="rect">
            <a:avLst/>
          </a:prstGeom>
          <a:noFill/>
          <a:ln>
            <a:noFill/>
          </a:ln>
        </p:spPr>
        <p:txBody>
          <a:bodyPr wrap="square" lIns="0" tIns="0" rIns="0" bIns="0" anchor="t">
            <a:noAutofit/>
          </a:bodyPr>
          <a:lstStyle/>
          <a:p>
            <a:pPr algn="l">
              <a:lnSpc>
                <a:spcPts val="1105"/>
              </a:lnSpc>
            </a:pPr>
            <a:r>
              <a:rPr lang="ko-KR" sz="850" b="0">
                <a:solidFill>
                  <a:srgbClr val="142536"/>
                </a:solidFill>
                <a:latin typeface="Arial"/>
                <a:ea typeface="Malgun Gothic"/>
                <a:cs typeface="Arial"/>
              </a:rPr>
              <a:t xml:space="preserve">출발지: 거리 0 바로 이웃: 거리 1 그 이웃의 이웃: 거리 2</a:t>
            </a:r>
            <a:endParaRPr lang="ko-KR" sz="850"/>
          </a:p>
        </p:txBody>
      </p:sp>
      <p:sp>
        <p:nvSpPr>
          <p:cNvPr id="22" name="Text 22"/>
          <p:cNvSpPr txBox="1"/>
          <p:nvPr/>
        </p:nvSpPr>
        <p:spPr>
          <a:xfrm>
            <a:off x="571500" y="4535170"/>
            <a:ext cx="3683000" cy="153035"/>
          </a:xfrm>
          <a:prstGeom prst="rect">
            <a:avLst/>
          </a:prstGeom>
          <a:noFill/>
          <a:ln>
            <a:noFill/>
          </a:ln>
        </p:spPr>
        <p:txBody>
          <a:bodyPr wrap="square" lIns="0" tIns="0" rIns="0" bIns="0" anchor="t">
            <a:noAutofit/>
          </a:bodyPr>
          <a:lstStyle/>
          <a:p>
            <a:pPr algn="l">
              <a:lnSpc>
                <a:spcPts val="1105"/>
              </a:lnSpc>
            </a:pPr>
            <a:r>
              <a:rPr lang="ko-KR" sz="850" b="1">
                <a:solidFill>
                  <a:srgbClr val="168B82"/>
                </a:solidFill>
                <a:latin typeface="Arial"/>
                <a:ea typeface="Malgun Gothic"/>
                <a:cs typeface="Arial"/>
              </a:rPr>
              <a:t xml:space="preserve">이 과제의 연결 규칙</a:t>
            </a:r>
            <a:endParaRPr lang="ko-KR" sz="850"/>
          </a:p>
        </p:txBody>
      </p:sp>
      <p:sp>
        <p:nvSpPr>
          <p:cNvPr id="23" name="Text 23"/>
          <p:cNvSpPr txBox="1"/>
          <p:nvPr/>
        </p:nvSpPr>
        <p:spPr>
          <a:xfrm>
            <a:off x="571500" y="4739005"/>
            <a:ext cx="3683000" cy="153035"/>
          </a:xfrm>
          <a:prstGeom prst="rect">
            <a:avLst/>
          </a:prstGeom>
          <a:noFill/>
          <a:ln>
            <a:noFill/>
          </a:ln>
        </p:spPr>
        <p:txBody>
          <a:bodyPr wrap="square" lIns="0" tIns="0" rIns="0" bIns="0" anchor="t">
            <a:noAutofit/>
          </a:bodyPr>
          <a:lstStyle/>
          <a:p>
            <a:pPr algn="l">
              <a:lnSpc>
                <a:spcPts val="1105"/>
              </a:lnSpc>
            </a:pPr>
            <a:r>
              <a:rPr lang="ko-KR" sz="850" b="0">
                <a:solidFill>
                  <a:srgbClr val="142536"/>
                </a:solidFill>
                <a:latin typeface="Arial"/>
                <a:ea typeface="Malgun Gothic"/>
                <a:cs typeface="Arial"/>
              </a:rPr>
              <a:t xml:space="preserve">부모·자식 연결은 양방향 Login ↔ Initial ↔ Payment Login → Payment의 거리 = 2</a:t>
            </a:r>
            <a:endParaRPr lang="ko-KR" sz="850"/>
          </a:p>
        </p:txBody>
      </p:sp>
      <p:sp>
        <p:nvSpPr>
          <p:cNvPr id="24" name="Text 24"/>
          <p:cNvSpPr txBox="1"/>
          <p:nvPr/>
        </p:nvSpPr>
        <p:spPr>
          <a:xfrm>
            <a:off x="571500" y="4942840"/>
            <a:ext cx="3683000" cy="153035"/>
          </a:xfrm>
          <a:prstGeom prst="rect">
            <a:avLst/>
          </a:prstGeom>
          <a:noFill/>
          <a:ln>
            <a:noFill/>
          </a:ln>
        </p:spPr>
        <p:txBody>
          <a:bodyPr wrap="square" lIns="0" tIns="0" rIns="0" bIns="0" anchor="t">
            <a:noAutofit/>
          </a:bodyPr>
          <a:lstStyle/>
          <a:p>
            <a:pPr algn="l">
              <a:lnSpc>
                <a:spcPts val="1105"/>
              </a:lnSpc>
            </a:pPr>
            <a:r>
              <a:rPr lang="ko-KR" sz="850" b="1">
                <a:solidFill>
                  <a:srgbClr val="168B82"/>
                </a:solidFill>
                <a:latin typeface="Arial"/>
                <a:ea typeface="Malgun Gothic"/>
                <a:cs typeface="Arial"/>
              </a:rPr>
              <a:t xml:space="preserve">경로가 없다면</a:t>
            </a:r>
            <a:endParaRPr lang="ko-KR" sz="850"/>
          </a:p>
        </p:txBody>
      </p:sp>
      <p:sp>
        <p:nvSpPr>
          <p:cNvPr id="25" name="Text 25"/>
          <p:cNvSpPr txBox="1"/>
          <p:nvPr/>
        </p:nvSpPr>
        <p:spPr>
          <a:xfrm>
            <a:off x="571500" y="5146675"/>
            <a:ext cx="3683000" cy="153035"/>
          </a:xfrm>
          <a:prstGeom prst="rect">
            <a:avLst/>
          </a:prstGeom>
          <a:noFill/>
          <a:ln>
            <a:noFill/>
          </a:ln>
        </p:spPr>
        <p:txBody>
          <a:bodyPr wrap="square" lIns="0" tIns="0" rIns="0" bIns="0" anchor="t">
            <a:noAutofit/>
          </a:bodyPr>
          <a:lstStyle/>
          <a:p>
            <a:pPr algn="l">
              <a:lnSpc>
                <a:spcPts val="1105"/>
              </a:lnSpc>
            </a:pPr>
            <a:r>
              <a:rPr lang="ko-KR" sz="850" b="0">
                <a:solidFill>
                  <a:srgbClr val="142536"/>
                </a:solidFill>
                <a:latin typeface="Arial"/>
                <a:ea typeface="Malgun Gothic"/>
                <a:cs typeface="Arial"/>
              </a:rPr>
              <a:t xml:space="preserve">두 커밋은 있지만 연결 안 됨: No path hash 자체가 없음: Unknown commit: &lt;hash&gt;</a:t>
            </a:r>
            <a:endParaRPr lang="ko-KR" sz="850"/>
          </a:p>
        </p:txBody>
      </p:sp>
      <p:sp>
        <p:nvSpPr>
          <p:cNvPr id="26" name="Text 26"/>
          <p:cNvSpPr txBox="1"/>
          <p:nvPr/>
        </p:nvSpPr>
        <p:spPr>
          <a:xfrm>
            <a:off x="571500" y="5350510"/>
            <a:ext cx="3683000" cy="153035"/>
          </a:xfrm>
          <a:prstGeom prst="rect">
            <a:avLst/>
          </a:prstGeom>
          <a:noFill/>
          <a:ln>
            <a:noFill/>
          </a:ln>
        </p:spPr>
        <p:txBody>
          <a:bodyPr wrap="square" lIns="0" tIns="0" rIns="0" bIns="0" anchor="t">
            <a:noAutofit/>
          </a:bodyPr>
          <a:lstStyle/>
          <a:p>
            <a:pPr algn="l">
              <a:lnSpc>
                <a:spcPts val="1105"/>
              </a:lnSpc>
            </a:pPr>
            <a:r>
              <a:rPr lang="ko-KR" sz="850" b="1">
                <a:solidFill>
                  <a:srgbClr val="168B82"/>
                </a:solidFill>
                <a:latin typeface="Arial"/>
                <a:ea typeface="Malgun Gothic"/>
                <a:cs typeface="Arial"/>
              </a:rPr>
              <a:t xml:space="preserve">실행 확인 · mini-git&gt; · 5페이지 실습 후</a:t>
            </a:r>
            <a:endParaRPr lang="ko-KR" sz="850"/>
          </a:p>
        </p:txBody>
      </p:sp>
      <p:sp>
        <p:nvSpPr>
          <p:cNvPr id="27" name="Text 27"/>
          <p:cNvSpPr txBox="1"/>
          <p:nvPr/>
        </p:nvSpPr>
        <p:spPr>
          <a:xfrm>
            <a:off x="571500" y="5554345"/>
            <a:ext cx="3683000" cy="293370"/>
          </a:xfrm>
          <a:prstGeom prst="rect">
            <a:avLst/>
          </a:prstGeom>
          <a:noFill/>
          <a:ln>
            <a:noFill/>
          </a:ln>
        </p:spPr>
        <p:txBody>
          <a:bodyPr wrap="square" lIns="0" tIns="0" rIns="0" bIns="0" anchor="t">
            <a:noAutofit/>
          </a:bodyPr>
          <a:lstStyle/>
          <a:p>
            <a:pPr algn="l">
              <a:lnSpc>
                <a:spcPts val="1105"/>
              </a:lnSpc>
            </a:pPr>
            <a:r>
              <a:rPr lang="ko-KR" sz="850" b="0">
                <a:solidFill>
                  <a:srgbClr val="142536"/>
                </a:solidFill>
                <a:latin typeface="Menlo"/>
                <a:ea typeface="Malgun Gothic"/>
                <a:cs typeface="Arial"/>
              </a:rPr>
              <a:t xml:space="preserve">PATH 5fa901 837f82</a:t>
            </a:r>
            <a:endParaRPr lang="ko-KR" sz="850"/>
          </a:p>
          <a:p>
            <a:pPr algn="l">
              <a:lnSpc>
                <a:spcPts val="1105"/>
              </a:lnSpc>
            </a:pPr>
            <a:r>
              <a:rPr lang="ko-KR" sz="850" b="0">
                <a:solidFill>
                  <a:srgbClr val="142536"/>
                </a:solidFill>
                <a:latin typeface="Menlo"/>
                <a:ea typeface="Malgun Gothic"/>
                <a:cs typeface="Arial"/>
              </a:rPr>
              <a:t xml:space="preserve">PATH 5fa901 5fa901</a:t>
            </a:r>
            <a:endParaRPr lang="ko-KR" sz="850"/>
          </a:p>
        </p:txBody>
      </p:sp>
      <p:sp>
        <p:nvSpPr>
          <p:cNvPr id="28" name="Text 28"/>
          <p:cNvSpPr txBox="1"/>
          <p:nvPr/>
        </p:nvSpPr>
        <p:spPr>
          <a:xfrm>
            <a:off x="571500" y="5898515"/>
            <a:ext cx="3683000" cy="153035"/>
          </a:xfrm>
          <a:prstGeom prst="rect">
            <a:avLst/>
          </a:prstGeom>
          <a:noFill/>
          <a:ln>
            <a:noFill/>
          </a:ln>
        </p:spPr>
        <p:txBody>
          <a:bodyPr wrap="square" lIns="0" tIns="0" rIns="0" bIns="0" anchor="t">
            <a:noAutofit/>
          </a:bodyPr>
          <a:lstStyle/>
          <a:p>
            <a:pPr algn="l">
              <a:lnSpc>
                <a:spcPts val="1105"/>
              </a:lnSpc>
            </a:pPr>
            <a:r>
              <a:rPr lang="ko-KR" sz="850" b="0">
                <a:solidFill>
                  <a:srgbClr val="142536"/>
                </a:solidFill>
                <a:latin typeface="Arial"/>
                <a:ea typeface="Malgun Gothic"/>
                <a:cs typeface="Arial"/>
              </a:rPr>
              <a:t xml:space="preserve">확인: 현재 LOG의 hash로 교체. 첫 경로는 간선 2개, 자기 자신은 간선 0개</a:t>
            </a:r>
            <a:endParaRPr lang="ko-KR" sz="850"/>
          </a:p>
        </p:txBody>
      </p:sp>
      <p:sp>
        <p:nvSpPr>
          <p:cNvPr id="29" name="Text 29"/>
          <p:cNvSpPr txBox="1"/>
          <p:nvPr/>
        </p:nvSpPr>
        <p:spPr>
          <a:xfrm>
            <a:off x="4508500" y="1809750"/>
            <a:ext cx="7175500" cy="47498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Arial"/>
                <a:ea typeface="Malgun Gothic"/>
                <a:cs typeface="Arial"/>
              </a:rPr>
              <a:t xml:space="preserve">과제 명세는 "커밋-부모 연결을 무방향 간선으로 간주"하라고 명시합니다. 즉 부모 방향만이 아니라 자식</a:t>
            </a:r>
            <a:endParaRPr lang="ko-KR" sz="1400"/>
          </a:p>
          <a:p>
            <a:pPr algn="l">
              <a:lnSpc>
                <a:spcPts val="1820"/>
              </a:lnSpc>
            </a:pPr>
            <a:r>
              <a:rPr lang="ko-KR" sz="1400" b="0">
                <a:solidFill>
                  <a:srgbClr val="142536"/>
                </a:solidFill>
                <a:latin typeface="Arial"/>
                <a:ea typeface="Malgun Gothic"/>
                <a:cs typeface="Arial"/>
              </a:rPr>
              <a:t xml:space="preserve">방향으로도 이동할 수 있는 별도 그래프를 만들어야 합니다.</a:t>
            </a:r>
            <a:endParaRPr lang="ko-KR" sz="1400"/>
          </a:p>
        </p:txBody>
      </p:sp>
      <p:sp>
        <p:nvSpPr>
          <p:cNvPr id="30" name="Text 30"/>
          <p:cNvSpPr txBox="1"/>
          <p:nvPr/>
        </p:nvSpPr>
        <p:spPr>
          <a:xfrm>
            <a:off x="4508500" y="2335530"/>
            <a:ext cx="7175500" cy="163068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Menlo"/>
                <a:ea typeface="Malgun Gothic"/>
                <a:cs typeface="Arial"/>
              </a:rPr>
              <a:t xml:space="preserve">def _undirected_adjacency(commits):</a:t>
            </a:r>
            <a:endParaRPr lang="ko-KR" sz="1400"/>
          </a:p>
          <a:p>
            <a:pPr algn="l">
              <a:lnSpc>
                <a:spcPts val="1820"/>
              </a:lnSpc>
            </a:pPr>
            <a:r>
              <a:rPr lang="ko-KR" sz="1400" b="0">
                <a:solidFill>
                  <a:srgbClr val="142536"/>
                </a:solidFill>
                <a:latin typeface="Menlo"/>
                <a:ea typeface="Malgun Gothic"/>
                <a:cs typeface="Arial"/>
              </a:rPr>
              <a:t xml:space="preserve">    adjacency = {h: [] for h in commits}</a:t>
            </a:r>
            <a:endParaRPr lang="ko-KR" sz="1400"/>
          </a:p>
          <a:p>
            <a:pPr algn="l">
              <a:lnSpc>
                <a:spcPts val="1820"/>
              </a:lnSpc>
            </a:pPr>
            <a:r>
              <a:rPr lang="ko-KR" sz="1400" b="0">
                <a:solidFill>
                  <a:srgbClr val="142536"/>
                </a:solidFill>
                <a:latin typeface="Menlo"/>
                <a:ea typeface="Malgun Gothic"/>
                <a:cs typeface="Arial"/>
              </a:rPr>
              <a:t xml:space="preserve">    for h, c in commits.items():</a:t>
            </a:r>
            <a:endParaRPr lang="ko-KR" sz="1400"/>
          </a:p>
          <a:p>
            <a:pPr algn="l">
              <a:lnSpc>
                <a:spcPts val="1820"/>
              </a:lnSpc>
            </a:pPr>
            <a:r>
              <a:rPr lang="ko-KR" sz="1400" b="0">
                <a:solidFill>
                  <a:srgbClr val="142536"/>
                </a:solidFill>
                <a:latin typeface="Menlo"/>
                <a:ea typeface="Malgun Gothic"/>
                <a:cs typeface="Arial"/>
              </a:rPr>
              <a:t xml:space="preserve">        for p in c.parents:</a:t>
            </a:r>
            <a:endParaRPr lang="ko-KR" sz="1400"/>
          </a:p>
          <a:p>
            <a:pPr algn="l">
              <a:lnSpc>
                <a:spcPts val="1820"/>
              </a:lnSpc>
            </a:pPr>
            <a:r>
              <a:rPr lang="ko-KR" sz="1400" b="0">
                <a:solidFill>
                  <a:srgbClr val="142536"/>
                </a:solidFill>
                <a:latin typeface="Menlo"/>
                <a:ea typeface="Malgun Gothic"/>
                <a:cs typeface="Arial"/>
              </a:rPr>
              <a:t xml:space="preserve">            adjacency[h].append(p)</a:t>
            </a:r>
            <a:endParaRPr lang="ko-KR" sz="1400"/>
          </a:p>
          <a:p>
            <a:pPr algn="l">
              <a:lnSpc>
                <a:spcPts val="1820"/>
              </a:lnSpc>
            </a:pPr>
            <a:r>
              <a:rPr lang="ko-KR" sz="1400" b="0">
                <a:solidFill>
                  <a:srgbClr val="142536"/>
                </a:solidFill>
                <a:latin typeface="Menlo"/>
                <a:ea typeface="Malgun Gothic"/>
                <a:cs typeface="Arial"/>
              </a:rPr>
              <a:t xml:space="preserve">            adjacency[p].append(h)   # 양방향 간선</a:t>
            </a:r>
            <a:endParaRPr lang="ko-KR" sz="1400"/>
          </a:p>
          <a:p>
            <a:pPr algn="l">
              <a:lnSpc>
                <a:spcPts val="1820"/>
              </a:lnSpc>
            </a:pPr>
            <a:r>
              <a:rPr lang="ko-KR" sz="1400" b="0">
                <a:solidFill>
                  <a:srgbClr val="142536"/>
                </a:solidFill>
                <a:latin typeface="Menlo"/>
                <a:ea typeface="Malgun Gothic"/>
                <a:cs typeface="Arial"/>
              </a:rPr>
              <a:t xml:space="preserve">    return adjacency</a:t>
            </a:r>
            <a:endParaRPr lang="ko-KR" sz="1400"/>
          </a:p>
        </p:txBody>
      </p:sp>
      <p:sp>
        <p:nvSpPr>
          <p:cNvPr id="31" name="Text 31"/>
          <p:cNvSpPr txBox="1"/>
          <p:nvPr/>
        </p:nvSpPr>
        <p:spPr>
          <a:xfrm>
            <a:off x="4508500" y="4017010"/>
            <a:ext cx="7175500" cy="116840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Arial"/>
                <a:ea typeface="Malgun Gothic"/>
                <a:cs typeface="Arial"/>
              </a:rPr>
              <a:t xml:space="preserve">최단 거리 자체는 이 무방향 그래프에서 BFS 한 번(O(V+E))이면 구해집니다. 문제는 "최단 경로가 여러 개</a:t>
            </a:r>
            <a:endParaRPr lang="ko-KR" sz="1400"/>
          </a:p>
          <a:p>
            <a:pPr algn="l">
              <a:lnSpc>
                <a:spcPts val="1820"/>
              </a:lnSpc>
            </a:pPr>
            <a:r>
              <a:rPr lang="ko-KR" sz="1400" b="0">
                <a:solidFill>
                  <a:srgbClr val="142536"/>
                </a:solidFill>
                <a:latin typeface="Arial"/>
                <a:ea typeface="Malgun Gothic"/>
                <a:cs typeface="Arial"/>
              </a:rPr>
              <a:t xml:space="preserve">일 때 사전순으로 가장 작은 것"을 골라야 한다는 점입니다. 이를 위해 시작점(start_hash)과 끝점(end_has</a:t>
            </a:r>
            <a:endParaRPr lang="ko-KR" sz="1400"/>
          </a:p>
          <a:p>
            <a:pPr algn="l">
              <a:lnSpc>
                <a:spcPts val="1820"/>
              </a:lnSpc>
            </a:pPr>
            <a:r>
              <a:rPr lang="ko-KR" sz="1400" b="0">
                <a:solidFill>
                  <a:srgbClr val="142536"/>
                </a:solidFill>
                <a:latin typeface="Arial"/>
                <a:ea typeface="Malgun Gothic"/>
                <a:cs typeface="Arial"/>
              </a:rPr>
              <a:t xml:space="preserve">h) 양쪽에서 각각 BFS 거리를 구해둔 뒤, 시 작점부터 한 걸음씩 전진하면서 "이 지점까지의 최단 거리 + 여</a:t>
            </a:r>
            <a:endParaRPr lang="ko-KR" sz="1400"/>
          </a:p>
          <a:p>
            <a:pPr algn="l">
              <a:lnSpc>
                <a:spcPts val="1820"/>
              </a:lnSpc>
            </a:pPr>
            <a:r>
              <a:rPr lang="ko-KR" sz="1400" b="0">
                <a:solidFill>
                  <a:srgbClr val="142536"/>
                </a:solidFill>
                <a:latin typeface="Arial"/>
                <a:ea typeface="Malgun Gothic"/>
                <a:cs typeface="Arial"/>
              </a:rPr>
              <a:t xml:space="preserve">기서 목적지까지 남은 최단 거리 = 전체 최단 거리"를 만족하는 이 웃들(=반드시 어떤 최단 경로 위에 있는</a:t>
            </a:r>
            <a:endParaRPr lang="ko-KR" sz="1400"/>
          </a:p>
          <a:p>
            <a:pPr algn="l">
              <a:lnSpc>
                <a:spcPts val="1820"/>
              </a:lnSpc>
            </a:pPr>
            <a:r>
              <a:rPr lang="ko-KR" sz="1400" b="0">
                <a:solidFill>
                  <a:srgbClr val="142536"/>
                </a:solidFill>
                <a:latin typeface="Arial"/>
                <a:ea typeface="Malgun Gothic"/>
                <a:cs typeface="Arial"/>
              </a:rPr>
              <a:t xml:space="preserve">이웃) 중 hash 문자열이 가장 작은 것을 매번 고릅니다.</a:t>
            </a:r>
            <a:endParaRPr lang="ko-KR" sz="1400"/>
          </a:p>
        </p:txBody>
      </p:sp>
      <p:sp>
        <p:nvSpPr>
          <p:cNvPr id="32" name="Text 32"/>
          <p:cNvSpPr txBox="1"/>
          <p:nvPr/>
        </p:nvSpPr>
        <p:spPr>
          <a:xfrm>
            <a:off x="4508500" y="5236210"/>
            <a:ext cx="7175500" cy="70612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Arial"/>
                <a:ea typeface="Malgun Gothic"/>
                <a:cs typeface="Arial"/>
              </a:rPr>
              <a:t xml:space="preserve">BFS는 Breadth First Search, 너비 우선 탐색입니다. 물결이 가까운 곳부터 퍼진다고 생각하면 됩니다. 간</a:t>
            </a:r>
            <a:endParaRPr lang="ko-KR" sz="1400"/>
          </a:p>
          <a:p>
            <a:pPr algn="l">
              <a:lnSpc>
                <a:spcPts val="1820"/>
              </a:lnSpc>
            </a:pPr>
            <a:r>
              <a:rPr lang="ko-KR" sz="1400" b="0">
                <a:solidFill>
                  <a:srgbClr val="142536"/>
                </a:solidFill>
                <a:latin typeface="Arial"/>
                <a:ea typeface="Malgun Gothic"/>
                <a:cs typeface="Arial"/>
              </a:rPr>
              <a:t xml:space="preserve">선마다 비용이 같으므로 먼저 발견한 단계가 최단 거리입니다. PATH는 Git 부모 참조를 그대로 한 방향으</a:t>
            </a:r>
            <a:endParaRPr lang="ko-KR" sz="1400"/>
          </a:p>
          <a:p>
            <a:pPr algn="l">
              <a:lnSpc>
                <a:spcPts val="1820"/>
              </a:lnSpc>
            </a:pPr>
            <a:r>
              <a:rPr lang="ko-KR" sz="1400" b="0">
                <a:solidFill>
                  <a:srgbClr val="142536"/>
                </a:solidFill>
                <a:latin typeface="Arial"/>
                <a:ea typeface="Malgun Gothic"/>
                <a:cs typeface="Arial"/>
              </a:rPr>
              <a:t xml:space="preserve">로 따라가는 기능이 아니라 과제가 정한 무방향 경로입니다. 같은 출발지와 목적지는 거리 0입니다.</a:t>
            </a:r>
            <a:endParaRPr lang="ko-KR" sz="1400"/>
          </a:p>
        </p:txBody>
      </p:sp>
      <p:sp>
        <p:nvSpPr>
          <p:cNvPr id="33" name="Text 33"/>
          <p:cNvSpPr txBox="1"/>
          <p:nvPr/>
        </p:nvSpPr>
        <p:spPr>
          <a:xfrm>
            <a:off x="508000" y="6299200"/>
            <a:ext cx="11176000" cy="22860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모든 연결의 비용이 1일 때 BFS는 간선 수가 가장 적은 거리를 찾습니다.</a:t>
            </a:r>
            <a:endParaRPr lang="ko-KR" sz="1250"/>
          </a:p>
        </p:txBody>
      </p:sp>
      <p:sp>
        <p:nvSpPr>
          <p:cNvPr id="34" name="Text 34"/>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mini_git/traversal.py: _bfs_distances(), shortest_path() · 평가질문_설명자료.md</a:t>
            </a:r>
            <a:endParaRPr lang="ko-KR" sz="1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최단 경로가 둘이면 hash 사전순으로">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EXPLAIN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16 / 26</a:t>
            </a:r>
            <a:endParaRPr lang="ko-KR" sz="1250"/>
          </a:p>
        </p:txBody>
      </p:sp>
      <p:sp>
        <p:nvSpPr>
          <p:cNvPr id="5" name="Text 5"/>
          <p:cNvSpPr txBox="1"/>
          <p:nvPr/>
        </p:nvSpPr>
        <p:spPr>
          <a:xfrm>
            <a:off x="508000" y="793750"/>
            <a:ext cx="11176000" cy="635000"/>
          </a:xfrm>
          <a:prstGeom prst="rect">
            <a:avLst/>
          </a:prstGeom>
          <a:noFill/>
          <a:ln>
            <a:noFill/>
          </a:ln>
        </p:spPr>
        <p:txBody>
          <a:bodyPr wrap="square" lIns="0" tIns="0" rIns="0" bIns="0" anchor="t">
            <a:noAutofit/>
          </a:bodyPr>
          <a:lstStyle/>
          <a:p>
            <a:pPr algn="l">
              <a:lnSpc>
                <a:spcPts val="3900"/>
              </a:lnSpc>
            </a:pPr>
            <a:r>
              <a:rPr lang="ko-KR" sz="3000" b="1">
                <a:solidFill>
                  <a:srgbClr val="142536"/>
                </a:solidFill>
                <a:latin typeface="Arial"/>
                <a:ea typeface="Malgun Gothic"/>
                <a:cs typeface="Arial"/>
              </a:rPr>
              <a:t xml:space="preserve">최단 경로가 둘이면 hash 사전순으로</a:t>
            </a:r>
            <a:endParaRPr lang="ko-KR" sz="3000"/>
          </a:p>
        </p:txBody>
      </p:sp>
      <p:sp>
        <p:nvSpPr>
          <p:cNvPr id="6" name="Text 6"/>
          <p:cNvSpPr txBox="1"/>
          <p:nvPr/>
        </p:nvSpPr>
        <p:spPr>
          <a:xfrm>
            <a:off x="571500" y="1492250"/>
            <a:ext cx="3683000" cy="24130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핵심 · 그림 · 실행</a:t>
            </a:r>
            <a:endParaRPr lang="ko-KR" sz="1300"/>
          </a:p>
        </p:txBody>
      </p:sp>
      <p:sp>
        <p:nvSpPr>
          <p:cNvPr id="7" name="Text 7"/>
          <p:cNvSpPr txBox="1"/>
          <p:nvPr/>
        </p:nvSpPr>
        <p:spPr>
          <a:xfrm>
            <a:off x="4508500" y="1492250"/>
            <a:ext cx="7175500" cy="24130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상세 설명 · 코드 · 문답 전체</a:t>
            </a:r>
            <a:endParaRPr lang="ko-KR" sz="1300"/>
          </a:p>
        </p:txBody>
      </p:sp>
      <p:sp>
        <p:nvSpPr>
          <p:cNvPr id="8" name="Shape 8"/>
          <p:cNvSpPr/>
          <p:nvPr/>
        </p:nvSpPr>
        <p:spPr>
          <a:xfrm>
            <a:off x="4349750" y="1778000"/>
            <a:ext cx="12700" cy="4381500"/>
          </a:xfrm>
          <a:prstGeom prst="rect">
            <a:avLst/>
          </a:prstGeom>
          <a:solidFill>
            <a:srgbClr val="D7DFDB"/>
          </a:solidFill>
          <a:ln>
            <a:noFill/>
          </a:ln>
        </p:spPr>
      </p:sp>
      <p:sp>
        <p:nvSpPr>
          <p:cNvPr id="9" name="Shape 9"/>
          <p:cNvSpPr/>
          <p:nvPr/>
        </p:nvSpPr>
        <p:spPr>
          <a:xfrm>
            <a:off x="476250" y="1778000"/>
            <a:ext cx="2968625" cy="2182812"/>
          </a:xfrm>
          <a:prstGeom prst="roundRect">
            <a:avLst/>
          </a:prstGeom>
          <a:solidFill>
            <a:srgbClr val="FFFFFF"/>
          </a:solidFill>
          <a:ln w="12700">
            <a:solidFill>
              <a:srgbClr val="D7DFDB"/>
            </a:solidFill>
          </a:ln>
        </p:spPr>
      </p:sp>
      <p:sp>
        <p:nvSpPr>
          <p:cNvPr id="10" name="Text 10"/>
          <p:cNvSpPr txBox="1"/>
          <p:nvPr/>
        </p:nvSpPr>
        <p:spPr>
          <a:xfrm>
            <a:off x="581025" y="1847850"/>
            <a:ext cx="2724150" cy="209550"/>
          </a:xfrm>
          <a:prstGeom prst="rect">
            <a:avLst/>
          </a:prstGeom>
          <a:noFill/>
          <a:ln>
            <a:noFill/>
          </a:ln>
        </p:spPr>
        <p:txBody>
          <a:bodyPr wrap="square" lIns="0" tIns="0" rIns="0" bIns="0" anchor="t">
            <a:noAutofit/>
          </a:bodyPr>
          <a:lstStyle/>
          <a:p>
            <a:pPr algn="l">
              <a:lnSpc>
                <a:spcPts val="1072"/>
              </a:lnSpc>
            </a:pPr>
            <a:r>
              <a:rPr lang="ko-KR" sz="825" b="1">
                <a:solidFill>
                  <a:srgbClr val="168B82"/>
                </a:solidFill>
                <a:latin typeface="Arial"/>
                <a:ea typeface="Malgun Gothic"/>
                <a:cs typeface="Arial"/>
              </a:rPr>
              <a:t xml:space="preserve">한눈에 이해하기</a:t>
            </a:r>
            <a:endParaRPr lang="ko-KR" sz="825"/>
          </a:p>
        </p:txBody>
      </p:sp>
      <p:cxnSp>
        <p:nvCxnSpPr>
          <p:cNvPr id="11" name="Edge 11"/>
          <p:cNvCxnSpPr/>
          <p:nvPr/>
        </p:nvCxnSpPr>
        <p:spPr>
          <a:xfrm flipH="0" flipV="1">
            <a:off x="1139825" y="2389188"/>
            <a:ext cx="873125" cy="488950"/>
          </a:xfrm>
          <a:prstGeom prst="line">
            <a:avLst/>
          </a:prstGeom>
          <a:ln w="31750">
            <a:solidFill>
              <a:srgbClr val="E9B55B"/>
            </a:solidFill>
          </a:ln>
        </p:spPr>
      </p:cxnSp>
      <p:cxnSp>
        <p:nvCxnSpPr>
          <p:cNvPr id="12" name="Edge 12"/>
          <p:cNvCxnSpPr/>
          <p:nvPr/>
        </p:nvCxnSpPr>
        <p:spPr>
          <a:xfrm flipH="0" flipV="0">
            <a:off x="1139825" y="2878138"/>
            <a:ext cx="873125" cy="488950"/>
          </a:xfrm>
          <a:prstGeom prst="line">
            <a:avLst/>
          </a:prstGeom>
          <a:ln w="31750">
            <a:solidFill>
              <a:srgbClr val="168B82"/>
            </a:solidFill>
          </a:ln>
        </p:spPr>
      </p:cxnSp>
      <p:cxnSp>
        <p:nvCxnSpPr>
          <p:cNvPr id="13" name="Edge 13"/>
          <p:cNvCxnSpPr/>
          <p:nvPr/>
        </p:nvCxnSpPr>
        <p:spPr>
          <a:xfrm flipH="0" flipV="0">
            <a:off x="2012950" y="2389188"/>
            <a:ext cx="873125" cy="488950"/>
          </a:xfrm>
          <a:prstGeom prst="line">
            <a:avLst/>
          </a:prstGeom>
          <a:ln w="31750">
            <a:solidFill>
              <a:srgbClr val="E9B55B"/>
            </a:solidFill>
          </a:ln>
        </p:spPr>
      </p:cxnSp>
      <p:cxnSp>
        <p:nvCxnSpPr>
          <p:cNvPr id="14" name="Edge 14"/>
          <p:cNvCxnSpPr/>
          <p:nvPr/>
        </p:nvCxnSpPr>
        <p:spPr>
          <a:xfrm flipH="0" flipV="1">
            <a:off x="2012950" y="2878138"/>
            <a:ext cx="873125" cy="488950"/>
          </a:xfrm>
          <a:prstGeom prst="line">
            <a:avLst/>
          </a:prstGeom>
          <a:ln w="31750">
            <a:solidFill>
              <a:srgbClr val="168B82"/>
            </a:solidFill>
          </a:ln>
        </p:spPr>
      </p:cxnSp>
      <p:sp>
        <p:nvSpPr>
          <p:cNvPr id="15" name="Shape 15"/>
          <p:cNvSpPr/>
          <p:nvPr/>
        </p:nvSpPr>
        <p:spPr>
          <a:xfrm>
            <a:off x="860425" y="2703512"/>
            <a:ext cx="593725" cy="349250"/>
          </a:xfrm>
          <a:prstGeom prst="roundRect">
            <a:avLst/>
          </a:prstGeom>
          <a:solidFill>
            <a:srgbClr val="168B82"/>
          </a:solidFill>
          <a:ln>
            <a:noFill/>
          </a:ln>
        </p:spPr>
      </p:sp>
      <p:sp>
        <p:nvSpPr>
          <p:cNvPr id="16" name="Text 16"/>
          <p:cNvSpPr txBox="1"/>
          <p:nvPr/>
        </p:nvSpPr>
        <p:spPr>
          <a:xfrm>
            <a:off x="895350" y="2780348"/>
            <a:ext cx="523875" cy="258445"/>
          </a:xfrm>
          <a:prstGeom prst="rect">
            <a:avLst/>
          </a:prstGeom>
          <a:noFill/>
          <a:ln>
            <a:noFill/>
          </a:ln>
        </p:spPr>
        <p:txBody>
          <a:bodyPr wrap="square" lIns="0" tIns="0" rIns="0" bIns="0" anchor="t">
            <a:noAutofit/>
          </a:bodyPr>
          <a:lstStyle/>
          <a:p>
            <a:pPr algn="ctr">
              <a:lnSpc>
                <a:spcPts val="1294"/>
              </a:lnSpc>
            </a:pPr>
            <a:r>
              <a:rPr lang="ko-KR" sz="995" b="1">
                <a:solidFill>
                  <a:srgbClr val="FFFFFF"/>
                </a:solidFill>
                <a:latin typeface="Arial"/>
                <a:ea typeface="Malgun Gothic"/>
                <a:cs typeface="Arial"/>
              </a:rPr>
              <a:t xml:space="preserve">000000</a:t>
            </a:r>
            <a:endParaRPr lang="ko-KR" sz="995"/>
          </a:p>
        </p:txBody>
      </p:sp>
      <p:sp>
        <p:nvSpPr>
          <p:cNvPr id="17" name="Shape 17"/>
          <p:cNvSpPr/>
          <p:nvPr/>
        </p:nvSpPr>
        <p:spPr>
          <a:xfrm>
            <a:off x="1733550" y="2214562"/>
            <a:ext cx="593725" cy="349250"/>
          </a:xfrm>
          <a:prstGeom prst="roundRect">
            <a:avLst/>
          </a:prstGeom>
          <a:solidFill>
            <a:srgbClr val="168B82"/>
          </a:solidFill>
          <a:ln>
            <a:noFill/>
          </a:ln>
        </p:spPr>
      </p:sp>
      <p:sp>
        <p:nvSpPr>
          <p:cNvPr id="18" name="Text 18"/>
          <p:cNvSpPr txBox="1"/>
          <p:nvPr/>
        </p:nvSpPr>
        <p:spPr>
          <a:xfrm>
            <a:off x="1768475" y="2291398"/>
            <a:ext cx="523875" cy="258445"/>
          </a:xfrm>
          <a:prstGeom prst="rect">
            <a:avLst/>
          </a:prstGeom>
          <a:noFill/>
          <a:ln>
            <a:noFill/>
          </a:ln>
        </p:spPr>
        <p:txBody>
          <a:bodyPr wrap="square" lIns="0" tIns="0" rIns="0" bIns="0" anchor="t">
            <a:noAutofit/>
          </a:bodyPr>
          <a:lstStyle/>
          <a:p>
            <a:pPr algn="ctr">
              <a:lnSpc>
                <a:spcPts val="1359"/>
              </a:lnSpc>
            </a:pPr>
            <a:r>
              <a:rPr lang="ko-KR" sz="1045" b="1">
                <a:solidFill>
                  <a:srgbClr val="FFFFFF"/>
                </a:solidFill>
                <a:latin typeface="Arial"/>
                <a:ea typeface="Malgun Gothic"/>
                <a:cs typeface="Arial"/>
              </a:rPr>
              <a:t xml:space="preserve">000001</a:t>
            </a:r>
            <a:endParaRPr lang="ko-KR" sz="1045"/>
          </a:p>
        </p:txBody>
      </p:sp>
      <p:sp>
        <p:nvSpPr>
          <p:cNvPr id="19" name="Shape 19"/>
          <p:cNvSpPr/>
          <p:nvPr/>
        </p:nvSpPr>
        <p:spPr>
          <a:xfrm>
            <a:off x="1733550" y="3192463"/>
            <a:ext cx="593725" cy="349250"/>
          </a:xfrm>
          <a:prstGeom prst="roundRect">
            <a:avLst/>
          </a:prstGeom>
          <a:solidFill>
            <a:srgbClr val="168B82"/>
          </a:solidFill>
          <a:ln>
            <a:noFill/>
          </a:ln>
        </p:spPr>
      </p:sp>
      <p:sp>
        <p:nvSpPr>
          <p:cNvPr id="20" name="Text 20"/>
          <p:cNvSpPr txBox="1"/>
          <p:nvPr/>
        </p:nvSpPr>
        <p:spPr>
          <a:xfrm>
            <a:off x="1768475" y="3269298"/>
            <a:ext cx="523875" cy="258445"/>
          </a:xfrm>
          <a:prstGeom prst="rect">
            <a:avLst/>
          </a:prstGeom>
          <a:noFill/>
          <a:ln>
            <a:noFill/>
          </a:ln>
        </p:spPr>
        <p:txBody>
          <a:bodyPr wrap="square" lIns="0" tIns="0" rIns="0" bIns="0" anchor="t">
            <a:noAutofit/>
          </a:bodyPr>
          <a:lstStyle/>
          <a:p>
            <a:pPr algn="ctr">
              <a:lnSpc>
                <a:spcPts val="1359"/>
              </a:lnSpc>
            </a:pPr>
            <a:r>
              <a:rPr lang="ko-KR" sz="1045" b="1">
                <a:solidFill>
                  <a:srgbClr val="FFFFFF"/>
                </a:solidFill>
                <a:latin typeface="Arial"/>
                <a:ea typeface="Malgun Gothic"/>
                <a:cs typeface="Arial"/>
              </a:rPr>
              <a:t xml:space="preserve">000002</a:t>
            </a:r>
            <a:endParaRPr lang="ko-KR" sz="1045"/>
          </a:p>
        </p:txBody>
      </p:sp>
      <p:sp>
        <p:nvSpPr>
          <p:cNvPr id="21" name="Shape 21"/>
          <p:cNvSpPr/>
          <p:nvPr/>
        </p:nvSpPr>
        <p:spPr>
          <a:xfrm>
            <a:off x="2606675" y="2703512"/>
            <a:ext cx="593725" cy="349250"/>
          </a:xfrm>
          <a:prstGeom prst="roundRect">
            <a:avLst/>
          </a:prstGeom>
          <a:solidFill>
            <a:srgbClr val="168B82"/>
          </a:solidFill>
          <a:ln>
            <a:noFill/>
          </a:ln>
        </p:spPr>
      </p:sp>
      <p:sp>
        <p:nvSpPr>
          <p:cNvPr id="22" name="Text 22"/>
          <p:cNvSpPr txBox="1"/>
          <p:nvPr/>
        </p:nvSpPr>
        <p:spPr>
          <a:xfrm>
            <a:off x="2641600" y="2780348"/>
            <a:ext cx="523875" cy="258445"/>
          </a:xfrm>
          <a:prstGeom prst="rect">
            <a:avLst/>
          </a:prstGeom>
          <a:noFill/>
          <a:ln>
            <a:noFill/>
          </a:ln>
        </p:spPr>
        <p:txBody>
          <a:bodyPr wrap="square" lIns="0" tIns="0" rIns="0" bIns="0" anchor="t">
            <a:noAutofit/>
          </a:bodyPr>
          <a:lstStyle/>
          <a:p>
            <a:pPr algn="ctr">
              <a:lnSpc>
                <a:spcPts val="1359"/>
              </a:lnSpc>
            </a:pPr>
            <a:r>
              <a:rPr lang="ko-KR" sz="1045" b="1">
                <a:solidFill>
                  <a:srgbClr val="FFFFFF"/>
                </a:solidFill>
                <a:latin typeface="Arial"/>
                <a:ea typeface="Malgun Gothic"/>
                <a:cs typeface="Arial"/>
              </a:rPr>
              <a:t xml:space="preserve">000003</a:t>
            </a:r>
            <a:endParaRPr lang="ko-KR" sz="1045"/>
          </a:p>
        </p:txBody>
      </p:sp>
      <p:sp>
        <p:nvSpPr>
          <p:cNvPr id="23" name="Text 23"/>
          <p:cNvSpPr txBox="1"/>
          <p:nvPr/>
        </p:nvSpPr>
        <p:spPr>
          <a:xfrm>
            <a:off x="615950" y="3698875"/>
            <a:ext cx="2654300" cy="157163"/>
          </a:xfrm>
          <a:prstGeom prst="rect">
            <a:avLst/>
          </a:prstGeom>
          <a:noFill/>
          <a:ln>
            <a:noFill/>
          </a:ln>
        </p:spPr>
        <p:txBody>
          <a:bodyPr wrap="square" lIns="0" tIns="0" rIns="0" bIns="0" anchor="t">
            <a:noAutofit/>
          </a:bodyPr>
          <a:lstStyle/>
          <a:p>
            <a:pPr algn="ctr">
              <a:lnSpc>
                <a:spcPts val="965"/>
              </a:lnSpc>
            </a:pPr>
            <a:r>
              <a:rPr lang="ko-KR" sz="743" b="0">
                <a:solidFill>
                  <a:srgbClr val="566979"/>
                </a:solidFill>
                <a:latin typeface="Arial"/>
                <a:ea typeface="Malgun Gothic"/>
                <a:cs typeface="Arial"/>
              </a:rPr>
              <a:t xml:space="preserve">테스트용 다중 부모 그래프</a:t>
            </a:r>
            <a:endParaRPr lang="ko-KR" sz="743"/>
          </a:p>
        </p:txBody>
      </p:sp>
      <p:sp>
        <p:nvSpPr>
          <p:cNvPr id="24" name="Text 24"/>
          <p:cNvSpPr txBox="1"/>
          <p:nvPr/>
        </p:nvSpPr>
        <p:spPr>
          <a:xfrm>
            <a:off x="571500" y="4127500"/>
            <a:ext cx="3683000" cy="136525"/>
          </a:xfrm>
          <a:prstGeom prst="rect">
            <a:avLst/>
          </a:prstGeom>
          <a:noFill/>
          <a:ln>
            <a:noFill/>
          </a:ln>
        </p:spPr>
        <p:txBody>
          <a:bodyPr wrap="square" lIns="0" tIns="0" rIns="0" bIns="0" anchor="t">
            <a:noAutofit/>
          </a:bodyPr>
          <a:lstStyle/>
          <a:p>
            <a:pPr algn="l">
              <a:lnSpc>
                <a:spcPts val="975"/>
              </a:lnSpc>
            </a:pPr>
            <a:r>
              <a:rPr lang="ko-KR" sz="750" b="1">
                <a:solidFill>
                  <a:srgbClr val="168B82"/>
                </a:solidFill>
                <a:latin typeface="Arial"/>
                <a:ea typeface="Malgun Gothic"/>
                <a:cs typeface="Arial"/>
              </a:rPr>
              <a:t xml:space="preserve">같은 거리의 두 경로</a:t>
            </a:r>
            <a:endParaRPr lang="ko-KR" sz="750"/>
          </a:p>
        </p:txBody>
      </p:sp>
      <p:sp>
        <p:nvSpPr>
          <p:cNvPr id="25" name="Text 25"/>
          <p:cNvSpPr txBox="1"/>
          <p:nvPr/>
        </p:nvSpPr>
        <p:spPr>
          <a:xfrm>
            <a:off x="571500" y="4314825"/>
            <a:ext cx="3683000" cy="136525"/>
          </a:xfrm>
          <a:prstGeom prst="rect">
            <a:avLst/>
          </a:prstGeom>
          <a:noFill/>
          <a:ln>
            <a:noFill/>
          </a:ln>
        </p:spPr>
        <p:txBody>
          <a:bodyPr wrap="square" lIns="0" tIns="0" rIns="0" bIns="0" anchor="t">
            <a:noAutofit/>
          </a:bodyPr>
          <a:lstStyle/>
          <a:p>
            <a:pPr algn="l">
              <a:lnSpc>
                <a:spcPts val="975"/>
              </a:lnSpc>
            </a:pPr>
            <a:r>
              <a:rPr lang="ko-KR" sz="750" b="0">
                <a:solidFill>
                  <a:srgbClr val="142536"/>
                </a:solidFill>
                <a:latin typeface="Arial"/>
                <a:ea typeface="Malgun Gothic"/>
                <a:cs typeface="Arial"/>
              </a:rPr>
              <a:t xml:space="preserve">000000 → 000001 → 000003 000000 → 000002 → 000003 두 경로 모두 간선 2개</a:t>
            </a:r>
            <a:endParaRPr lang="ko-KR" sz="750"/>
          </a:p>
        </p:txBody>
      </p:sp>
      <p:sp>
        <p:nvSpPr>
          <p:cNvPr id="26" name="Text 26"/>
          <p:cNvSpPr txBox="1"/>
          <p:nvPr/>
        </p:nvSpPr>
        <p:spPr>
          <a:xfrm>
            <a:off x="571500" y="4502150"/>
            <a:ext cx="3683000" cy="136525"/>
          </a:xfrm>
          <a:prstGeom prst="rect">
            <a:avLst/>
          </a:prstGeom>
          <a:noFill/>
          <a:ln>
            <a:noFill/>
          </a:ln>
        </p:spPr>
        <p:txBody>
          <a:bodyPr wrap="square" lIns="0" tIns="0" rIns="0" bIns="0" anchor="t">
            <a:noAutofit/>
          </a:bodyPr>
          <a:lstStyle/>
          <a:p>
            <a:pPr algn="l">
              <a:lnSpc>
                <a:spcPts val="975"/>
              </a:lnSpc>
            </a:pPr>
            <a:r>
              <a:rPr lang="ko-KR" sz="750" b="1">
                <a:solidFill>
                  <a:srgbClr val="168B82"/>
                </a:solidFill>
                <a:latin typeface="Arial"/>
                <a:ea typeface="Malgun Gothic"/>
                <a:cs typeface="Arial"/>
              </a:rPr>
              <a:t xml:space="preserve">선택</a:t>
            </a:r>
            <a:endParaRPr lang="ko-KR" sz="750"/>
          </a:p>
        </p:txBody>
      </p:sp>
      <p:sp>
        <p:nvSpPr>
          <p:cNvPr id="27" name="Text 27"/>
          <p:cNvSpPr txBox="1"/>
          <p:nvPr/>
        </p:nvSpPr>
        <p:spPr>
          <a:xfrm>
            <a:off x="571500" y="4689475"/>
            <a:ext cx="3683000" cy="136525"/>
          </a:xfrm>
          <a:prstGeom prst="rect">
            <a:avLst/>
          </a:prstGeom>
          <a:noFill/>
          <a:ln>
            <a:noFill/>
          </a:ln>
        </p:spPr>
        <p:txBody>
          <a:bodyPr wrap="square" lIns="0" tIns="0" rIns="0" bIns="0" anchor="t">
            <a:noAutofit/>
          </a:bodyPr>
          <a:lstStyle/>
          <a:p>
            <a:pPr algn="l">
              <a:lnSpc>
                <a:spcPts val="975"/>
              </a:lnSpc>
            </a:pPr>
            <a:r>
              <a:rPr lang="ko-KR" sz="750" b="0">
                <a:solidFill>
                  <a:srgbClr val="142536"/>
                </a:solidFill>
                <a:latin typeface="Arial"/>
                <a:ea typeface="Malgun Gothic"/>
                <a:cs typeface="Arial"/>
              </a:rPr>
              <a:t xml:space="preserve">000001 &lt; 000002 첫 경로의 연결 문자열이 사전순 최소</a:t>
            </a:r>
            <a:endParaRPr lang="ko-KR" sz="750"/>
          </a:p>
        </p:txBody>
      </p:sp>
      <p:sp>
        <p:nvSpPr>
          <p:cNvPr id="28" name="Text 28"/>
          <p:cNvSpPr txBox="1"/>
          <p:nvPr/>
        </p:nvSpPr>
        <p:spPr>
          <a:xfrm>
            <a:off x="571500" y="4876800"/>
            <a:ext cx="3683000" cy="136525"/>
          </a:xfrm>
          <a:prstGeom prst="rect">
            <a:avLst/>
          </a:prstGeom>
          <a:noFill/>
          <a:ln>
            <a:noFill/>
          </a:ln>
        </p:spPr>
        <p:txBody>
          <a:bodyPr wrap="square" lIns="0" tIns="0" rIns="0" bIns="0" anchor="t">
            <a:noAutofit/>
          </a:bodyPr>
          <a:lstStyle/>
          <a:p>
            <a:pPr algn="l">
              <a:lnSpc>
                <a:spcPts val="975"/>
              </a:lnSpc>
            </a:pPr>
            <a:r>
              <a:rPr lang="ko-KR" sz="750" b="1">
                <a:solidFill>
                  <a:srgbClr val="168B82"/>
                </a:solidFill>
                <a:latin typeface="Arial"/>
                <a:ea typeface="Malgun Gothic"/>
                <a:cs typeface="Arial"/>
              </a:rPr>
              <a:t xml:space="preserve">구현 방법</a:t>
            </a:r>
            <a:endParaRPr lang="ko-KR" sz="750"/>
          </a:p>
        </p:txBody>
      </p:sp>
      <p:sp>
        <p:nvSpPr>
          <p:cNvPr id="29" name="Text 29"/>
          <p:cNvSpPr txBox="1"/>
          <p:nvPr/>
        </p:nvSpPr>
        <p:spPr>
          <a:xfrm>
            <a:off x="571500" y="5064125"/>
            <a:ext cx="3683000" cy="136525"/>
          </a:xfrm>
          <a:prstGeom prst="rect">
            <a:avLst/>
          </a:prstGeom>
          <a:noFill/>
          <a:ln>
            <a:noFill/>
          </a:ln>
        </p:spPr>
        <p:txBody>
          <a:bodyPr wrap="square" lIns="0" tIns="0" rIns="0" bIns="0" anchor="t">
            <a:noAutofit/>
          </a:bodyPr>
          <a:lstStyle/>
          <a:p>
            <a:pPr algn="l">
              <a:lnSpc>
                <a:spcPts val="975"/>
              </a:lnSpc>
            </a:pPr>
            <a:r>
              <a:rPr lang="ko-KR" sz="750" b="0">
                <a:solidFill>
                  <a:srgbClr val="142536"/>
                </a:solidFill>
                <a:latin typeface="Arial"/>
                <a:ea typeface="Malgun Gothic"/>
                <a:cs typeface="Arial"/>
              </a:rPr>
              <a:t xml:space="preserve">출발·도착에서 각각 BFS 남은 거리가 1 줄어드는 후보만 선택 그중 hash가 가장 작은 다음 커밋으로</a:t>
            </a:r>
            <a:endParaRPr lang="ko-KR" sz="750"/>
          </a:p>
        </p:txBody>
      </p:sp>
      <p:sp>
        <p:nvSpPr>
          <p:cNvPr id="30" name="Text 30"/>
          <p:cNvSpPr txBox="1"/>
          <p:nvPr/>
        </p:nvSpPr>
        <p:spPr>
          <a:xfrm>
            <a:off x="571500" y="5251450"/>
            <a:ext cx="3683000" cy="136525"/>
          </a:xfrm>
          <a:prstGeom prst="rect">
            <a:avLst/>
          </a:prstGeom>
          <a:noFill/>
          <a:ln>
            <a:noFill/>
          </a:ln>
        </p:spPr>
        <p:txBody>
          <a:bodyPr wrap="square" lIns="0" tIns="0" rIns="0" bIns="0" anchor="t">
            <a:noAutofit/>
          </a:bodyPr>
          <a:lstStyle/>
          <a:p>
            <a:pPr algn="l">
              <a:lnSpc>
                <a:spcPts val="975"/>
              </a:lnSpc>
            </a:pPr>
            <a:r>
              <a:rPr lang="ko-KR" sz="750" b="1">
                <a:solidFill>
                  <a:srgbClr val="168B82"/>
                </a:solidFill>
                <a:latin typeface="Arial"/>
                <a:ea typeface="Malgun Gothic"/>
                <a:cs typeface="Arial"/>
              </a:rPr>
              <a:t xml:space="preserve">실행 확인 · 일반 터미널 · b3-2 폴더</a:t>
            </a:r>
            <a:endParaRPr lang="ko-KR" sz="750"/>
          </a:p>
        </p:txBody>
      </p:sp>
      <p:sp>
        <p:nvSpPr>
          <p:cNvPr id="31" name="Text 31"/>
          <p:cNvSpPr txBox="1"/>
          <p:nvPr/>
        </p:nvSpPr>
        <p:spPr>
          <a:xfrm>
            <a:off x="571500" y="5438775"/>
            <a:ext cx="3683000" cy="136525"/>
          </a:xfrm>
          <a:prstGeom prst="rect">
            <a:avLst/>
          </a:prstGeom>
          <a:noFill/>
          <a:ln>
            <a:noFill/>
          </a:ln>
        </p:spPr>
        <p:txBody>
          <a:bodyPr wrap="square" lIns="0" tIns="0" rIns="0" bIns="0" anchor="t">
            <a:noAutofit/>
          </a:bodyPr>
          <a:lstStyle/>
          <a:p>
            <a:pPr algn="l">
              <a:lnSpc>
                <a:spcPts val="975"/>
              </a:lnSpc>
            </a:pPr>
            <a:r>
              <a:rPr lang="ko-KR" sz="750" b="0">
                <a:solidFill>
                  <a:srgbClr val="142536"/>
                </a:solidFill>
                <a:latin typeface="Menlo"/>
                <a:ea typeface="Malgun Gothic"/>
                <a:cs typeface="Arial"/>
              </a:rPr>
              <a:t xml:space="preserve">python3 -B -m unittest discover -s tests -v -k merge_ancestors</a:t>
            </a:r>
            <a:endParaRPr lang="ko-KR" sz="750"/>
          </a:p>
        </p:txBody>
      </p:sp>
      <p:sp>
        <p:nvSpPr>
          <p:cNvPr id="32" name="Text 32"/>
          <p:cNvSpPr txBox="1"/>
          <p:nvPr/>
        </p:nvSpPr>
        <p:spPr>
          <a:xfrm>
            <a:off x="571500" y="5626100"/>
            <a:ext cx="3683000" cy="260350"/>
          </a:xfrm>
          <a:prstGeom prst="rect">
            <a:avLst/>
          </a:prstGeom>
          <a:noFill/>
          <a:ln>
            <a:noFill/>
          </a:ln>
        </p:spPr>
        <p:txBody>
          <a:bodyPr wrap="square" lIns="0" tIns="0" rIns="0" bIns="0" anchor="t">
            <a:noAutofit/>
          </a:bodyPr>
          <a:lstStyle/>
          <a:p>
            <a:pPr algn="l">
              <a:lnSpc>
                <a:spcPts val="975"/>
              </a:lnSpc>
            </a:pPr>
            <a:r>
              <a:rPr lang="ko-KR" sz="750" b="0">
                <a:solidFill>
                  <a:srgbClr val="142536"/>
                </a:solidFill>
                <a:latin typeface="Arial"/>
                <a:ea typeface="Malgun Gothic"/>
                <a:cs typeface="Arial"/>
              </a:rPr>
              <a:t xml:space="preserve">확인: CLI에 MERGE는 없음. 테스트용 다중 부모 그래프에서 사전순 최단 경로 확인 · 마지막 OK 확</a:t>
            </a:r>
            <a:endParaRPr lang="ko-KR" sz="750"/>
          </a:p>
          <a:p>
            <a:pPr algn="l">
              <a:lnSpc>
                <a:spcPts val="975"/>
              </a:lnSpc>
            </a:pPr>
            <a:r>
              <a:rPr lang="ko-KR" sz="750" b="0">
                <a:solidFill>
                  <a:srgbClr val="142536"/>
                </a:solidFill>
                <a:latin typeface="Arial"/>
                <a:ea typeface="Malgun Gothic"/>
                <a:cs typeface="Arial"/>
              </a:rPr>
              <a:t xml:space="preserve">인</a:t>
            </a:r>
            <a:endParaRPr lang="ko-KR" sz="750"/>
          </a:p>
        </p:txBody>
      </p:sp>
      <p:sp>
        <p:nvSpPr>
          <p:cNvPr id="33" name="Text 33"/>
          <p:cNvSpPr txBox="1"/>
          <p:nvPr/>
        </p:nvSpPr>
        <p:spPr>
          <a:xfrm>
            <a:off x="4508500" y="1809750"/>
            <a:ext cx="7175500" cy="1737995"/>
          </a:xfrm>
          <a:prstGeom prst="rect">
            <a:avLst/>
          </a:prstGeom>
          <a:noFill/>
          <a:ln>
            <a:noFill/>
          </a:ln>
        </p:spPr>
        <p:txBody>
          <a:bodyPr wrap="square" lIns="0" tIns="0" rIns="0" bIns="0" anchor="t">
            <a:noAutofit/>
          </a:bodyPr>
          <a:lstStyle/>
          <a:p>
            <a:pPr algn="l">
              <a:lnSpc>
                <a:spcPts val="1235"/>
              </a:lnSpc>
            </a:pPr>
            <a:r>
              <a:rPr lang="ko-KR" sz="950" b="0">
                <a:solidFill>
                  <a:srgbClr val="142536"/>
                </a:solidFill>
                <a:latin typeface="Menlo"/>
                <a:ea typeface="Malgun Gothic"/>
                <a:cs typeface="Arial"/>
              </a:rPr>
              <a:t xml:space="preserve">while current != end_hash:</a:t>
            </a:r>
            <a:endParaRPr lang="ko-KR" sz="950"/>
          </a:p>
          <a:p>
            <a:pPr algn="l">
              <a:lnSpc>
                <a:spcPts val="1235"/>
              </a:lnSpc>
            </a:pPr>
            <a:r>
              <a:rPr lang="ko-KR" sz="950" b="0">
                <a:solidFill>
                  <a:srgbClr val="142536"/>
                </a:solidFill>
                <a:latin typeface="Menlo"/>
                <a:ea typeface="Malgun Gothic"/>
                <a:cs typeface="Arial"/>
              </a:rPr>
              <a:t xml:space="preserve">    best_next = None</a:t>
            </a:r>
            <a:endParaRPr lang="ko-KR" sz="950"/>
          </a:p>
          <a:p>
            <a:pPr algn="l">
              <a:lnSpc>
                <a:spcPts val="1235"/>
              </a:lnSpc>
            </a:pPr>
            <a:r>
              <a:rPr lang="ko-KR" sz="950" b="0">
                <a:solidFill>
                  <a:srgbClr val="142536"/>
                </a:solidFill>
                <a:latin typeface="Menlo"/>
                <a:ea typeface="Malgun Gothic"/>
                <a:cs typeface="Arial"/>
              </a:rPr>
              <a:t xml:space="preserve">    for neighbor in adjacency[current]:</a:t>
            </a:r>
            <a:endParaRPr lang="ko-KR" sz="950"/>
          </a:p>
          <a:p>
            <a:pPr algn="l">
              <a:lnSpc>
                <a:spcPts val="1235"/>
              </a:lnSpc>
            </a:pPr>
            <a:r>
              <a:rPr lang="ko-KR" sz="950" b="0">
                <a:solidFill>
                  <a:srgbClr val="142536"/>
                </a:solidFill>
                <a:latin typeface="Menlo"/>
                <a:ea typeface="Malgun Gothic"/>
                <a:cs typeface="Arial"/>
              </a:rPr>
              <a:t xml:space="preserve">        on_shortest_path = (</a:t>
            </a:r>
            <a:endParaRPr lang="ko-KR" sz="950"/>
          </a:p>
          <a:p>
            <a:pPr algn="l">
              <a:lnSpc>
                <a:spcPts val="1235"/>
              </a:lnSpc>
            </a:pPr>
            <a:r>
              <a:rPr lang="ko-KR" sz="950" b="0">
                <a:solidFill>
                  <a:srgbClr val="142536"/>
                </a:solidFill>
                <a:latin typeface="Menlo"/>
                <a:ea typeface="Malgun Gothic"/>
                <a:cs typeface="Arial"/>
              </a:rPr>
              <a:t xml:space="preserve">            dist_from_start.get(neighbor) == dist_from_start[current] + 1</a:t>
            </a:r>
            <a:endParaRPr lang="ko-KR" sz="950"/>
          </a:p>
          <a:p>
            <a:pPr algn="l">
              <a:lnSpc>
                <a:spcPts val="1235"/>
              </a:lnSpc>
            </a:pPr>
            <a:r>
              <a:rPr lang="ko-KR" sz="950" b="0">
                <a:solidFill>
                  <a:srgbClr val="142536"/>
                </a:solidFill>
                <a:latin typeface="Menlo"/>
                <a:ea typeface="Malgun Gothic"/>
                <a:cs typeface="Arial"/>
              </a:rPr>
              <a:t xml:space="preserve">            and dist_from_end.get(neighbor) == dist_from_end[current] - 1</a:t>
            </a:r>
            <a:endParaRPr lang="ko-KR" sz="950"/>
          </a:p>
          <a:p>
            <a:pPr algn="l">
              <a:lnSpc>
                <a:spcPts val="1235"/>
              </a:lnSpc>
            </a:pPr>
            <a:r>
              <a:rPr lang="ko-KR" sz="950" b="0">
                <a:solidFill>
                  <a:srgbClr val="142536"/>
                </a:solidFill>
                <a:latin typeface="Menlo"/>
                <a:ea typeface="Malgun Gothic"/>
                <a:cs typeface="Arial"/>
              </a:rPr>
              <a:t xml:space="preserve">        )</a:t>
            </a:r>
            <a:endParaRPr lang="ko-KR" sz="950"/>
          </a:p>
          <a:p>
            <a:pPr algn="l">
              <a:lnSpc>
                <a:spcPts val="1235"/>
              </a:lnSpc>
            </a:pPr>
            <a:r>
              <a:rPr lang="ko-KR" sz="950" b="0">
                <a:solidFill>
                  <a:srgbClr val="142536"/>
                </a:solidFill>
                <a:latin typeface="Menlo"/>
                <a:ea typeface="Malgun Gothic"/>
                <a:cs typeface="Arial"/>
              </a:rPr>
              <a:t xml:space="preserve">        if on_shortest_path and (best_next is None or neighbor &lt; best_next):</a:t>
            </a:r>
            <a:endParaRPr lang="ko-KR" sz="950"/>
          </a:p>
          <a:p>
            <a:pPr algn="l">
              <a:lnSpc>
                <a:spcPts val="1235"/>
              </a:lnSpc>
            </a:pPr>
            <a:r>
              <a:rPr lang="ko-KR" sz="950" b="0">
                <a:solidFill>
                  <a:srgbClr val="142536"/>
                </a:solidFill>
                <a:latin typeface="Menlo"/>
                <a:ea typeface="Malgun Gothic"/>
                <a:cs typeface="Arial"/>
              </a:rPr>
              <a:t xml:space="preserve">            best_next = neighbor</a:t>
            </a:r>
            <a:endParaRPr lang="ko-KR" sz="950"/>
          </a:p>
          <a:p>
            <a:pPr algn="l">
              <a:lnSpc>
                <a:spcPts val="1235"/>
              </a:lnSpc>
            </a:pPr>
            <a:r>
              <a:rPr lang="ko-KR" sz="950" b="0">
                <a:solidFill>
                  <a:srgbClr val="142536"/>
                </a:solidFill>
                <a:latin typeface="Menlo"/>
                <a:ea typeface="Malgun Gothic"/>
                <a:cs typeface="Arial"/>
              </a:rPr>
              <a:t xml:space="preserve">    current = best_next</a:t>
            </a:r>
            <a:endParaRPr lang="ko-KR" sz="950"/>
          </a:p>
          <a:p>
            <a:pPr algn="l">
              <a:lnSpc>
                <a:spcPts val="1235"/>
              </a:lnSpc>
            </a:pPr>
            <a:r>
              <a:rPr lang="ko-KR" sz="950" b="0">
                <a:solidFill>
                  <a:srgbClr val="142536"/>
                </a:solidFill>
                <a:latin typeface="Menlo"/>
                <a:ea typeface="Malgun Gothic"/>
                <a:cs typeface="Arial"/>
              </a:rPr>
              <a:t xml:space="preserve">    path.append(current)</a:t>
            </a:r>
            <a:endParaRPr lang="ko-KR" sz="950"/>
          </a:p>
        </p:txBody>
      </p:sp>
      <p:sp>
        <p:nvSpPr>
          <p:cNvPr id="34" name="Text 34"/>
          <p:cNvSpPr txBox="1"/>
          <p:nvPr/>
        </p:nvSpPr>
        <p:spPr>
          <a:xfrm>
            <a:off x="4508500" y="3598545"/>
            <a:ext cx="7175500" cy="640080"/>
          </a:xfrm>
          <a:prstGeom prst="rect">
            <a:avLst/>
          </a:prstGeom>
          <a:noFill/>
          <a:ln>
            <a:noFill/>
          </a:ln>
        </p:spPr>
        <p:txBody>
          <a:bodyPr wrap="square" lIns="0" tIns="0" rIns="0" bIns="0" anchor="t">
            <a:noAutofit/>
          </a:bodyPr>
          <a:lstStyle/>
          <a:p>
            <a:pPr algn="l">
              <a:lnSpc>
                <a:spcPts val="1235"/>
              </a:lnSpc>
            </a:pPr>
            <a:r>
              <a:rPr lang="ko-KR" sz="950" b="0">
                <a:solidFill>
                  <a:srgbClr val="142536"/>
                </a:solidFill>
                <a:latin typeface="Arial"/>
                <a:ea typeface="Malgun Gothic"/>
                <a:cs typeface="Arial"/>
              </a:rPr>
              <a:t xml:space="preserve">왜 이 방법이 맞는가: 경로를 문자열로 이어붙였을 때 "사전순으로 가장 작다"는 것은, 첫 글자(첫 커밋)부터 비교해서 더 작은 쪽 이 이기고, 같으면 다음 글자(</a:t>
            </a:r>
            <a:endParaRPr lang="ko-KR" sz="950"/>
          </a:p>
          <a:p>
            <a:pPr algn="l">
              <a:lnSpc>
                <a:spcPts val="1235"/>
              </a:lnSpc>
            </a:pPr>
            <a:r>
              <a:rPr lang="ko-KR" sz="950" b="0">
                <a:solidFill>
                  <a:srgbClr val="142536"/>
                </a:solidFill>
                <a:latin typeface="Arial"/>
                <a:ea typeface="Malgun Gothic"/>
                <a:cs typeface="Arial"/>
              </a:rPr>
              <a:t xml:space="preserve">다음 커밋)를 비교하는 방식입니다. 그래서 "지금까지는 같은데, 바로 다음 한 걸음에서 더 작은 쪽을 고른다"를 매 단계 반복하면, 결과적으로 전체 문자열이 사</a:t>
            </a:r>
            <a:endParaRPr lang="ko-KR" sz="950"/>
          </a:p>
          <a:p>
            <a:pPr algn="l">
              <a:lnSpc>
                <a:spcPts val="1235"/>
              </a:lnSpc>
            </a:pPr>
            <a:r>
              <a:rPr lang="ko-KR" sz="950" b="0">
                <a:solidFill>
                  <a:srgbClr val="142536"/>
                </a:solidFill>
                <a:latin typeface="Arial"/>
                <a:ea typeface="Malgun Gothic"/>
                <a:cs typeface="Arial"/>
              </a:rPr>
              <a:t xml:space="preserve">전순으로 가장 작은 경로가 완성됩니다(단, 매 걸음에서 선택지가 "실 제로 최단 경로를 유지하는" 이웃으로 한정되어 있어야 하며, 그 조건이 바로 위 on_short</a:t>
            </a:r>
            <a:endParaRPr lang="ko-KR" sz="950"/>
          </a:p>
          <a:p>
            <a:pPr algn="l">
              <a:lnSpc>
                <a:spcPts val="1235"/>
              </a:lnSpc>
            </a:pPr>
            <a:r>
              <a:rPr lang="ko-KR" sz="950" b="0">
                <a:solidFill>
                  <a:srgbClr val="142536"/>
                </a:solidFill>
                <a:latin typeface="Arial"/>
                <a:ea typeface="Malgun Gothic"/>
                <a:cs typeface="Arial"/>
              </a:rPr>
              <a:t xml:space="preserve">est_path 체크입니다).</a:t>
            </a:r>
            <a:endParaRPr lang="ko-KR" sz="950"/>
          </a:p>
        </p:txBody>
      </p:sp>
      <p:sp>
        <p:nvSpPr>
          <p:cNvPr id="35" name="Text 35"/>
          <p:cNvSpPr txBox="1"/>
          <p:nvPr/>
        </p:nvSpPr>
        <p:spPr>
          <a:xfrm>
            <a:off x="4508500" y="4289425"/>
            <a:ext cx="7175500" cy="483235"/>
          </a:xfrm>
          <a:prstGeom prst="rect">
            <a:avLst/>
          </a:prstGeom>
          <a:noFill/>
          <a:ln>
            <a:noFill/>
          </a:ln>
        </p:spPr>
        <p:txBody>
          <a:bodyPr wrap="square" lIns="0" tIns="0" rIns="0" bIns="0" anchor="t">
            <a:noAutofit/>
          </a:bodyPr>
          <a:lstStyle/>
          <a:p>
            <a:pPr algn="l">
              <a:lnSpc>
                <a:spcPts val="1235"/>
              </a:lnSpc>
            </a:pPr>
            <a:r>
              <a:rPr lang="ko-KR" sz="950" b="0">
                <a:solidFill>
                  <a:srgbClr val="142536"/>
                </a:solidFill>
                <a:latin typeface="Arial"/>
                <a:ea typeface="Malgun Gothic"/>
                <a:cs typeface="Arial"/>
              </a:rPr>
              <a:t xml:space="preserve">실제 확인: 단위 테스트에서 root가 b1→c1과 b2→c2 두 브랜치를 거쳐 merge(병합 커밋)로 합쳐지는 그래프를 만들어, 두 경로 모두 길이가 3으로 동일할 때</a:t>
            </a:r>
            <a:endParaRPr lang="ko-KR" sz="950"/>
          </a:p>
          <a:p>
            <a:pPr algn="l">
              <a:lnSpc>
                <a:spcPts val="1235"/>
              </a:lnSpc>
            </a:pPr>
            <a:r>
              <a:rPr lang="ko-KR" sz="950" b="0">
                <a:solidFill>
                  <a:srgbClr val="142536"/>
                </a:solidFill>
                <a:latin typeface="Arial"/>
                <a:ea typeface="Malgun Gothic"/>
                <a:cs typeface="Arial"/>
              </a:rPr>
              <a:t xml:space="preserve">사전순으로 더 작은 root→b1→c1→merge가 정확히 선택됨을 확인했습니다(tests/test_mini_git.p y). REPL에서도 제출/results/04_PATH_최단경로.txt에서</a:t>
            </a:r>
            <a:endParaRPr lang="ko-KR" sz="950"/>
          </a:p>
          <a:p>
            <a:pPr algn="l">
              <a:lnSpc>
                <a:spcPts val="1235"/>
              </a:lnSpc>
            </a:pPr>
            <a:r>
              <a:rPr lang="ko-KR" sz="950" b="0">
                <a:solidFill>
                  <a:srgbClr val="142536"/>
                </a:solidFill>
                <a:latin typeface="Arial"/>
                <a:ea typeface="Malgun Gothic"/>
                <a:cs typeface="Arial"/>
              </a:rPr>
              <a:t xml:space="preserve">직접 연결(길이 1)과 공통 부모를 거치는 간접 연결(길이 2)을 모두 확 인했습니다.</a:t>
            </a:r>
            <a:endParaRPr lang="ko-KR" sz="950"/>
          </a:p>
        </p:txBody>
      </p:sp>
      <p:sp>
        <p:nvSpPr>
          <p:cNvPr id="36" name="Text 36"/>
          <p:cNvSpPr txBox="1"/>
          <p:nvPr/>
        </p:nvSpPr>
        <p:spPr>
          <a:xfrm>
            <a:off x="4508500" y="4823460"/>
            <a:ext cx="7175500" cy="169545"/>
          </a:xfrm>
          <a:prstGeom prst="rect">
            <a:avLst/>
          </a:prstGeom>
          <a:noFill/>
          <a:ln>
            <a:noFill/>
          </a:ln>
        </p:spPr>
        <p:txBody>
          <a:bodyPr wrap="square" lIns="0" tIns="0" rIns="0" bIns="0" anchor="t">
            <a:noAutofit/>
          </a:bodyPr>
          <a:lstStyle/>
          <a:p>
            <a:pPr algn="l">
              <a:lnSpc>
                <a:spcPts val="1235"/>
              </a:lnSpc>
            </a:pPr>
            <a:r>
              <a:rPr lang="ko-KR" sz="950" b="1">
                <a:solidFill>
                  <a:srgbClr val="168B82"/>
                </a:solidFill>
                <a:latin typeface="Arial"/>
                <a:ea typeface="Malgun Gothic"/>
                <a:cs typeface="Arial"/>
              </a:rPr>
              <a:t xml:space="preserve">Q2. PATH의 사전순 타이브레이크 로직을 O(n²)이 아니라 왜 더 효율적으로 만들 수 있었는가?</a:t>
            </a:r>
            <a:endParaRPr lang="ko-KR" sz="950"/>
          </a:p>
        </p:txBody>
      </p:sp>
      <p:sp>
        <p:nvSpPr>
          <p:cNvPr id="37" name="Text 37"/>
          <p:cNvSpPr txBox="1"/>
          <p:nvPr/>
        </p:nvSpPr>
        <p:spPr>
          <a:xfrm>
            <a:off x="4508500" y="5043805"/>
            <a:ext cx="7175500" cy="483235"/>
          </a:xfrm>
          <a:prstGeom prst="rect">
            <a:avLst/>
          </a:prstGeom>
          <a:noFill/>
          <a:ln>
            <a:noFill/>
          </a:ln>
        </p:spPr>
        <p:txBody>
          <a:bodyPr wrap="square" lIns="0" tIns="0" rIns="0" bIns="0" anchor="t">
            <a:noAutofit/>
          </a:bodyPr>
          <a:lstStyle/>
          <a:p>
            <a:pPr algn="l">
              <a:lnSpc>
                <a:spcPts val="1235"/>
              </a:lnSpc>
            </a:pPr>
            <a:r>
              <a:rPr lang="ko-KR" sz="950" b="0">
                <a:solidFill>
                  <a:srgbClr val="142536"/>
                </a:solidFill>
                <a:latin typeface="Arial"/>
                <a:ea typeface="Malgun Gothic"/>
                <a:cs typeface="Arial"/>
              </a:rPr>
              <a:t xml:space="preserve">모든 최단 경로를 일일이 나열해서(경로 개수가 그래프 구조에 따라 지수적으로 늘어날 수 있음) 문자열 비교로 최솟값을 고르는 방식도 가능은 하지만, 이 구현</a:t>
            </a:r>
            <a:endParaRPr lang="ko-KR" sz="950"/>
          </a:p>
          <a:p>
            <a:pPr algn="l">
              <a:lnSpc>
                <a:spcPts val="1235"/>
              </a:lnSpc>
            </a:pPr>
            <a:r>
              <a:rPr lang="ko-KR" sz="950" b="0">
                <a:solidFill>
                  <a:srgbClr val="142536"/>
                </a:solidFill>
                <a:latin typeface="Arial"/>
                <a:ea typeface="Malgun Gothic"/>
                <a:cs typeface="Arial"/>
              </a:rPr>
              <a:t xml:space="preserve">은 그 대신 "매 걸음마다 가능한 다음 후보 중 최솟값만 탐욕적으로 선택"하는 방식을 씁니다. 시작 점/끝점 양방향 BFS(O(V+E))를 한 번씩 미리 해두면, 이후</a:t>
            </a:r>
            <a:endParaRPr lang="ko-KR" sz="950"/>
          </a:p>
          <a:p>
            <a:pPr algn="l">
              <a:lnSpc>
                <a:spcPts val="1235"/>
              </a:lnSpc>
            </a:pPr>
            <a:r>
              <a:rPr lang="ko-KR" sz="950" b="0">
                <a:solidFill>
                  <a:srgbClr val="142536"/>
                </a:solidFill>
                <a:latin typeface="Arial"/>
                <a:ea typeface="Malgun Gothic"/>
                <a:cs typeface="Arial"/>
              </a:rPr>
              <a:t xml:space="preserve">경로 재구성은 경로 길이만큼의 반복 × 각 지점의 이웃 수 정도로 끝 나 훨씬 효율적입니다.</a:t>
            </a:r>
            <a:endParaRPr lang="ko-KR" sz="950"/>
          </a:p>
        </p:txBody>
      </p:sp>
      <p:sp>
        <p:nvSpPr>
          <p:cNvPr id="38" name="Text 38"/>
          <p:cNvSpPr txBox="1"/>
          <p:nvPr/>
        </p:nvSpPr>
        <p:spPr>
          <a:xfrm>
            <a:off x="4508500" y="5577840"/>
            <a:ext cx="7175500" cy="483235"/>
          </a:xfrm>
          <a:prstGeom prst="rect">
            <a:avLst/>
          </a:prstGeom>
          <a:noFill/>
          <a:ln>
            <a:noFill/>
          </a:ln>
        </p:spPr>
        <p:txBody>
          <a:bodyPr wrap="square" lIns="0" tIns="0" rIns="0" bIns="0" anchor="t">
            <a:noAutofit/>
          </a:bodyPr>
          <a:lstStyle/>
          <a:p>
            <a:pPr algn="l">
              <a:lnSpc>
                <a:spcPts val="1235"/>
              </a:lnSpc>
            </a:pPr>
            <a:r>
              <a:rPr lang="ko-KR" sz="950" b="0">
                <a:solidFill>
                  <a:srgbClr val="142536"/>
                </a:solidFill>
                <a:latin typeface="Arial"/>
                <a:ea typeface="Malgun Gothic"/>
                <a:cs typeface="Arial"/>
              </a:rPr>
              <a:t xml:space="preserve">이 그림은 부모가 둘인 병합 노드를 포함한 테스트용 다이아몬드 그래프입니다. CLI에서 merge를 실행해서 만든 것이 아닙니다. dStart[next]=dStart[curre</a:t>
            </a:r>
            <a:endParaRPr lang="ko-KR" sz="950"/>
          </a:p>
          <a:p>
            <a:pPr algn="l">
              <a:lnSpc>
                <a:spcPts val="1235"/>
              </a:lnSpc>
            </a:pPr>
            <a:r>
              <a:rPr lang="ko-KR" sz="950" b="0">
                <a:solidFill>
                  <a:srgbClr val="142536"/>
                </a:solidFill>
                <a:latin typeface="Arial"/>
                <a:ea typeface="Malgun Gothic"/>
                <a:cs typeface="Arial"/>
              </a:rPr>
              <a:t xml:space="preserve">nt]+1과 dEnd[next]=dEnd[current]-1 조건을 확인합니다. 작은 hash만 보고 아무 길이나 선택하면 더 긴 경로로 빠질 수 있으므로 최단 조건이 먼저입니다.</a:t>
            </a:r>
            <a:endParaRPr lang="ko-KR" sz="950"/>
          </a:p>
          <a:p>
            <a:pPr algn="l">
              <a:lnSpc>
                <a:spcPts val="1235"/>
              </a:lnSpc>
            </a:pPr>
            <a:r>
              <a:rPr lang="ko-KR" sz="950" b="0">
                <a:solidFill>
                  <a:srgbClr val="142536"/>
                </a:solidFill>
                <a:latin typeface="Arial"/>
                <a:ea typeface="Malgun Gothic"/>
                <a:cs typeface="Arial"/>
              </a:rPr>
              <a:t xml:space="preserve">모든 최단 경로를 열거하지 않고 두 BFS와 경로 복원으로 계산합니다.</a:t>
            </a:r>
            <a:endParaRPr lang="ko-KR" sz="950"/>
          </a:p>
        </p:txBody>
      </p:sp>
      <p:sp>
        <p:nvSpPr>
          <p:cNvPr id="39" name="Text 39"/>
          <p:cNvSpPr txBox="1"/>
          <p:nvPr/>
        </p:nvSpPr>
        <p:spPr>
          <a:xfrm>
            <a:off x="508000" y="6299200"/>
            <a:ext cx="11176000" cy="22860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최단 거리 조건을 지키는 후보 중 다음 hash가 작은 쪽을 고릅니다.</a:t>
            </a:r>
            <a:endParaRPr lang="ko-KR" sz="1250"/>
          </a:p>
        </p:txBody>
      </p:sp>
      <p:sp>
        <p:nvSpPr>
          <p:cNvPr id="40" name="Text 40"/>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tests/test_mini_git.py: test_merge_ancestors_and_lexicographic_path · 평가질문_설명자료.md</a:t>
            </a:r>
            <a:endParaRPr lang="ko-KR" sz="1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ANCESTORS: 부모의 부모를 빠짐없이 찾기">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EXPLAIN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17 / 26</a:t>
            </a:r>
            <a:endParaRPr lang="ko-KR" sz="1250"/>
          </a:p>
        </p:txBody>
      </p:sp>
      <p:sp>
        <p:nvSpPr>
          <p:cNvPr id="5" name="Text 5"/>
          <p:cNvSpPr txBox="1"/>
          <p:nvPr/>
        </p:nvSpPr>
        <p:spPr>
          <a:xfrm>
            <a:off x="508000" y="793750"/>
            <a:ext cx="11176000" cy="635000"/>
          </a:xfrm>
          <a:prstGeom prst="rect">
            <a:avLst/>
          </a:prstGeom>
          <a:noFill/>
          <a:ln>
            <a:noFill/>
          </a:ln>
        </p:spPr>
        <p:txBody>
          <a:bodyPr wrap="square" lIns="0" tIns="0" rIns="0" bIns="0" anchor="t">
            <a:noAutofit/>
          </a:bodyPr>
          <a:lstStyle/>
          <a:p>
            <a:pPr algn="l">
              <a:lnSpc>
                <a:spcPts val="3900"/>
              </a:lnSpc>
            </a:pPr>
            <a:r>
              <a:rPr lang="ko-KR" sz="3000" b="1">
                <a:solidFill>
                  <a:srgbClr val="142536"/>
                </a:solidFill>
                <a:latin typeface="Arial"/>
                <a:ea typeface="Malgun Gothic"/>
                <a:cs typeface="Arial"/>
              </a:rPr>
              <a:t xml:space="preserve">ANCESTORS: 부모의 부모를 빠짐없이 찾기</a:t>
            </a:r>
            <a:endParaRPr lang="ko-KR" sz="3000"/>
          </a:p>
        </p:txBody>
      </p:sp>
      <p:sp>
        <p:nvSpPr>
          <p:cNvPr id="6" name="Text 6"/>
          <p:cNvSpPr txBox="1"/>
          <p:nvPr/>
        </p:nvSpPr>
        <p:spPr>
          <a:xfrm>
            <a:off x="571500" y="1492250"/>
            <a:ext cx="3683000" cy="24130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핵심 · 그림 · 실행</a:t>
            </a:r>
            <a:endParaRPr lang="ko-KR" sz="1300"/>
          </a:p>
        </p:txBody>
      </p:sp>
      <p:sp>
        <p:nvSpPr>
          <p:cNvPr id="7" name="Text 7"/>
          <p:cNvSpPr txBox="1"/>
          <p:nvPr/>
        </p:nvSpPr>
        <p:spPr>
          <a:xfrm>
            <a:off x="4508500" y="1492250"/>
            <a:ext cx="7175500" cy="24130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상세 설명 · 코드 · 문답 전체</a:t>
            </a:r>
            <a:endParaRPr lang="ko-KR" sz="1300"/>
          </a:p>
        </p:txBody>
      </p:sp>
      <p:sp>
        <p:nvSpPr>
          <p:cNvPr id="8" name="Shape 8"/>
          <p:cNvSpPr/>
          <p:nvPr/>
        </p:nvSpPr>
        <p:spPr>
          <a:xfrm>
            <a:off x="4349750" y="1778000"/>
            <a:ext cx="12700" cy="4381500"/>
          </a:xfrm>
          <a:prstGeom prst="rect">
            <a:avLst/>
          </a:prstGeom>
          <a:solidFill>
            <a:srgbClr val="D7DFDB"/>
          </a:solidFill>
          <a:ln>
            <a:noFill/>
          </a:ln>
        </p:spPr>
      </p:sp>
      <p:sp>
        <p:nvSpPr>
          <p:cNvPr id="9" name="Shape 9"/>
          <p:cNvSpPr/>
          <p:nvPr/>
        </p:nvSpPr>
        <p:spPr>
          <a:xfrm>
            <a:off x="476250" y="1778000"/>
            <a:ext cx="2968625" cy="2182812"/>
          </a:xfrm>
          <a:prstGeom prst="roundRect">
            <a:avLst/>
          </a:prstGeom>
          <a:solidFill>
            <a:srgbClr val="FFFFFF"/>
          </a:solidFill>
          <a:ln w="12700">
            <a:solidFill>
              <a:srgbClr val="D7DFDB"/>
            </a:solidFill>
          </a:ln>
        </p:spPr>
      </p:sp>
      <p:sp>
        <p:nvSpPr>
          <p:cNvPr id="10" name="Text 10"/>
          <p:cNvSpPr txBox="1"/>
          <p:nvPr/>
        </p:nvSpPr>
        <p:spPr>
          <a:xfrm>
            <a:off x="581025" y="1847850"/>
            <a:ext cx="2724150" cy="209550"/>
          </a:xfrm>
          <a:prstGeom prst="rect">
            <a:avLst/>
          </a:prstGeom>
          <a:noFill/>
          <a:ln>
            <a:noFill/>
          </a:ln>
        </p:spPr>
        <p:txBody>
          <a:bodyPr wrap="square" lIns="0" tIns="0" rIns="0" bIns="0" anchor="t">
            <a:noAutofit/>
          </a:bodyPr>
          <a:lstStyle/>
          <a:p>
            <a:pPr algn="l">
              <a:lnSpc>
                <a:spcPts val="1072"/>
              </a:lnSpc>
            </a:pPr>
            <a:r>
              <a:rPr lang="ko-KR" sz="825" b="1">
                <a:solidFill>
                  <a:srgbClr val="168B82"/>
                </a:solidFill>
                <a:latin typeface="Arial"/>
                <a:ea typeface="Malgun Gothic"/>
                <a:cs typeface="Arial"/>
              </a:rPr>
              <a:t xml:space="preserve">한눈에 이해하기</a:t>
            </a:r>
            <a:endParaRPr lang="ko-KR" sz="825"/>
          </a:p>
        </p:txBody>
      </p:sp>
      <p:cxnSp>
        <p:nvCxnSpPr>
          <p:cNvPr id="11" name="Edge 11"/>
          <p:cNvCxnSpPr/>
          <p:nvPr/>
        </p:nvCxnSpPr>
        <p:spPr>
          <a:xfrm flipH="1" flipV="0">
            <a:off x="1139825" y="2389188"/>
            <a:ext cx="873125" cy="488950"/>
          </a:xfrm>
          <a:prstGeom prst="line">
            <a:avLst/>
          </a:prstGeom>
          <a:ln w="31750">
            <a:solidFill>
              <a:srgbClr val="168B82"/>
            </a:solidFill>
            <a:tailEnd type="triangle" w="med" len="med"/>
          </a:ln>
        </p:spPr>
      </p:cxnSp>
      <p:cxnSp>
        <p:nvCxnSpPr>
          <p:cNvPr id="12" name="Edge 12"/>
          <p:cNvCxnSpPr/>
          <p:nvPr/>
        </p:nvCxnSpPr>
        <p:spPr>
          <a:xfrm flipH="1" flipV="1">
            <a:off x="1139825" y="2878138"/>
            <a:ext cx="873125" cy="488950"/>
          </a:xfrm>
          <a:prstGeom prst="line">
            <a:avLst/>
          </a:prstGeom>
          <a:ln w="31750">
            <a:solidFill>
              <a:srgbClr val="168B82"/>
            </a:solidFill>
            <a:tailEnd type="triangle" w="med" len="med"/>
          </a:ln>
        </p:spPr>
      </p:cxnSp>
      <p:cxnSp>
        <p:nvCxnSpPr>
          <p:cNvPr id="13" name="Edge 13"/>
          <p:cNvCxnSpPr/>
          <p:nvPr/>
        </p:nvCxnSpPr>
        <p:spPr>
          <a:xfrm flipH="1" flipV="1">
            <a:off x="2012950" y="2389188"/>
            <a:ext cx="873125" cy="488950"/>
          </a:xfrm>
          <a:prstGeom prst="line">
            <a:avLst/>
          </a:prstGeom>
          <a:ln w="31750">
            <a:solidFill>
              <a:srgbClr val="168B82"/>
            </a:solidFill>
            <a:tailEnd type="triangle" w="med" len="med"/>
          </a:ln>
        </p:spPr>
      </p:cxnSp>
      <p:cxnSp>
        <p:nvCxnSpPr>
          <p:cNvPr id="14" name="Edge 14"/>
          <p:cNvCxnSpPr/>
          <p:nvPr/>
        </p:nvCxnSpPr>
        <p:spPr>
          <a:xfrm flipH="1" flipV="0">
            <a:off x="2012950" y="2878138"/>
            <a:ext cx="873125" cy="488950"/>
          </a:xfrm>
          <a:prstGeom prst="line">
            <a:avLst/>
          </a:prstGeom>
          <a:ln w="31750">
            <a:solidFill>
              <a:srgbClr val="168B82"/>
            </a:solidFill>
            <a:tailEnd type="triangle" w="med" len="med"/>
          </a:ln>
        </p:spPr>
      </p:cxnSp>
      <p:sp>
        <p:nvSpPr>
          <p:cNvPr id="15" name="Shape 15"/>
          <p:cNvSpPr/>
          <p:nvPr/>
        </p:nvSpPr>
        <p:spPr>
          <a:xfrm>
            <a:off x="860425" y="2703512"/>
            <a:ext cx="593725" cy="349250"/>
          </a:xfrm>
          <a:prstGeom prst="roundRect">
            <a:avLst/>
          </a:prstGeom>
          <a:solidFill>
            <a:srgbClr val="168B82"/>
          </a:solidFill>
          <a:ln>
            <a:noFill/>
          </a:ln>
        </p:spPr>
      </p:sp>
      <p:sp>
        <p:nvSpPr>
          <p:cNvPr id="16" name="Text 16"/>
          <p:cNvSpPr txBox="1"/>
          <p:nvPr/>
        </p:nvSpPr>
        <p:spPr>
          <a:xfrm>
            <a:off x="895350" y="2780348"/>
            <a:ext cx="523875" cy="258445"/>
          </a:xfrm>
          <a:prstGeom prst="rect">
            <a:avLst/>
          </a:prstGeom>
          <a:noFill/>
          <a:ln>
            <a:noFill/>
          </a:ln>
        </p:spPr>
        <p:txBody>
          <a:bodyPr wrap="square" lIns="0" tIns="0" rIns="0" bIns="0" anchor="t">
            <a:noAutofit/>
          </a:bodyPr>
          <a:lstStyle/>
          <a:p>
            <a:pPr algn="ctr">
              <a:lnSpc>
                <a:spcPts val="1359"/>
              </a:lnSpc>
            </a:pPr>
            <a:r>
              <a:rPr lang="ko-KR" sz="1045" b="1">
                <a:solidFill>
                  <a:srgbClr val="FFFFFF"/>
                </a:solidFill>
                <a:latin typeface="Arial"/>
                <a:ea typeface="Malgun Gothic"/>
                <a:cs typeface="Arial"/>
              </a:rPr>
              <a:t xml:space="preserve">A</a:t>
            </a:r>
            <a:endParaRPr lang="ko-KR" sz="1045"/>
          </a:p>
        </p:txBody>
      </p:sp>
      <p:sp>
        <p:nvSpPr>
          <p:cNvPr id="17" name="Shape 17"/>
          <p:cNvSpPr/>
          <p:nvPr/>
        </p:nvSpPr>
        <p:spPr>
          <a:xfrm>
            <a:off x="1733550" y="2214562"/>
            <a:ext cx="593725" cy="349250"/>
          </a:xfrm>
          <a:prstGeom prst="roundRect">
            <a:avLst/>
          </a:prstGeom>
          <a:solidFill>
            <a:srgbClr val="168B82"/>
          </a:solidFill>
          <a:ln>
            <a:noFill/>
          </a:ln>
        </p:spPr>
      </p:sp>
      <p:sp>
        <p:nvSpPr>
          <p:cNvPr id="18" name="Text 18"/>
          <p:cNvSpPr txBox="1"/>
          <p:nvPr/>
        </p:nvSpPr>
        <p:spPr>
          <a:xfrm>
            <a:off x="1768475" y="2291398"/>
            <a:ext cx="523875" cy="258445"/>
          </a:xfrm>
          <a:prstGeom prst="rect">
            <a:avLst/>
          </a:prstGeom>
          <a:noFill/>
          <a:ln>
            <a:noFill/>
          </a:ln>
        </p:spPr>
        <p:txBody>
          <a:bodyPr wrap="square" lIns="0" tIns="0" rIns="0" bIns="0" anchor="t">
            <a:noAutofit/>
          </a:bodyPr>
          <a:lstStyle/>
          <a:p>
            <a:pPr algn="ctr">
              <a:lnSpc>
                <a:spcPts val="1359"/>
              </a:lnSpc>
            </a:pPr>
            <a:r>
              <a:rPr lang="ko-KR" sz="1045" b="1">
                <a:solidFill>
                  <a:srgbClr val="FFFFFF"/>
                </a:solidFill>
                <a:latin typeface="Arial"/>
                <a:ea typeface="Malgun Gothic"/>
                <a:cs typeface="Arial"/>
              </a:rPr>
              <a:t xml:space="preserve">B</a:t>
            </a:r>
            <a:endParaRPr lang="ko-KR" sz="1045"/>
          </a:p>
        </p:txBody>
      </p:sp>
      <p:sp>
        <p:nvSpPr>
          <p:cNvPr id="19" name="Shape 19"/>
          <p:cNvSpPr/>
          <p:nvPr/>
        </p:nvSpPr>
        <p:spPr>
          <a:xfrm>
            <a:off x="1733550" y="3192463"/>
            <a:ext cx="593725" cy="349250"/>
          </a:xfrm>
          <a:prstGeom prst="roundRect">
            <a:avLst/>
          </a:prstGeom>
          <a:solidFill>
            <a:srgbClr val="168B82"/>
          </a:solidFill>
          <a:ln>
            <a:noFill/>
          </a:ln>
        </p:spPr>
      </p:sp>
      <p:sp>
        <p:nvSpPr>
          <p:cNvPr id="20" name="Text 20"/>
          <p:cNvSpPr txBox="1"/>
          <p:nvPr/>
        </p:nvSpPr>
        <p:spPr>
          <a:xfrm>
            <a:off x="1768475" y="3269298"/>
            <a:ext cx="523875" cy="258445"/>
          </a:xfrm>
          <a:prstGeom prst="rect">
            <a:avLst/>
          </a:prstGeom>
          <a:noFill/>
          <a:ln>
            <a:noFill/>
          </a:ln>
        </p:spPr>
        <p:txBody>
          <a:bodyPr wrap="square" lIns="0" tIns="0" rIns="0" bIns="0" anchor="t">
            <a:noAutofit/>
          </a:bodyPr>
          <a:lstStyle/>
          <a:p>
            <a:pPr algn="ctr">
              <a:lnSpc>
                <a:spcPts val="1359"/>
              </a:lnSpc>
            </a:pPr>
            <a:r>
              <a:rPr lang="ko-KR" sz="1045" b="1">
                <a:solidFill>
                  <a:srgbClr val="FFFFFF"/>
                </a:solidFill>
                <a:latin typeface="Arial"/>
                <a:ea typeface="Malgun Gothic"/>
                <a:cs typeface="Arial"/>
              </a:rPr>
              <a:t xml:space="preserve">C</a:t>
            </a:r>
            <a:endParaRPr lang="ko-KR" sz="1045"/>
          </a:p>
        </p:txBody>
      </p:sp>
      <p:sp>
        <p:nvSpPr>
          <p:cNvPr id="21" name="Shape 21"/>
          <p:cNvSpPr/>
          <p:nvPr/>
        </p:nvSpPr>
        <p:spPr>
          <a:xfrm>
            <a:off x="2606675" y="2703512"/>
            <a:ext cx="593725" cy="349250"/>
          </a:xfrm>
          <a:prstGeom prst="roundRect">
            <a:avLst/>
          </a:prstGeom>
          <a:solidFill>
            <a:srgbClr val="168B82"/>
          </a:solidFill>
          <a:ln>
            <a:noFill/>
          </a:ln>
        </p:spPr>
      </p:sp>
      <p:sp>
        <p:nvSpPr>
          <p:cNvPr id="22" name="Text 22"/>
          <p:cNvSpPr txBox="1"/>
          <p:nvPr/>
        </p:nvSpPr>
        <p:spPr>
          <a:xfrm>
            <a:off x="2641600" y="2780348"/>
            <a:ext cx="523875" cy="258445"/>
          </a:xfrm>
          <a:prstGeom prst="rect">
            <a:avLst/>
          </a:prstGeom>
          <a:noFill/>
          <a:ln>
            <a:noFill/>
          </a:ln>
        </p:spPr>
        <p:txBody>
          <a:bodyPr wrap="square" lIns="0" tIns="0" rIns="0" bIns="0" anchor="t">
            <a:noAutofit/>
          </a:bodyPr>
          <a:lstStyle/>
          <a:p>
            <a:pPr algn="ctr">
              <a:lnSpc>
                <a:spcPts val="1359"/>
              </a:lnSpc>
            </a:pPr>
            <a:r>
              <a:rPr lang="ko-KR" sz="1045" b="1">
                <a:solidFill>
                  <a:srgbClr val="FFFFFF"/>
                </a:solidFill>
                <a:latin typeface="Arial"/>
                <a:ea typeface="Malgun Gothic"/>
                <a:cs typeface="Arial"/>
              </a:rPr>
              <a:t xml:space="preserve">D</a:t>
            </a:r>
            <a:endParaRPr lang="ko-KR" sz="1045"/>
          </a:p>
        </p:txBody>
      </p:sp>
      <p:sp>
        <p:nvSpPr>
          <p:cNvPr id="23" name="Text 23"/>
          <p:cNvSpPr txBox="1"/>
          <p:nvPr/>
        </p:nvSpPr>
        <p:spPr>
          <a:xfrm>
            <a:off x="615950" y="3698875"/>
            <a:ext cx="2654300" cy="157163"/>
          </a:xfrm>
          <a:prstGeom prst="rect">
            <a:avLst/>
          </a:prstGeom>
          <a:noFill/>
          <a:ln>
            <a:noFill/>
          </a:ln>
        </p:spPr>
        <p:txBody>
          <a:bodyPr wrap="square" lIns="0" tIns="0" rIns="0" bIns="0" anchor="t">
            <a:noAutofit/>
          </a:bodyPr>
          <a:lstStyle/>
          <a:p>
            <a:pPr algn="ctr">
              <a:lnSpc>
                <a:spcPts val="965"/>
              </a:lnSpc>
            </a:pPr>
            <a:r>
              <a:rPr lang="ko-KR" sz="743" b="0">
                <a:solidFill>
                  <a:srgbClr val="566979"/>
                </a:solidFill>
                <a:latin typeface="Arial"/>
                <a:ea typeface="Malgun Gothic"/>
                <a:cs typeface="Arial"/>
              </a:rPr>
              <a:t xml:space="preserve">테스트용 다중 부모 그래프</a:t>
            </a:r>
            <a:endParaRPr lang="ko-KR" sz="743"/>
          </a:p>
        </p:txBody>
      </p:sp>
      <p:sp>
        <p:nvSpPr>
          <p:cNvPr id="24" name="Text 24"/>
          <p:cNvSpPr txBox="1"/>
          <p:nvPr/>
        </p:nvSpPr>
        <p:spPr>
          <a:xfrm>
            <a:off x="571500" y="4127500"/>
            <a:ext cx="3683000" cy="144780"/>
          </a:xfrm>
          <a:prstGeom prst="rect">
            <a:avLst/>
          </a:prstGeom>
          <a:noFill/>
          <a:ln>
            <a:noFill/>
          </a:ln>
        </p:spPr>
        <p:txBody>
          <a:bodyPr wrap="square" lIns="0" tIns="0" rIns="0" bIns="0" anchor="t">
            <a:noAutofit/>
          </a:bodyPr>
          <a:lstStyle/>
          <a:p>
            <a:pPr algn="l">
              <a:lnSpc>
                <a:spcPts val="1040"/>
              </a:lnSpc>
            </a:pPr>
            <a:r>
              <a:rPr lang="ko-KR" sz="800" b="1">
                <a:solidFill>
                  <a:srgbClr val="168B82"/>
                </a:solidFill>
                <a:latin typeface="Arial"/>
                <a:ea typeface="Malgun Gothic"/>
                <a:cs typeface="Arial"/>
              </a:rPr>
              <a:t xml:space="preserve">예: D의 부모가 B·C</a:t>
            </a:r>
            <a:endParaRPr lang="ko-KR" sz="800"/>
          </a:p>
        </p:txBody>
      </p:sp>
      <p:sp>
        <p:nvSpPr>
          <p:cNvPr id="25" name="Text 25"/>
          <p:cNvSpPr txBox="1"/>
          <p:nvPr/>
        </p:nvSpPr>
        <p:spPr>
          <a:xfrm>
            <a:off x="571500" y="4323080"/>
            <a:ext cx="3683000" cy="144780"/>
          </a:xfrm>
          <a:prstGeom prst="rect">
            <a:avLst/>
          </a:prstGeom>
          <a:noFill/>
          <a:ln>
            <a:noFill/>
          </a:ln>
        </p:spPr>
        <p:txBody>
          <a:bodyPr wrap="square" lIns="0" tIns="0" rIns="0" bIns="0" anchor="t">
            <a:noAutofit/>
          </a:bodyPr>
          <a:lstStyle/>
          <a:p>
            <a:pPr algn="l">
              <a:lnSpc>
                <a:spcPts val="1040"/>
              </a:lnSpc>
            </a:pPr>
            <a:r>
              <a:rPr lang="ko-KR" sz="800" b="0">
                <a:solidFill>
                  <a:srgbClr val="142536"/>
                </a:solidFill>
                <a:latin typeface="Arial"/>
                <a:ea typeface="Malgun Gothic"/>
                <a:cs typeface="Arial"/>
              </a:rPr>
              <a:t xml:space="preserve">B의 부모: A C의 부모: A D의 조상: B, C, A A는 한 번만, D는 제외</a:t>
            </a:r>
            <a:endParaRPr lang="ko-KR" sz="800"/>
          </a:p>
        </p:txBody>
      </p:sp>
      <p:sp>
        <p:nvSpPr>
          <p:cNvPr id="26" name="Text 26"/>
          <p:cNvSpPr txBox="1"/>
          <p:nvPr/>
        </p:nvSpPr>
        <p:spPr>
          <a:xfrm>
            <a:off x="571500" y="4518660"/>
            <a:ext cx="3683000" cy="144780"/>
          </a:xfrm>
          <a:prstGeom prst="rect">
            <a:avLst/>
          </a:prstGeom>
          <a:noFill/>
          <a:ln>
            <a:noFill/>
          </a:ln>
        </p:spPr>
        <p:txBody>
          <a:bodyPr wrap="square" lIns="0" tIns="0" rIns="0" bIns="0" anchor="t">
            <a:noAutofit/>
          </a:bodyPr>
          <a:lstStyle/>
          <a:p>
            <a:pPr algn="l">
              <a:lnSpc>
                <a:spcPts val="1040"/>
              </a:lnSpc>
            </a:pPr>
            <a:r>
              <a:rPr lang="ko-KR" sz="800" b="1">
                <a:solidFill>
                  <a:srgbClr val="168B82"/>
                </a:solidFill>
                <a:latin typeface="Arial"/>
                <a:ea typeface="Malgun Gothic"/>
                <a:cs typeface="Arial"/>
              </a:rPr>
              <a:t xml:space="preserve">visited = 방문 기록</a:t>
            </a:r>
            <a:endParaRPr lang="ko-KR" sz="800"/>
          </a:p>
        </p:txBody>
      </p:sp>
      <p:sp>
        <p:nvSpPr>
          <p:cNvPr id="27" name="Text 27"/>
          <p:cNvSpPr txBox="1"/>
          <p:nvPr/>
        </p:nvSpPr>
        <p:spPr>
          <a:xfrm>
            <a:off x="571500" y="4714240"/>
            <a:ext cx="3683000" cy="276860"/>
          </a:xfrm>
          <a:prstGeom prst="rect">
            <a:avLst/>
          </a:prstGeom>
          <a:noFill/>
          <a:ln>
            <a:noFill/>
          </a:ln>
        </p:spPr>
        <p:txBody>
          <a:bodyPr wrap="square" lIns="0" tIns="0" rIns="0" bIns="0" anchor="t">
            <a:noAutofit/>
          </a:bodyPr>
          <a:lstStyle/>
          <a:p>
            <a:pPr algn="l">
              <a:lnSpc>
                <a:spcPts val="1040"/>
              </a:lnSpc>
            </a:pPr>
            <a:r>
              <a:rPr lang="ko-KR" sz="800" b="0">
                <a:solidFill>
                  <a:srgbClr val="142536"/>
                </a:solidFill>
                <a:latin typeface="Arial"/>
                <a:ea typeface="Malgun Gothic"/>
                <a:cs typeface="Arial"/>
              </a:rPr>
              <a:t xml:space="preserve">set으로 이미 방문한 hash를 확인 중복으로 만난 조상은 건너뜀 큐는 앞을 삭제하지 않고 인</a:t>
            </a:r>
            <a:endParaRPr lang="ko-KR" sz="800"/>
          </a:p>
          <a:p>
            <a:pPr algn="l">
              <a:lnSpc>
                <a:spcPts val="1040"/>
              </a:lnSpc>
            </a:pPr>
            <a:r>
              <a:rPr lang="ko-KR" sz="800" b="0">
                <a:solidFill>
                  <a:srgbClr val="142536"/>
                </a:solidFill>
                <a:latin typeface="Arial"/>
                <a:ea typeface="Malgun Gothic"/>
                <a:cs typeface="Arial"/>
              </a:rPr>
              <a:t xml:space="preserve">덱스로 읽음</a:t>
            </a:r>
            <a:endParaRPr lang="ko-KR" sz="800"/>
          </a:p>
        </p:txBody>
      </p:sp>
      <p:sp>
        <p:nvSpPr>
          <p:cNvPr id="28" name="Text 28"/>
          <p:cNvSpPr txBox="1"/>
          <p:nvPr/>
        </p:nvSpPr>
        <p:spPr>
          <a:xfrm>
            <a:off x="571500" y="5041900"/>
            <a:ext cx="3683000" cy="144780"/>
          </a:xfrm>
          <a:prstGeom prst="rect">
            <a:avLst/>
          </a:prstGeom>
          <a:noFill/>
          <a:ln>
            <a:noFill/>
          </a:ln>
        </p:spPr>
        <p:txBody>
          <a:bodyPr wrap="square" lIns="0" tIns="0" rIns="0" bIns="0" anchor="t">
            <a:noAutofit/>
          </a:bodyPr>
          <a:lstStyle/>
          <a:p>
            <a:pPr algn="l">
              <a:lnSpc>
                <a:spcPts val="1040"/>
              </a:lnSpc>
            </a:pPr>
            <a:r>
              <a:rPr lang="ko-KR" sz="800" b="1">
                <a:solidFill>
                  <a:srgbClr val="168B82"/>
                </a:solidFill>
                <a:latin typeface="Arial"/>
                <a:ea typeface="Malgun Gothic"/>
                <a:cs typeface="Arial"/>
              </a:rPr>
              <a:t xml:space="preserve">복잡도</a:t>
            </a:r>
            <a:endParaRPr lang="ko-KR" sz="800"/>
          </a:p>
        </p:txBody>
      </p:sp>
      <p:sp>
        <p:nvSpPr>
          <p:cNvPr id="29" name="Text 29"/>
          <p:cNvSpPr txBox="1"/>
          <p:nvPr/>
        </p:nvSpPr>
        <p:spPr>
          <a:xfrm>
            <a:off x="571500" y="5237480"/>
            <a:ext cx="3683000" cy="144780"/>
          </a:xfrm>
          <a:prstGeom prst="rect">
            <a:avLst/>
          </a:prstGeom>
          <a:noFill/>
          <a:ln>
            <a:noFill/>
          </a:ln>
        </p:spPr>
        <p:txBody>
          <a:bodyPr wrap="square" lIns="0" tIns="0" rIns="0" bIns="0" anchor="t">
            <a:noAutofit/>
          </a:bodyPr>
          <a:lstStyle/>
          <a:p>
            <a:pPr algn="l">
              <a:lnSpc>
                <a:spcPts val="1040"/>
              </a:lnSpc>
            </a:pPr>
            <a:r>
              <a:rPr lang="ko-KR" sz="800" b="0">
                <a:solidFill>
                  <a:srgbClr val="142536"/>
                </a:solidFill>
                <a:latin typeface="Arial"/>
                <a:ea typeface="Malgun Gothic"/>
                <a:cs typeface="Arial"/>
              </a:rPr>
              <a:t xml:space="preserve">O(V+E) V: 도달 가능한 조상 수 E: 살펴보는 부모 연결 수</a:t>
            </a:r>
            <a:endParaRPr lang="ko-KR" sz="800"/>
          </a:p>
        </p:txBody>
      </p:sp>
      <p:sp>
        <p:nvSpPr>
          <p:cNvPr id="30" name="Text 30"/>
          <p:cNvSpPr txBox="1"/>
          <p:nvPr/>
        </p:nvSpPr>
        <p:spPr>
          <a:xfrm>
            <a:off x="571500" y="5433060"/>
            <a:ext cx="3683000" cy="144780"/>
          </a:xfrm>
          <a:prstGeom prst="rect">
            <a:avLst/>
          </a:prstGeom>
          <a:noFill/>
          <a:ln>
            <a:noFill/>
          </a:ln>
        </p:spPr>
        <p:txBody>
          <a:bodyPr wrap="square" lIns="0" tIns="0" rIns="0" bIns="0" anchor="t">
            <a:noAutofit/>
          </a:bodyPr>
          <a:lstStyle/>
          <a:p>
            <a:pPr algn="l">
              <a:lnSpc>
                <a:spcPts val="1040"/>
              </a:lnSpc>
            </a:pPr>
            <a:r>
              <a:rPr lang="ko-KR" sz="800" b="1">
                <a:solidFill>
                  <a:srgbClr val="168B82"/>
                </a:solidFill>
                <a:latin typeface="Arial"/>
                <a:ea typeface="Malgun Gothic"/>
                <a:cs typeface="Arial"/>
              </a:rPr>
              <a:t xml:space="preserve">실행 확인 · mini-git&gt; · 5페이지 실습 후</a:t>
            </a:r>
            <a:endParaRPr lang="ko-KR" sz="800"/>
          </a:p>
        </p:txBody>
      </p:sp>
      <p:sp>
        <p:nvSpPr>
          <p:cNvPr id="31" name="Text 31"/>
          <p:cNvSpPr txBox="1"/>
          <p:nvPr/>
        </p:nvSpPr>
        <p:spPr>
          <a:xfrm>
            <a:off x="571500" y="5628640"/>
            <a:ext cx="3683000" cy="276860"/>
          </a:xfrm>
          <a:prstGeom prst="rect">
            <a:avLst/>
          </a:prstGeom>
          <a:noFill/>
          <a:ln>
            <a:noFill/>
          </a:ln>
        </p:spPr>
        <p:txBody>
          <a:bodyPr wrap="square" lIns="0" tIns="0" rIns="0" bIns="0" anchor="t">
            <a:noAutofit/>
          </a:bodyPr>
          <a:lstStyle/>
          <a:p>
            <a:pPr algn="l">
              <a:lnSpc>
                <a:spcPts val="1040"/>
              </a:lnSpc>
            </a:pPr>
            <a:r>
              <a:rPr lang="ko-KR" sz="800" b="0">
                <a:solidFill>
                  <a:srgbClr val="142536"/>
                </a:solidFill>
                <a:latin typeface="Menlo"/>
                <a:ea typeface="Malgun Gothic"/>
                <a:cs typeface="Arial"/>
              </a:rPr>
              <a:t xml:space="preserve">ANCESTORS 837f82</a:t>
            </a:r>
            <a:endParaRPr lang="ko-KR" sz="800"/>
          </a:p>
          <a:p>
            <a:pPr algn="l">
              <a:lnSpc>
                <a:spcPts val="1040"/>
              </a:lnSpc>
            </a:pPr>
            <a:r>
              <a:rPr lang="ko-KR" sz="800" b="0">
                <a:solidFill>
                  <a:srgbClr val="142536"/>
                </a:solidFill>
                <a:latin typeface="Menlo"/>
                <a:ea typeface="Malgun Gothic"/>
                <a:cs typeface="Arial"/>
              </a:rPr>
              <a:t xml:space="preserve">ANCESTORS 0a7990</a:t>
            </a:r>
            <a:endParaRPr lang="ko-KR" sz="800"/>
          </a:p>
        </p:txBody>
      </p:sp>
      <p:sp>
        <p:nvSpPr>
          <p:cNvPr id="32" name="Text 32"/>
          <p:cNvSpPr txBox="1"/>
          <p:nvPr/>
        </p:nvSpPr>
        <p:spPr>
          <a:xfrm>
            <a:off x="571500" y="5956300"/>
            <a:ext cx="3683000" cy="144780"/>
          </a:xfrm>
          <a:prstGeom prst="rect">
            <a:avLst/>
          </a:prstGeom>
          <a:noFill/>
          <a:ln>
            <a:noFill/>
          </a:ln>
        </p:spPr>
        <p:txBody>
          <a:bodyPr wrap="square" lIns="0" tIns="0" rIns="0" bIns="0" anchor="t">
            <a:noAutofit/>
          </a:bodyPr>
          <a:lstStyle/>
          <a:p>
            <a:pPr algn="l">
              <a:lnSpc>
                <a:spcPts val="1040"/>
              </a:lnSpc>
            </a:pPr>
            <a:r>
              <a:rPr lang="ko-KR" sz="800" b="0">
                <a:solidFill>
                  <a:srgbClr val="142536"/>
                </a:solidFill>
                <a:latin typeface="Arial"/>
                <a:ea typeface="Malgun Gothic"/>
                <a:cs typeface="Arial"/>
              </a:rPr>
              <a:t xml:space="preserve">확인: 현재 LOG의 hash로 교체. Payment의 조상은 Initial, Initial은 No ancestors.</a:t>
            </a:r>
            <a:endParaRPr lang="ko-KR" sz="800"/>
          </a:p>
        </p:txBody>
      </p:sp>
      <p:sp>
        <p:nvSpPr>
          <p:cNvPr id="33" name="Text 33"/>
          <p:cNvSpPr txBox="1"/>
          <p:nvPr/>
        </p:nvSpPr>
        <p:spPr>
          <a:xfrm>
            <a:off x="4508500" y="1809750"/>
            <a:ext cx="7175500" cy="2786380"/>
          </a:xfrm>
          <a:prstGeom prst="rect">
            <a:avLst/>
          </a:prstGeom>
          <a:noFill/>
          <a:ln>
            <a:noFill/>
          </a:ln>
        </p:spPr>
        <p:txBody>
          <a:bodyPr wrap="square" lIns="0" tIns="0" rIns="0" bIns="0" anchor="t">
            <a:noAutofit/>
          </a:bodyPr>
          <a:lstStyle/>
          <a:p>
            <a:pPr algn="l">
              <a:lnSpc>
                <a:spcPts val="1560"/>
              </a:lnSpc>
            </a:pPr>
            <a:r>
              <a:rPr lang="ko-KR" sz="1200" b="0">
                <a:solidFill>
                  <a:srgbClr val="142536"/>
                </a:solidFill>
                <a:latin typeface="Menlo"/>
                <a:ea typeface="Malgun Gothic"/>
                <a:cs typeface="Arial"/>
              </a:rPr>
              <a:t xml:space="preserve">def ancestors(commits, commit_hash):</a:t>
            </a:r>
            <a:endParaRPr lang="ko-KR" sz="1200"/>
          </a:p>
          <a:p>
            <a:pPr algn="l">
              <a:lnSpc>
                <a:spcPts val="1560"/>
              </a:lnSpc>
            </a:pPr>
            <a:r>
              <a:rPr lang="ko-KR" sz="1200" b="0">
                <a:solidFill>
                  <a:srgbClr val="142536"/>
                </a:solidFill>
                <a:latin typeface="Menlo"/>
                <a:ea typeface="Malgun Gothic"/>
                <a:cs typeface="Arial"/>
              </a:rPr>
              <a:t xml:space="preserve">    visited = set()</a:t>
            </a:r>
            <a:endParaRPr lang="ko-KR" sz="1200"/>
          </a:p>
          <a:p>
            <a:pPr algn="l">
              <a:lnSpc>
                <a:spcPts val="1560"/>
              </a:lnSpc>
            </a:pPr>
            <a:r>
              <a:rPr lang="ko-KR" sz="1200" b="0">
                <a:solidFill>
                  <a:srgbClr val="142536"/>
                </a:solidFill>
                <a:latin typeface="Menlo"/>
                <a:ea typeface="Malgun Gothic"/>
                <a:cs typeface="Arial"/>
              </a:rPr>
              <a:t xml:space="preserve">    queue = list(commits[commit_hash].parents)</a:t>
            </a:r>
            <a:endParaRPr lang="ko-KR" sz="1200"/>
          </a:p>
          <a:p>
            <a:pPr algn="l">
              <a:lnSpc>
                <a:spcPts val="1560"/>
              </a:lnSpc>
            </a:pPr>
            <a:r>
              <a:rPr lang="ko-KR" sz="1200" b="0">
                <a:solidFill>
                  <a:srgbClr val="142536"/>
                </a:solidFill>
                <a:latin typeface="Menlo"/>
                <a:ea typeface="Malgun Gothic"/>
                <a:cs typeface="Arial"/>
              </a:rPr>
              <a:t xml:space="preserve">    result = []</a:t>
            </a:r>
            <a:endParaRPr lang="ko-KR" sz="1200"/>
          </a:p>
          <a:p>
            <a:pPr algn="l">
              <a:lnSpc>
                <a:spcPts val="1560"/>
              </a:lnSpc>
            </a:pPr>
            <a:r>
              <a:rPr lang="ko-KR" sz="1200" b="0">
                <a:solidFill>
                  <a:srgbClr val="142536"/>
                </a:solidFill>
                <a:latin typeface="Menlo"/>
                <a:ea typeface="Malgun Gothic"/>
                <a:cs typeface="Arial"/>
              </a:rPr>
              <a:t xml:space="preserve">    head = 0</a:t>
            </a:r>
            <a:endParaRPr lang="ko-KR" sz="1200"/>
          </a:p>
          <a:p>
            <a:pPr algn="l">
              <a:lnSpc>
                <a:spcPts val="1560"/>
              </a:lnSpc>
            </a:pPr>
            <a:r>
              <a:rPr lang="ko-KR" sz="1200" b="0">
                <a:solidFill>
                  <a:srgbClr val="142536"/>
                </a:solidFill>
                <a:latin typeface="Menlo"/>
                <a:ea typeface="Malgun Gothic"/>
                <a:cs typeface="Arial"/>
              </a:rPr>
              <a:t xml:space="preserve">    while head &lt; len(queue):</a:t>
            </a:r>
            <a:endParaRPr lang="ko-KR" sz="1200"/>
          </a:p>
          <a:p>
            <a:pPr algn="l">
              <a:lnSpc>
                <a:spcPts val="1560"/>
              </a:lnSpc>
            </a:pPr>
            <a:r>
              <a:rPr lang="ko-KR" sz="1200" b="0">
                <a:solidFill>
                  <a:srgbClr val="142536"/>
                </a:solidFill>
                <a:latin typeface="Menlo"/>
                <a:ea typeface="Malgun Gothic"/>
                <a:cs typeface="Arial"/>
              </a:rPr>
              <a:t xml:space="preserve">        h = queue[head]</a:t>
            </a:r>
            <a:endParaRPr lang="ko-KR" sz="1200"/>
          </a:p>
          <a:p>
            <a:pPr algn="l">
              <a:lnSpc>
                <a:spcPts val="1560"/>
              </a:lnSpc>
            </a:pPr>
            <a:r>
              <a:rPr lang="ko-KR" sz="1200" b="0">
                <a:solidFill>
                  <a:srgbClr val="142536"/>
                </a:solidFill>
                <a:latin typeface="Menlo"/>
                <a:ea typeface="Malgun Gothic"/>
                <a:cs typeface="Arial"/>
              </a:rPr>
              <a:t xml:space="preserve">        head += 1</a:t>
            </a:r>
            <a:endParaRPr lang="ko-KR" sz="1200"/>
          </a:p>
          <a:p>
            <a:pPr algn="l">
              <a:lnSpc>
                <a:spcPts val="1560"/>
              </a:lnSpc>
            </a:pPr>
            <a:r>
              <a:rPr lang="ko-KR" sz="1200" b="0">
                <a:solidFill>
                  <a:srgbClr val="142536"/>
                </a:solidFill>
                <a:latin typeface="Menlo"/>
                <a:ea typeface="Malgun Gothic"/>
                <a:cs typeface="Arial"/>
              </a:rPr>
              <a:t xml:space="preserve">        if h in visited:</a:t>
            </a:r>
            <a:endParaRPr lang="ko-KR" sz="1200"/>
          </a:p>
          <a:p>
            <a:pPr algn="l">
              <a:lnSpc>
                <a:spcPts val="1560"/>
              </a:lnSpc>
            </a:pPr>
            <a:r>
              <a:rPr lang="ko-KR" sz="1200" b="0">
                <a:solidFill>
                  <a:srgbClr val="142536"/>
                </a:solidFill>
                <a:latin typeface="Menlo"/>
                <a:ea typeface="Malgun Gothic"/>
                <a:cs typeface="Arial"/>
              </a:rPr>
              <a:t xml:space="preserve">            continue</a:t>
            </a:r>
            <a:endParaRPr lang="ko-KR" sz="1200"/>
          </a:p>
          <a:p>
            <a:pPr algn="l">
              <a:lnSpc>
                <a:spcPts val="1560"/>
              </a:lnSpc>
            </a:pPr>
            <a:r>
              <a:rPr lang="ko-KR" sz="1200" b="0">
                <a:solidFill>
                  <a:srgbClr val="142536"/>
                </a:solidFill>
                <a:latin typeface="Menlo"/>
                <a:ea typeface="Malgun Gothic"/>
                <a:cs typeface="Arial"/>
              </a:rPr>
              <a:t xml:space="preserve">        visited.add(h)</a:t>
            </a:r>
            <a:endParaRPr lang="ko-KR" sz="1200"/>
          </a:p>
          <a:p>
            <a:pPr algn="l">
              <a:lnSpc>
                <a:spcPts val="1560"/>
              </a:lnSpc>
            </a:pPr>
            <a:r>
              <a:rPr lang="ko-KR" sz="1200" b="0">
                <a:solidFill>
                  <a:srgbClr val="142536"/>
                </a:solidFill>
                <a:latin typeface="Menlo"/>
                <a:ea typeface="Malgun Gothic"/>
                <a:cs typeface="Arial"/>
              </a:rPr>
              <a:t xml:space="preserve">        result.append(h)</a:t>
            </a:r>
            <a:endParaRPr lang="ko-KR" sz="1200"/>
          </a:p>
          <a:p>
            <a:pPr algn="l">
              <a:lnSpc>
                <a:spcPts val="1560"/>
              </a:lnSpc>
            </a:pPr>
            <a:r>
              <a:rPr lang="ko-KR" sz="1200" b="0">
                <a:solidFill>
                  <a:srgbClr val="142536"/>
                </a:solidFill>
                <a:latin typeface="Menlo"/>
                <a:ea typeface="Malgun Gothic"/>
                <a:cs typeface="Arial"/>
              </a:rPr>
              <a:t xml:space="preserve">        queue.extend(commits[h].parents)</a:t>
            </a:r>
            <a:endParaRPr lang="ko-KR" sz="1200"/>
          </a:p>
          <a:p>
            <a:pPr algn="l">
              <a:lnSpc>
                <a:spcPts val="1560"/>
              </a:lnSpc>
            </a:pPr>
            <a:r>
              <a:rPr lang="ko-KR" sz="1200" b="0">
                <a:solidFill>
                  <a:srgbClr val="142536"/>
                </a:solidFill>
                <a:latin typeface="Menlo"/>
                <a:ea typeface="Malgun Gothic"/>
                <a:cs typeface="Arial"/>
              </a:rPr>
              <a:t xml:space="preserve">    return result</a:t>
            </a:r>
            <a:endParaRPr lang="ko-KR" sz="1200"/>
          </a:p>
        </p:txBody>
      </p:sp>
      <p:sp>
        <p:nvSpPr>
          <p:cNvPr id="34" name="Text 34"/>
          <p:cNvSpPr txBox="1"/>
          <p:nvPr/>
        </p:nvSpPr>
        <p:spPr>
          <a:xfrm>
            <a:off x="4508500" y="4646930"/>
            <a:ext cx="7175500" cy="805180"/>
          </a:xfrm>
          <a:prstGeom prst="rect">
            <a:avLst/>
          </a:prstGeom>
          <a:noFill/>
          <a:ln>
            <a:noFill/>
          </a:ln>
        </p:spPr>
        <p:txBody>
          <a:bodyPr wrap="square" lIns="0" tIns="0" rIns="0" bIns="0" anchor="t">
            <a:noAutofit/>
          </a:bodyPr>
          <a:lstStyle/>
          <a:p>
            <a:pPr algn="l">
              <a:lnSpc>
                <a:spcPts val="1560"/>
              </a:lnSpc>
            </a:pPr>
            <a:r>
              <a:rPr lang="ko-KR" sz="1200" b="0">
                <a:solidFill>
                  <a:srgbClr val="142536"/>
                </a:solidFill>
                <a:latin typeface="Arial"/>
                <a:ea typeface="Malgun Gothic"/>
                <a:cs typeface="Arial"/>
              </a:rPr>
              <a:t xml:space="preserve">아주 쉬운 설명: "부모의 부모의 부모..."를 계속 따라 올라가는 탐색입니다. 부모 목록에서 하나씩 꺼내 방문 처리하고, 그</a:t>
            </a:r>
            <a:endParaRPr lang="ko-KR" sz="1200"/>
          </a:p>
          <a:p>
            <a:pPr algn="l">
              <a:lnSpc>
                <a:spcPts val="1560"/>
              </a:lnSpc>
            </a:pPr>
            <a:r>
              <a:rPr lang="ko-KR" sz="1200" b="0">
                <a:solidFill>
                  <a:srgbClr val="142536"/>
                </a:solidFill>
                <a:latin typeface="Arial"/>
                <a:ea typeface="Malgun Gothic"/>
                <a:cs typeface="Arial"/>
              </a:rPr>
              <a:t xml:space="preserve">커밋의 부모도 다시 큐에 넣는 식으로 반복합니다. 병합 커밋 때문에 같은 조상에 여러 경로로 도달할 수 있어(예: 다이아몬</a:t>
            </a:r>
            <a:endParaRPr lang="ko-KR" sz="1200"/>
          </a:p>
          <a:p>
            <a:pPr algn="l">
              <a:lnSpc>
                <a:spcPts val="1560"/>
              </a:lnSpc>
            </a:pPr>
            <a:r>
              <a:rPr lang="ko-KR" sz="1200" b="0">
                <a:solidFill>
                  <a:srgbClr val="142536"/>
                </a:solidFill>
                <a:latin typeface="Arial"/>
                <a:ea typeface="Malgun Gothic"/>
                <a:cs typeface="Arial"/>
              </a:rPr>
              <a:t xml:space="preserve">드형 구조), vi sited 집합으로 이미 본 커밋은 건너뛰어 중복과 무한 루프를 막습니다. 큐는 앞의 원소를 삭제하지 않고 인</a:t>
            </a:r>
            <a:endParaRPr lang="ko-KR" sz="1200"/>
          </a:p>
          <a:p>
            <a:pPr algn="l">
              <a:lnSpc>
                <a:spcPts val="1560"/>
              </a:lnSpc>
            </a:pPr>
            <a:r>
              <a:rPr lang="ko-KR" sz="1200" b="0">
                <a:solidFill>
                  <a:srgbClr val="142536"/>
                </a:solidFill>
                <a:latin typeface="Arial"/>
                <a:ea typeface="Malgun Gothic"/>
                <a:cs typeface="Arial"/>
              </a:rPr>
              <a:t xml:space="preserve">덱스로 읽으므로 O(V +E)로 탐색합니다.</a:t>
            </a:r>
            <a:endParaRPr lang="ko-KR" sz="1200"/>
          </a:p>
        </p:txBody>
      </p:sp>
      <p:sp>
        <p:nvSpPr>
          <p:cNvPr id="35" name="Text 35"/>
          <p:cNvSpPr txBox="1"/>
          <p:nvPr/>
        </p:nvSpPr>
        <p:spPr>
          <a:xfrm>
            <a:off x="4508500" y="5502910"/>
            <a:ext cx="7175500" cy="607060"/>
          </a:xfrm>
          <a:prstGeom prst="rect">
            <a:avLst/>
          </a:prstGeom>
          <a:noFill/>
          <a:ln>
            <a:noFill/>
          </a:ln>
        </p:spPr>
        <p:txBody>
          <a:bodyPr wrap="square" lIns="0" tIns="0" rIns="0" bIns="0" anchor="t">
            <a:noAutofit/>
          </a:bodyPr>
          <a:lstStyle/>
          <a:p>
            <a:pPr algn="l">
              <a:lnSpc>
                <a:spcPts val="1560"/>
              </a:lnSpc>
            </a:pPr>
            <a:r>
              <a:rPr lang="ko-KR" sz="1200" b="0">
                <a:solidFill>
                  <a:srgbClr val="142536"/>
                </a:solidFill>
                <a:latin typeface="Arial"/>
                <a:ea typeface="Malgun Gothic"/>
                <a:cs typeface="Arial"/>
              </a:rPr>
              <a:t xml:space="preserve">가족의 조상 목록을 만드는 것과 비슷하지만 여러 부모 경로가 같은 조상에 합쳐질 수 있습니다. set은 이미 본 hash를 빠</a:t>
            </a:r>
            <a:endParaRPr lang="ko-KR" sz="1200"/>
          </a:p>
          <a:p>
            <a:pPr algn="l">
              <a:lnSpc>
                <a:spcPts val="1560"/>
              </a:lnSpc>
            </a:pPr>
            <a:r>
              <a:rPr lang="ko-KR" sz="1200" b="0">
                <a:solidFill>
                  <a:srgbClr val="142536"/>
                </a:solidFill>
                <a:latin typeface="Arial"/>
                <a:ea typeface="Malgun Gothic"/>
                <a:cs typeface="Arial"/>
              </a:rPr>
              <a:t xml:space="preserve">르게 확인하는 집합입니다. 초기 큐에는 조회 대상의 부모만 넣으므로 자신은 결과에 들어가지 않습니다. 이전의 list.pop(</a:t>
            </a:r>
            <a:endParaRPr lang="ko-KR" sz="1200"/>
          </a:p>
          <a:p>
            <a:pPr algn="l">
              <a:lnSpc>
                <a:spcPts val="1560"/>
              </a:lnSpc>
            </a:pPr>
            <a:r>
              <a:rPr lang="ko-KR" sz="1200" b="0">
                <a:solidFill>
                  <a:srgbClr val="142536"/>
                </a:solidFill>
                <a:latin typeface="Arial"/>
                <a:ea typeface="Malgun Gothic"/>
                <a:cs typeface="Arial"/>
              </a:rPr>
              <a:t xml:space="preserve">0)은 원소들을 당겨야 했고, 지금은 head 인덱스를 이동하여 큐 비용을 줄였습니다.</a:t>
            </a:r>
            <a:endParaRPr lang="ko-KR" sz="1200"/>
          </a:p>
        </p:txBody>
      </p:sp>
      <p:sp>
        <p:nvSpPr>
          <p:cNvPr id="36" name="Text 36"/>
          <p:cNvSpPr txBox="1"/>
          <p:nvPr/>
        </p:nvSpPr>
        <p:spPr>
          <a:xfrm>
            <a:off x="508000" y="6299200"/>
            <a:ext cx="11176000" cy="22860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부모 방향만 탐색하고, 이미 본 조상은 한 번만 포함합니다.</a:t>
            </a:r>
            <a:endParaRPr lang="ko-KR" sz="1250"/>
          </a:p>
        </p:txBody>
      </p:sp>
      <p:sp>
        <p:nvSpPr>
          <p:cNvPr id="37" name="Text 37"/>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mini_git/traversal.py: ancestors() · 평가질문_설명자료.md</a:t>
            </a:r>
            <a:endParaRPr lang="ko-KR" sz="1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정렬은 병합 정렬을 직접 구현했습니다">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EXPLAIN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18 / 26</a:t>
            </a:r>
            <a:endParaRPr lang="ko-KR" sz="1250"/>
          </a:p>
        </p:txBody>
      </p:sp>
      <p:sp>
        <p:nvSpPr>
          <p:cNvPr id="5" name="Text 5"/>
          <p:cNvSpPr txBox="1"/>
          <p:nvPr/>
        </p:nvSpPr>
        <p:spPr>
          <a:xfrm>
            <a:off x="508000" y="793750"/>
            <a:ext cx="11176000" cy="635000"/>
          </a:xfrm>
          <a:prstGeom prst="rect">
            <a:avLst/>
          </a:prstGeom>
          <a:noFill/>
          <a:ln>
            <a:noFill/>
          </a:ln>
        </p:spPr>
        <p:txBody>
          <a:bodyPr wrap="square" lIns="0" tIns="0" rIns="0" bIns="0" anchor="t">
            <a:noAutofit/>
          </a:bodyPr>
          <a:lstStyle/>
          <a:p>
            <a:pPr algn="l">
              <a:lnSpc>
                <a:spcPts val="3900"/>
              </a:lnSpc>
            </a:pPr>
            <a:r>
              <a:rPr lang="ko-KR" sz="3000" b="1">
                <a:solidFill>
                  <a:srgbClr val="142536"/>
                </a:solidFill>
                <a:latin typeface="Arial"/>
                <a:ea typeface="Malgun Gothic"/>
                <a:cs typeface="Arial"/>
              </a:rPr>
              <a:t xml:space="preserve">정렬은 병합 정렬을 직접 구현했습니다</a:t>
            </a:r>
            <a:endParaRPr lang="ko-KR" sz="3000"/>
          </a:p>
        </p:txBody>
      </p:sp>
      <p:sp>
        <p:nvSpPr>
          <p:cNvPr id="6" name="Text 6"/>
          <p:cNvSpPr txBox="1"/>
          <p:nvPr/>
        </p:nvSpPr>
        <p:spPr>
          <a:xfrm>
            <a:off x="571500" y="1492250"/>
            <a:ext cx="3683000" cy="24130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핵심 · 그림 · 실행</a:t>
            </a:r>
            <a:endParaRPr lang="ko-KR" sz="1300"/>
          </a:p>
        </p:txBody>
      </p:sp>
      <p:sp>
        <p:nvSpPr>
          <p:cNvPr id="7" name="Text 7"/>
          <p:cNvSpPr txBox="1"/>
          <p:nvPr/>
        </p:nvSpPr>
        <p:spPr>
          <a:xfrm>
            <a:off x="4508500" y="1492250"/>
            <a:ext cx="7175500" cy="24130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상세 설명 · 코드 · 문답 전체</a:t>
            </a:r>
            <a:endParaRPr lang="ko-KR" sz="1300"/>
          </a:p>
        </p:txBody>
      </p:sp>
      <p:sp>
        <p:nvSpPr>
          <p:cNvPr id="8" name="Shape 8"/>
          <p:cNvSpPr/>
          <p:nvPr/>
        </p:nvSpPr>
        <p:spPr>
          <a:xfrm>
            <a:off x="4349750" y="1778000"/>
            <a:ext cx="12700" cy="4381500"/>
          </a:xfrm>
          <a:prstGeom prst="rect">
            <a:avLst/>
          </a:prstGeom>
          <a:solidFill>
            <a:srgbClr val="D7DFDB"/>
          </a:solidFill>
          <a:ln>
            <a:noFill/>
          </a:ln>
        </p:spPr>
      </p:sp>
      <p:sp>
        <p:nvSpPr>
          <p:cNvPr id="9" name="Shape 9"/>
          <p:cNvSpPr/>
          <p:nvPr/>
        </p:nvSpPr>
        <p:spPr>
          <a:xfrm>
            <a:off x="476250" y="1778000"/>
            <a:ext cx="2968625" cy="2182812"/>
          </a:xfrm>
          <a:prstGeom prst="roundRect">
            <a:avLst/>
          </a:prstGeom>
          <a:solidFill>
            <a:srgbClr val="FFFFFF"/>
          </a:solidFill>
          <a:ln w="12700">
            <a:solidFill>
              <a:srgbClr val="D7DFDB"/>
            </a:solidFill>
          </a:ln>
        </p:spPr>
      </p:sp>
      <p:sp>
        <p:nvSpPr>
          <p:cNvPr id="10" name="Text 10"/>
          <p:cNvSpPr txBox="1"/>
          <p:nvPr/>
        </p:nvSpPr>
        <p:spPr>
          <a:xfrm>
            <a:off x="581025" y="1847850"/>
            <a:ext cx="2724150" cy="209550"/>
          </a:xfrm>
          <a:prstGeom prst="rect">
            <a:avLst/>
          </a:prstGeom>
          <a:noFill/>
          <a:ln>
            <a:noFill/>
          </a:ln>
        </p:spPr>
        <p:txBody>
          <a:bodyPr wrap="square" lIns="0" tIns="0" rIns="0" bIns="0" anchor="t">
            <a:noAutofit/>
          </a:bodyPr>
          <a:lstStyle/>
          <a:p>
            <a:pPr algn="l">
              <a:lnSpc>
                <a:spcPts val="1072"/>
              </a:lnSpc>
            </a:pPr>
            <a:r>
              <a:rPr lang="ko-KR" sz="825" b="1">
                <a:solidFill>
                  <a:srgbClr val="168B82"/>
                </a:solidFill>
                <a:latin typeface="Arial"/>
                <a:ea typeface="Malgun Gothic"/>
                <a:cs typeface="Arial"/>
              </a:rPr>
              <a:t xml:space="preserve">한눈에 이해하기</a:t>
            </a:r>
            <a:endParaRPr lang="ko-KR" sz="825"/>
          </a:p>
        </p:txBody>
      </p:sp>
      <p:sp>
        <p:nvSpPr>
          <p:cNvPr id="11" name="Text 11"/>
          <p:cNvSpPr txBox="1"/>
          <p:nvPr/>
        </p:nvSpPr>
        <p:spPr>
          <a:xfrm>
            <a:off x="1174750" y="2179638"/>
            <a:ext cx="1536700" cy="202565"/>
          </a:xfrm>
          <a:prstGeom prst="rect">
            <a:avLst/>
          </a:prstGeom>
          <a:noFill/>
          <a:ln>
            <a:noFill/>
          </a:ln>
        </p:spPr>
        <p:txBody>
          <a:bodyPr wrap="square" lIns="0" tIns="0" rIns="0" bIns="0" anchor="t">
            <a:noAutofit/>
          </a:bodyPr>
          <a:lstStyle/>
          <a:p>
            <a:pPr algn="ctr">
              <a:lnSpc>
                <a:spcPts val="1502"/>
              </a:lnSpc>
            </a:pPr>
            <a:r>
              <a:rPr lang="ko-KR" sz="1155" b="1">
                <a:solidFill>
                  <a:srgbClr val="142536"/>
                </a:solidFill>
                <a:latin typeface="Arial"/>
                <a:ea typeface="Malgun Gothic"/>
                <a:cs typeface="Arial"/>
              </a:rPr>
              <a:t xml:space="preserve">[4, 1, 3, 2]</a:t>
            </a:r>
            <a:endParaRPr lang="ko-KR" sz="1155"/>
          </a:p>
        </p:txBody>
      </p:sp>
      <p:sp>
        <p:nvSpPr>
          <p:cNvPr id="12" name="Text 12"/>
          <p:cNvSpPr txBox="1"/>
          <p:nvPr/>
        </p:nvSpPr>
        <p:spPr>
          <a:xfrm>
            <a:off x="685800" y="2563812"/>
            <a:ext cx="2549525" cy="202565"/>
          </a:xfrm>
          <a:prstGeom prst="rect">
            <a:avLst/>
          </a:prstGeom>
          <a:noFill/>
          <a:ln>
            <a:noFill/>
          </a:ln>
        </p:spPr>
        <p:txBody>
          <a:bodyPr wrap="square" lIns="0" tIns="0" rIns="0" bIns="0" anchor="t">
            <a:noAutofit/>
          </a:bodyPr>
          <a:lstStyle/>
          <a:p>
            <a:pPr algn="ctr">
              <a:lnSpc>
                <a:spcPts val="1502"/>
              </a:lnSpc>
            </a:pPr>
            <a:r>
              <a:rPr lang="ko-KR" sz="1155" b="1">
                <a:solidFill>
                  <a:srgbClr val="142536"/>
                </a:solidFill>
                <a:latin typeface="Arial"/>
                <a:ea typeface="Malgun Gothic"/>
                <a:cs typeface="Arial"/>
              </a:rPr>
              <a:t xml:space="preserve">[4, 1]   [3, 2]</a:t>
            </a:r>
            <a:endParaRPr lang="ko-KR" sz="1155"/>
          </a:p>
        </p:txBody>
      </p:sp>
      <p:sp>
        <p:nvSpPr>
          <p:cNvPr id="13" name="Text 13"/>
          <p:cNvSpPr txBox="1"/>
          <p:nvPr/>
        </p:nvSpPr>
        <p:spPr>
          <a:xfrm>
            <a:off x="685800" y="2930525"/>
            <a:ext cx="2549525" cy="202565"/>
          </a:xfrm>
          <a:prstGeom prst="rect">
            <a:avLst/>
          </a:prstGeom>
          <a:noFill/>
          <a:ln>
            <a:noFill/>
          </a:ln>
        </p:spPr>
        <p:txBody>
          <a:bodyPr wrap="square" lIns="0" tIns="0" rIns="0" bIns="0" anchor="t">
            <a:noAutofit/>
          </a:bodyPr>
          <a:lstStyle/>
          <a:p>
            <a:pPr algn="ctr">
              <a:lnSpc>
                <a:spcPts val="1502"/>
              </a:lnSpc>
            </a:pPr>
            <a:r>
              <a:rPr lang="ko-KR" sz="1155" b="1">
                <a:solidFill>
                  <a:srgbClr val="142536"/>
                </a:solidFill>
                <a:latin typeface="Arial"/>
                <a:ea typeface="Malgun Gothic"/>
                <a:cs typeface="Arial"/>
              </a:rPr>
              <a:t xml:space="preserve">[4] [1] [3] [2]</a:t>
            </a:r>
            <a:endParaRPr lang="ko-KR" sz="1155"/>
          </a:p>
        </p:txBody>
      </p:sp>
      <p:sp>
        <p:nvSpPr>
          <p:cNvPr id="14" name="Text 14"/>
          <p:cNvSpPr txBox="1"/>
          <p:nvPr/>
        </p:nvSpPr>
        <p:spPr>
          <a:xfrm>
            <a:off x="685800" y="3297238"/>
            <a:ext cx="2549525" cy="202565"/>
          </a:xfrm>
          <a:prstGeom prst="rect">
            <a:avLst/>
          </a:prstGeom>
          <a:noFill/>
          <a:ln>
            <a:noFill/>
          </a:ln>
        </p:spPr>
        <p:txBody>
          <a:bodyPr wrap="square" lIns="0" tIns="0" rIns="0" bIns="0" anchor="t">
            <a:noAutofit/>
          </a:bodyPr>
          <a:lstStyle/>
          <a:p>
            <a:pPr algn="ctr">
              <a:lnSpc>
                <a:spcPts val="1502"/>
              </a:lnSpc>
            </a:pPr>
            <a:r>
              <a:rPr lang="ko-KR" sz="1155" b="1">
                <a:solidFill>
                  <a:srgbClr val="142536"/>
                </a:solidFill>
                <a:latin typeface="Arial"/>
                <a:ea typeface="Malgun Gothic"/>
                <a:cs typeface="Arial"/>
              </a:rPr>
              <a:t xml:space="preserve">[1, 4]   [2, 3]</a:t>
            </a:r>
            <a:endParaRPr lang="ko-KR" sz="1155"/>
          </a:p>
        </p:txBody>
      </p:sp>
      <p:sp>
        <p:nvSpPr>
          <p:cNvPr id="15" name="Text 15"/>
          <p:cNvSpPr txBox="1"/>
          <p:nvPr/>
        </p:nvSpPr>
        <p:spPr>
          <a:xfrm>
            <a:off x="1174750" y="3663950"/>
            <a:ext cx="1536700" cy="202565"/>
          </a:xfrm>
          <a:prstGeom prst="rect">
            <a:avLst/>
          </a:prstGeom>
          <a:noFill/>
          <a:ln>
            <a:noFill/>
          </a:ln>
        </p:spPr>
        <p:txBody>
          <a:bodyPr wrap="square" lIns="0" tIns="0" rIns="0" bIns="0" anchor="t">
            <a:noAutofit/>
          </a:bodyPr>
          <a:lstStyle/>
          <a:p>
            <a:pPr algn="ctr">
              <a:lnSpc>
                <a:spcPts val="1502"/>
              </a:lnSpc>
            </a:pPr>
            <a:r>
              <a:rPr lang="ko-KR" sz="1155" b="1">
                <a:solidFill>
                  <a:srgbClr val="168B82"/>
                </a:solidFill>
                <a:latin typeface="Arial"/>
                <a:ea typeface="Malgun Gothic"/>
                <a:cs typeface="Arial"/>
              </a:rPr>
              <a:t xml:space="preserve">[1, 2, 3, 4]</a:t>
            </a:r>
            <a:endParaRPr lang="ko-KR" sz="1155"/>
          </a:p>
        </p:txBody>
      </p:sp>
      <p:sp>
        <p:nvSpPr>
          <p:cNvPr id="16" name="Text 16"/>
          <p:cNvSpPr txBox="1"/>
          <p:nvPr/>
        </p:nvSpPr>
        <p:spPr>
          <a:xfrm>
            <a:off x="571500" y="4127500"/>
            <a:ext cx="3683000" cy="144780"/>
          </a:xfrm>
          <a:prstGeom prst="rect">
            <a:avLst/>
          </a:prstGeom>
          <a:noFill/>
          <a:ln>
            <a:noFill/>
          </a:ln>
        </p:spPr>
        <p:txBody>
          <a:bodyPr wrap="square" lIns="0" tIns="0" rIns="0" bIns="0" anchor="t">
            <a:noAutofit/>
          </a:bodyPr>
          <a:lstStyle/>
          <a:p>
            <a:pPr algn="l">
              <a:lnSpc>
                <a:spcPts val="1040"/>
              </a:lnSpc>
            </a:pPr>
            <a:r>
              <a:rPr lang="ko-KR" sz="800" b="1">
                <a:solidFill>
                  <a:srgbClr val="168B82"/>
                </a:solidFill>
                <a:latin typeface="Arial"/>
                <a:ea typeface="Malgun Gothic"/>
                <a:cs typeface="Arial"/>
              </a:rPr>
              <a:t xml:space="preserve">나누기</a:t>
            </a:r>
            <a:endParaRPr lang="ko-KR" sz="800"/>
          </a:p>
        </p:txBody>
      </p:sp>
      <p:sp>
        <p:nvSpPr>
          <p:cNvPr id="17" name="Text 17"/>
          <p:cNvSpPr txBox="1"/>
          <p:nvPr/>
        </p:nvSpPr>
        <p:spPr>
          <a:xfrm>
            <a:off x="571500" y="4323080"/>
            <a:ext cx="3683000" cy="144780"/>
          </a:xfrm>
          <a:prstGeom prst="rect">
            <a:avLst/>
          </a:prstGeom>
          <a:noFill/>
          <a:ln>
            <a:noFill/>
          </a:ln>
        </p:spPr>
        <p:txBody>
          <a:bodyPr wrap="square" lIns="0" tIns="0" rIns="0" bIns="0" anchor="t">
            <a:noAutofit/>
          </a:bodyPr>
          <a:lstStyle/>
          <a:p>
            <a:pPr algn="l">
              <a:lnSpc>
                <a:spcPts val="1040"/>
              </a:lnSpc>
            </a:pPr>
            <a:r>
              <a:rPr lang="ko-KR" sz="800" b="0">
                <a:solidFill>
                  <a:srgbClr val="142536"/>
                </a:solidFill>
                <a:latin typeface="Arial"/>
                <a:ea typeface="Malgun Gothic"/>
                <a:cs typeface="Arial"/>
              </a:rPr>
              <a:t xml:space="preserve">[4, 1, 3, 2] [4, 1] [3, 2] [4] [1] [3] [2]</a:t>
            </a:r>
            <a:endParaRPr lang="ko-KR" sz="800"/>
          </a:p>
        </p:txBody>
      </p:sp>
      <p:sp>
        <p:nvSpPr>
          <p:cNvPr id="18" name="Text 18"/>
          <p:cNvSpPr txBox="1"/>
          <p:nvPr/>
        </p:nvSpPr>
        <p:spPr>
          <a:xfrm>
            <a:off x="571500" y="4518660"/>
            <a:ext cx="3683000" cy="144780"/>
          </a:xfrm>
          <a:prstGeom prst="rect">
            <a:avLst/>
          </a:prstGeom>
          <a:noFill/>
          <a:ln>
            <a:noFill/>
          </a:ln>
        </p:spPr>
        <p:txBody>
          <a:bodyPr wrap="square" lIns="0" tIns="0" rIns="0" bIns="0" anchor="t">
            <a:noAutofit/>
          </a:bodyPr>
          <a:lstStyle/>
          <a:p>
            <a:pPr algn="l">
              <a:lnSpc>
                <a:spcPts val="1040"/>
              </a:lnSpc>
            </a:pPr>
            <a:r>
              <a:rPr lang="ko-KR" sz="800" b="1">
                <a:solidFill>
                  <a:srgbClr val="168B82"/>
                </a:solidFill>
                <a:latin typeface="Arial"/>
                <a:ea typeface="Malgun Gothic"/>
                <a:cs typeface="Arial"/>
              </a:rPr>
              <a:t xml:space="preserve">합치기</a:t>
            </a:r>
            <a:endParaRPr lang="ko-KR" sz="800"/>
          </a:p>
        </p:txBody>
      </p:sp>
      <p:sp>
        <p:nvSpPr>
          <p:cNvPr id="19" name="Text 19"/>
          <p:cNvSpPr txBox="1"/>
          <p:nvPr/>
        </p:nvSpPr>
        <p:spPr>
          <a:xfrm>
            <a:off x="571500" y="4714240"/>
            <a:ext cx="3683000" cy="144780"/>
          </a:xfrm>
          <a:prstGeom prst="rect">
            <a:avLst/>
          </a:prstGeom>
          <a:noFill/>
          <a:ln>
            <a:noFill/>
          </a:ln>
        </p:spPr>
        <p:txBody>
          <a:bodyPr wrap="square" lIns="0" tIns="0" rIns="0" bIns="0" anchor="t">
            <a:noAutofit/>
          </a:bodyPr>
          <a:lstStyle/>
          <a:p>
            <a:pPr algn="l">
              <a:lnSpc>
                <a:spcPts val="1040"/>
              </a:lnSpc>
            </a:pPr>
            <a:r>
              <a:rPr lang="ko-KR" sz="800" b="0">
                <a:solidFill>
                  <a:srgbClr val="142536"/>
                </a:solidFill>
                <a:latin typeface="Arial"/>
                <a:ea typeface="Malgun Gothic"/>
                <a:cs typeface="Arial"/>
              </a:rPr>
              <a:t xml:space="preserve">[1, 4] [2, 3] [1, 2, 3, 4]</a:t>
            </a:r>
            <a:endParaRPr lang="ko-KR" sz="800"/>
          </a:p>
        </p:txBody>
      </p:sp>
      <p:sp>
        <p:nvSpPr>
          <p:cNvPr id="20" name="Text 20"/>
          <p:cNvSpPr txBox="1"/>
          <p:nvPr/>
        </p:nvSpPr>
        <p:spPr>
          <a:xfrm>
            <a:off x="571500" y="4909820"/>
            <a:ext cx="3683000" cy="144780"/>
          </a:xfrm>
          <a:prstGeom prst="rect">
            <a:avLst/>
          </a:prstGeom>
          <a:noFill/>
          <a:ln>
            <a:noFill/>
          </a:ln>
        </p:spPr>
        <p:txBody>
          <a:bodyPr wrap="square" lIns="0" tIns="0" rIns="0" bIns="0" anchor="t">
            <a:noAutofit/>
          </a:bodyPr>
          <a:lstStyle/>
          <a:p>
            <a:pPr algn="l">
              <a:lnSpc>
                <a:spcPts val="1040"/>
              </a:lnSpc>
            </a:pPr>
            <a:r>
              <a:rPr lang="ko-KR" sz="800" b="1">
                <a:solidFill>
                  <a:srgbClr val="168B82"/>
                </a:solidFill>
                <a:latin typeface="Arial"/>
                <a:ea typeface="Malgun Gothic"/>
                <a:cs typeface="Arial"/>
              </a:rPr>
              <a:t xml:space="preserve">평가 질문: 왜 퀵 정렬이 아닌가요?</a:t>
            </a:r>
            <a:endParaRPr lang="ko-KR" sz="800"/>
          </a:p>
        </p:txBody>
      </p:sp>
      <p:sp>
        <p:nvSpPr>
          <p:cNvPr id="21" name="Text 21"/>
          <p:cNvSpPr txBox="1"/>
          <p:nvPr/>
        </p:nvSpPr>
        <p:spPr>
          <a:xfrm>
            <a:off x="571500" y="5105400"/>
            <a:ext cx="3683000" cy="276860"/>
          </a:xfrm>
          <a:prstGeom prst="rect">
            <a:avLst/>
          </a:prstGeom>
          <a:noFill/>
          <a:ln>
            <a:noFill/>
          </a:ln>
        </p:spPr>
        <p:txBody>
          <a:bodyPr wrap="square" lIns="0" tIns="0" rIns="0" bIns="0" anchor="t">
            <a:noAutofit/>
          </a:bodyPr>
          <a:lstStyle/>
          <a:p>
            <a:pPr algn="l">
              <a:lnSpc>
                <a:spcPts val="1040"/>
              </a:lnSpc>
            </a:pPr>
            <a:r>
              <a:rPr lang="ko-KR" sz="800" b="0">
                <a:solidFill>
                  <a:srgbClr val="142536"/>
                </a:solidFill>
                <a:latin typeface="Arial"/>
                <a:ea typeface="Malgun Gothic"/>
                <a:cs typeface="Arial"/>
              </a:rPr>
              <a:t xml:space="preserve">병합 정렬은 평균·최악 O(n log n) 같은 값의 원래 순서를 지키는 안정 정렬 일반적 퀵 정렬은</a:t>
            </a:r>
            <a:endParaRPr lang="ko-KR" sz="800"/>
          </a:p>
          <a:p>
            <a:pPr algn="l">
              <a:lnSpc>
                <a:spcPts val="1040"/>
              </a:lnSpc>
            </a:pPr>
            <a:r>
              <a:rPr lang="ko-KR" sz="800" b="0">
                <a:solidFill>
                  <a:srgbClr val="142536"/>
                </a:solidFill>
                <a:latin typeface="Arial"/>
                <a:ea typeface="Malgun Gothic"/>
                <a:cs typeface="Arial"/>
              </a:rPr>
              <a:t xml:space="preserve">최악 O(n²), 보통 불안정</a:t>
            </a:r>
            <a:endParaRPr lang="ko-KR" sz="800"/>
          </a:p>
        </p:txBody>
      </p:sp>
      <p:sp>
        <p:nvSpPr>
          <p:cNvPr id="22" name="Text 22"/>
          <p:cNvSpPr txBox="1"/>
          <p:nvPr/>
        </p:nvSpPr>
        <p:spPr>
          <a:xfrm>
            <a:off x="571500" y="5433060"/>
            <a:ext cx="3683000" cy="144780"/>
          </a:xfrm>
          <a:prstGeom prst="rect">
            <a:avLst/>
          </a:prstGeom>
          <a:noFill/>
          <a:ln>
            <a:noFill/>
          </a:ln>
        </p:spPr>
        <p:txBody>
          <a:bodyPr wrap="square" lIns="0" tIns="0" rIns="0" bIns="0" anchor="t">
            <a:noAutofit/>
          </a:bodyPr>
          <a:lstStyle/>
          <a:p>
            <a:pPr algn="l">
              <a:lnSpc>
                <a:spcPts val="1040"/>
              </a:lnSpc>
            </a:pPr>
            <a:r>
              <a:rPr lang="ko-KR" sz="800" b="1">
                <a:solidFill>
                  <a:srgbClr val="168B82"/>
                </a:solidFill>
                <a:latin typeface="Arial"/>
                <a:ea typeface="Malgun Gothic"/>
                <a:cs typeface="Arial"/>
              </a:rPr>
              <a:t xml:space="preserve">실행 확인 · mini-git&gt; · 5페이지 실습 후</a:t>
            </a:r>
            <a:endParaRPr lang="ko-KR" sz="800"/>
          </a:p>
        </p:txBody>
      </p:sp>
      <p:sp>
        <p:nvSpPr>
          <p:cNvPr id="23" name="Text 23"/>
          <p:cNvSpPr txBox="1"/>
          <p:nvPr/>
        </p:nvSpPr>
        <p:spPr>
          <a:xfrm>
            <a:off x="571500" y="5628640"/>
            <a:ext cx="3683000" cy="276860"/>
          </a:xfrm>
          <a:prstGeom prst="rect">
            <a:avLst/>
          </a:prstGeom>
          <a:noFill/>
          <a:ln>
            <a:noFill/>
          </a:ln>
        </p:spPr>
        <p:txBody>
          <a:bodyPr wrap="square" lIns="0" tIns="0" rIns="0" bIns="0" anchor="t">
            <a:noAutofit/>
          </a:bodyPr>
          <a:lstStyle/>
          <a:p>
            <a:pPr algn="l">
              <a:lnSpc>
                <a:spcPts val="1040"/>
              </a:lnSpc>
            </a:pPr>
            <a:r>
              <a:rPr lang="ko-KR" sz="800" b="0">
                <a:solidFill>
                  <a:srgbClr val="142536"/>
                </a:solidFill>
                <a:latin typeface="Menlo"/>
                <a:ea typeface="Malgun Gothic"/>
                <a:cs typeface="Arial"/>
              </a:rPr>
              <a:t xml:space="preserve">LOG --sort-by=date</a:t>
            </a:r>
            <a:endParaRPr lang="ko-KR" sz="800"/>
          </a:p>
          <a:p>
            <a:pPr algn="l">
              <a:lnSpc>
                <a:spcPts val="1040"/>
              </a:lnSpc>
            </a:pPr>
            <a:r>
              <a:rPr lang="ko-KR" sz="800" b="0">
                <a:solidFill>
                  <a:srgbClr val="142536"/>
                </a:solidFill>
                <a:latin typeface="Menlo"/>
                <a:ea typeface="Malgun Gothic"/>
                <a:cs typeface="Arial"/>
              </a:rPr>
              <a:t xml:space="preserve">LOG --sort-by=author</a:t>
            </a:r>
            <a:endParaRPr lang="ko-KR" sz="800"/>
          </a:p>
        </p:txBody>
      </p:sp>
      <p:sp>
        <p:nvSpPr>
          <p:cNvPr id="24" name="Text 24"/>
          <p:cNvSpPr txBox="1"/>
          <p:nvPr/>
        </p:nvSpPr>
        <p:spPr>
          <a:xfrm>
            <a:off x="571500" y="5956300"/>
            <a:ext cx="3683000" cy="144780"/>
          </a:xfrm>
          <a:prstGeom prst="rect">
            <a:avLst/>
          </a:prstGeom>
          <a:noFill/>
          <a:ln>
            <a:noFill/>
          </a:ln>
        </p:spPr>
        <p:txBody>
          <a:bodyPr wrap="square" lIns="0" tIns="0" rIns="0" bIns="0" anchor="t">
            <a:noAutofit/>
          </a:bodyPr>
          <a:lstStyle/>
          <a:p>
            <a:pPr algn="l">
              <a:lnSpc>
                <a:spcPts val="1040"/>
              </a:lnSpc>
            </a:pPr>
            <a:r>
              <a:rPr lang="ko-KR" sz="800" b="0">
                <a:solidFill>
                  <a:srgbClr val="142536"/>
                </a:solidFill>
                <a:latin typeface="Arial"/>
                <a:ea typeface="Malgun Gothic"/>
                <a:cs typeface="Arial"/>
              </a:rPr>
              <a:t xml:space="preserve">확인: 날짜·작성자 오름차순. 한 작성자만 있으면 author 정렬의 변화가 보이지 않을 수 있음</a:t>
            </a:r>
            <a:endParaRPr lang="ko-KR" sz="800"/>
          </a:p>
        </p:txBody>
      </p:sp>
      <p:sp>
        <p:nvSpPr>
          <p:cNvPr id="25" name="Text 25"/>
          <p:cNvSpPr txBox="1"/>
          <p:nvPr/>
        </p:nvSpPr>
        <p:spPr>
          <a:xfrm>
            <a:off x="4508500" y="1809750"/>
            <a:ext cx="7175500" cy="186055"/>
          </a:xfrm>
          <a:prstGeom prst="rect">
            <a:avLst/>
          </a:prstGeom>
          <a:noFill/>
          <a:ln>
            <a:noFill/>
          </a:ln>
        </p:spPr>
        <p:txBody>
          <a:bodyPr wrap="square" lIns="0" tIns="0" rIns="0" bIns="0" anchor="t">
            <a:noAutofit/>
          </a:bodyPr>
          <a:lstStyle/>
          <a:p>
            <a:pPr algn="l">
              <a:lnSpc>
                <a:spcPts val="1365"/>
              </a:lnSpc>
            </a:pPr>
            <a:r>
              <a:rPr lang="ko-KR" sz="1050" b="0">
                <a:solidFill>
                  <a:srgbClr val="142536"/>
                </a:solidFill>
                <a:latin typeface="Arial"/>
                <a:ea typeface="Malgun Gothic"/>
                <a:cs typeface="Arial"/>
              </a:rPr>
              <a:t xml:space="preserve">sorting.merge_sort는 병합 정렬을 일반화된 형태(비교 키를 함수로 받음)로 구현했습니다.</a:t>
            </a:r>
            <a:endParaRPr lang="ko-KR" sz="1050"/>
          </a:p>
        </p:txBody>
      </p:sp>
      <p:sp>
        <p:nvSpPr>
          <p:cNvPr id="26" name="Text 26"/>
          <p:cNvSpPr txBox="1"/>
          <p:nvPr/>
        </p:nvSpPr>
        <p:spPr>
          <a:xfrm>
            <a:off x="4508500" y="2046605"/>
            <a:ext cx="7175500" cy="2613025"/>
          </a:xfrm>
          <a:prstGeom prst="rect">
            <a:avLst/>
          </a:prstGeom>
          <a:noFill/>
          <a:ln>
            <a:noFill/>
          </a:ln>
        </p:spPr>
        <p:txBody>
          <a:bodyPr wrap="square" lIns="0" tIns="0" rIns="0" bIns="0" anchor="t">
            <a:noAutofit/>
          </a:bodyPr>
          <a:lstStyle/>
          <a:p>
            <a:pPr algn="l">
              <a:lnSpc>
                <a:spcPts val="1365"/>
              </a:lnSpc>
            </a:pPr>
            <a:r>
              <a:rPr lang="ko-KR" sz="1050" b="0">
                <a:solidFill>
                  <a:srgbClr val="142536"/>
                </a:solidFill>
                <a:latin typeface="Menlo"/>
                <a:ea typeface="Malgun Gothic"/>
                <a:cs typeface="Arial"/>
              </a:rPr>
              <a:t xml:space="preserve">def merge_sort(items, key):</a:t>
            </a:r>
            <a:endParaRPr lang="ko-KR" sz="1050"/>
          </a:p>
          <a:p>
            <a:pPr algn="l">
              <a:lnSpc>
                <a:spcPts val="1365"/>
              </a:lnSpc>
            </a:pPr>
            <a:r>
              <a:rPr lang="ko-KR" sz="1050" b="0">
                <a:solidFill>
                  <a:srgbClr val="142536"/>
                </a:solidFill>
                <a:latin typeface="Menlo"/>
                <a:ea typeface="Malgun Gothic"/>
                <a:cs typeface="Arial"/>
              </a:rPr>
              <a:t xml:space="preserve">    if len(items) &lt;= 1:</a:t>
            </a:r>
            <a:endParaRPr lang="ko-KR" sz="1050"/>
          </a:p>
          <a:p>
            <a:pPr algn="l">
              <a:lnSpc>
                <a:spcPts val="1365"/>
              </a:lnSpc>
            </a:pPr>
            <a:r>
              <a:rPr lang="ko-KR" sz="1050" b="0">
                <a:solidFill>
                  <a:srgbClr val="142536"/>
                </a:solidFill>
                <a:latin typeface="Menlo"/>
                <a:ea typeface="Malgun Gothic"/>
                <a:cs typeface="Arial"/>
              </a:rPr>
              <a:t xml:space="preserve">        return list(items)</a:t>
            </a:r>
            <a:endParaRPr lang="ko-KR" sz="1050"/>
          </a:p>
          <a:p>
            <a:pPr algn="l">
              <a:lnSpc>
                <a:spcPts val="1365"/>
              </a:lnSpc>
            </a:pPr>
            <a:r>
              <a:rPr lang="ko-KR" sz="1050" b="0">
                <a:solidFill>
                  <a:srgbClr val="142536"/>
                </a:solidFill>
                <a:latin typeface="Menlo"/>
                <a:ea typeface="Malgun Gothic"/>
                <a:cs typeface="Arial"/>
              </a:rPr>
              <a:t xml:space="preserve">    mid = len(items) // 2</a:t>
            </a:r>
            <a:endParaRPr lang="ko-KR" sz="1050"/>
          </a:p>
          <a:p>
            <a:pPr algn="l">
              <a:lnSpc>
                <a:spcPts val="1365"/>
              </a:lnSpc>
            </a:pPr>
            <a:r>
              <a:rPr lang="ko-KR" sz="1050" b="0">
                <a:solidFill>
                  <a:srgbClr val="142536"/>
                </a:solidFill>
                <a:latin typeface="Menlo"/>
                <a:ea typeface="Malgun Gothic"/>
                <a:cs typeface="Arial"/>
              </a:rPr>
              <a:t xml:space="preserve">    left = merge_sort(items[:mid], key)</a:t>
            </a:r>
            <a:endParaRPr lang="ko-KR" sz="1050"/>
          </a:p>
          <a:p>
            <a:pPr algn="l">
              <a:lnSpc>
                <a:spcPts val="1365"/>
              </a:lnSpc>
            </a:pPr>
            <a:r>
              <a:rPr lang="ko-KR" sz="1050" b="0">
                <a:solidFill>
                  <a:srgbClr val="142536"/>
                </a:solidFill>
                <a:latin typeface="Menlo"/>
                <a:ea typeface="Malgun Gothic"/>
                <a:cs typeface="Arial"/>
              </a:rPr>
              <a:t xml:space="preserve">    right = merge_sort(items[mid:], key)</a:t>
            </a:r>
            <a:endParaRPr lang="ko-KR" sz="1050"/>
          </a:p>
          <a:p>
            <a:pPr algn="l">
              <a:lnSpc>
                <a:spcPts val="1365"/>
              </a:lnSpc>
            </a:pPr>
            <a:r>
              <a:rPr lang="ko-KR" sz="1050" b="0">
                <a:solidFill>
                  <a:srgbClr val="142536"/>
                </a:solidFill>
                <a:latin typeface="Menlo"/>
                <a:ea typeface="Malgun Gothic"/>
                <a:cs typeface="Arial"/>
              </a:rPr>
              <a:t xml:space="preserve">    return _merge(left, right, key)</a:t>
            </a:r>
            <a:endParaRPr lang="ko-KR" sz="1050"/>
          </a:p>
          <a:p>
            <a:pPr algn="l">
              <a:lnSpc>
                <a:spcPts val="1365"/>
              </a:lnSpc>
            </a:pPr>
            <a:r>
              <a:rPr lang="ko-KR" sz="1050" b="0">
                <a:solidFill>
                  <a:srgbClr val="142536"/>
                </a:solidFill>
                <a:latin typeface="Menlo"/>
                <a:ea typeface="Malgun Gothic"/>
                <a:cs typeface="Arial"/>
              </a:rPr>
              <a:t xml:space="preserve"/>
            </a:r>
            <a:endParaRPr lang="ko-KR" sz="1050"/>
          </a:p>
          <a:p>
            <a:pPr algn="l">
              <a:lnSpc>
                <a:spcPts val="1365"/>
              </a:lnSpc>
            </a:pPr>
            <a:r>
              <a:rPr lang="ko-KR" sz="1050" b="0">
                <a:solidFill>
                  <a:srgbClr val="142536"/>
                </a:solidFill>
                <a:latin typeface="Menlo"/>
                <a:ea typeface="Malgun Gothic"/>
                <a:cs typeface="Arial"/>
              </a:rPr>
              <a:t xml:space="preserve">def _merge(left, right, key):</a:t>
            </a:r>
            <a:endParaRPr lang="ko-KR" sz="1050"/>
          </a:p>
          <a:p>
            <a:pPr algn="l">
              <a:lnSpc>
                <a:spcPts val="1365"/>
              </a:lnSpc>
            </a:pPr>
            <a:r>
              <a:rPr lang="ko-KR" sz="1050" b="0">
                <a:solidFill>
                  <a:srgbClr val="142536"/>
                </a:solidFill>
                <a:latin typeface="Menlo"/>
                <a:ea typeface="Malgun Gothic"/>
                <a:cs typeface="Arial"/>
              </a:rPr>
              <a:t xml:space="preserve">    merged = []</a:t>
            </a:r>
            <a:endParaRPr lang="ko-KR" sz="1050"/>
          </a:p>
          <a:p>
            <a:pPr algn="l">
              <a:lnSpc>
                <a:spcPts val="1365"/>
              </a:lnSpc>
            </a:pPr>
            <a:r>
              <a:rPr lang="ko-KR" sz="1050" b="0">
                <a:solidFill>
                  <a:srgbClr val="142536"/>
                </a:solidFill>
                <a:latin typeface="Menlo"/>
                <a:ea typeface="Malgun Gothic"/>
                <a:cs typeface="Arial"/>
              </a:rPr>
              <a:t xml:space="preserve">    i = j = 0</a:t>
            </a:r>
            <a:endParaRPr lang="ko-KR" sz="1050"/>
          </a:p>
          <a:p>
            <a:pPr algn="l">
              <a:lnSpc>
                <a:spcPts val="1365"/>
              </a:lnSpc>
            </a:pPr>
            <a:r>
              <a:rPr lang="ko-KR" sz="1050" b="0">
                <a:solidFill>
                  <a:srgbClr val="142536"/>
                </a:solidFill>
                <a:latin typeface="Menlo"/>
                <a:ea typeface="Malgun Gothic"/>
                <a:cs typeface="Arial"/>
              </a:rPr>
              <a:t xml:space="preserve">    while i &lt; len(left) and j &lt; len(right):</a:t>
            </a:r>
            <a:endParaRPr lang="ko-KR" sz="1050"/>
          </a:p>
          <a:p>
            <a:pPr algn="l">
              <a:lnSpc>
                <a:spcPts val="1365"/>
              </a:lnSpc>
            </a:pPr>
            <a:r>
              <a:rPr lang="ko-KR" sz="1050" b="0">
                <a:solidFill>
                  <a:srgbClr val="142536"/>
                </a:solidFill>
                <a:latin typeface="Menlo"/>
                <a:ea typeface="Malgun Gothic"/>
                <a:cs typeface="Arial"/>
              </a:rPr>
              <a:t xml:space="preserve">        if key(left[i]) &lt;= key(right[j]):   # &lt;=  → 안정 정렬의 핵심</a:t>
            </a:r>
            <a:endParaRPr lang="ko-KR" sz="1050"/>
          </a:p>
          <a:p>
            <a:pPr algn="l">
              <a:lnSpc>
                <a:spcPts val="1365"/>
              </a:lnSpc>
            </a:pPr>
            <a:r>
              <a:rPr lang="ko-KR" sz="1050" b="0">
                <a:solidFill>
                  <a:srgbClr val="142536"/>
                </a:solidFill>
                <a:latin typeface="Menlo"/>
                <a:ea typeface="Malgun Gothic"/>
                <a:cs typeface="Arial"/>
              </a:rPr>
              <a:t xml:space="preserve">            merged.append(left[i]); i += 1</a:t>
            </a:r>
            <a:endParaRPr lang="ko-KR" sz="1050"/>
          </a:p>
          <a:p>
            <a:pPr algn="l">
              <a:lnSpc>
                <a:spcPts val="1365"/>
              </a:lnSpc>
            </a:pPr>
            <a:r>
              <a:rPr lang="ko-KR" sz="1050" b="0">
                <a:solidFill>
                  <a:srgbClr val="142536"/>
                </a:solidFill>
                <a:latin typeface="Menlo"/>
                <a:ea typeface="Malgun Gothic"/>
                <a:cs typeface="Arial"/>
              </a:rPr>
              <a:t xml:space="preserve">        else:</a:t>
            </a:r>
            <a:endParaRPr lang="ko-KR" sz="1050"/>
          </a:p>
        </p:txBody>
      </p:sp>
      <p:sp>
        <p:nvSpPr>
          <p:cNvPr id="27" name="Text 27"/>
          <p:cNvSpPr txBox="1"/>
          <p:nvPr/>
        </p:nvSpPr>
        <p:spPr>
          <a:xfrm>
            <a:off x="4508500" y="4710430"/>
            <a:ext cx="7175500" cy="706120"/>
          </a:xfrm>
          <a:prstGeom prst="rect">
            <a:avLst/>
          </a:prstGeom>
          <a:noFill/>
          <a:ln>
            <a:noFill/>
          </a:ln>
        </p:spPr>
        <p:txBody>
          <a:bodyPr wrap="square" lIns="0" tIns="0" rIns="0" bIns="0" anchor="t">
            <a:noAutofit/>
          </a:bodyPr>
          <a:lstStyle/>
          <a:p>
            <a:pPr algn="l">
              <a:lnSpc>
                <a:spcPts val="1365"/>
              </a:lnSpc>
            </a:pPr>
            <a:r>
              <a:rPr lang="ko-KR" sz="1050" b="0">
                <a:solidFill>
                  <a:srgbClr val="142536"/>
                </a:solidFill>
                <a:latin typeface="Menlo"/>
                <a:ea typeface="Malgun Gothic"/>
                <a:cs typeface="Arial"/>
              </a:rPr>
              <a:t xml:space="preserve">            merged.append(right[j]); j += 1</a:t>
            </a:r>
            <a:endParaRPr lang="ko-KR" sz="1050"/>
          </a:p>
          <a:p>
            <a:pPr algn="l">
              <a:lnSpc>
                <a:spcPts val="1365"/>
              </a:lnSpc>
            </a:pPr>
            <a:r>
              <a:rPr lang="ko-KR" sz="1050" b="0">
                <a:solidFill>
                  <a:srgbClr val="142536"/>
                </a:solidFill>
                <a:latin typeface="Menlo"/>
                <a:ea typeface="Malgun Gothic"/>
                <a:cs typeface="Arial"/>
              </a:rPr>
              <a:t xml:space="preserve">    merged.extend(left[i:])</a:t>
            </a:r>
            <a:endParaRPr lang="ko-KR" sz="1050"/>
          </a:p>
          <a:p>
            <a:pPr algn="l">
              <a:lnSpc>
                <a:spcPts val="1365"/>
              </a:lnSpc>
            </a:pPr>
            <a:r>
              <a:rPr lang="ko-KR" sz="1050" b="0">
                <a:solidFill>
                  <a:srgbClr val="142536"/>
                </a:solidFill>
                <a:latin typeface="Menlo"/>
                <a:ea typeface="Malgun Gothic"/>
                <a:cs typeface="Arial"/>
              </a:rPr>
              <a:t xml:space="preserve">    merged.extend(right[j:])</a:t>
            </a:r>
            <a:endParaRPr lang="ko-KR" sz="1050"/>
          </a:p>
          <a:p>
            <a:pPr algn="l">
              <a:lnSpc>
                <a:spcPts val="1365"/>
              </a:lnSpc>
            </a:pPr>
            <a:r>
              <a:rPr lang="ko-KR" sz="1050" b="0">
                <a:solidFill>
                  <a:srgbClr val="142536"/>
                </a:solidFill>
                <a:latin typeface="Menlo"/>
                <a:ea typeface="Malgun Gothic"/>
                <a:cs typeface="Arial"/>
              </a:rPr>
              <a:t xml:space="preserve">    return merged</a:t>
            </a:r>
            <a:endParaRPr lang="ko-KR" sz="1050"/>
          </a:p>
        </p:txBody>
      </p:sp>
      <p:sp>
        <p:nvSpPr>
          <p:cNvPr id="28" name="Text 28"/>
          <p:cNvSpPr txBox="1"/>
          <p:nvPr/>
        </p:nvSpPr>
        <p:spPr>
          <a:xfrm>
            <a:off x="4508500" y="5467350"/>
            <a:ext cx="7175500" cy="532765"/>
          </a:xfrm>
          <a:prstGeom prst="rect">
            <a:avLst/>
          </a:prstGeom>
          <a:noFill/>
          <a:ln>
            <a:noFill/>
          </a:ln>
        </p:spPr>
        <p:txBody>
          <a:bodyPr wrap="square" lIns="0" tIns="0" rIns="0" bIns="0" anchor="t">
            <a:noAutofit/>
          </a:bodyPr>
          <a:lstStyle/>
          <a:p>
            <a:pPr algn="l">
              <a:lnSpc>
                <a:spcPts val="1365"/>
              </a:lnSpc>
            </a:pPr>
            <a:r>
              <a:rPr lang="ko-KR" sz="1050" b="0">
                <a:solidFill>
                  <a:srgbClr val="142536"/>
                </a:solidFill>
                <a:latin typeface="Arial"/>
                <a:ea typeface="Malgun Gothic"/>
                <a:cs typeface="Arial"/>
              </a:rPr>
              <a:t xml:space="preserve">표준 sorted와 list.sort를 사용하는 것은 금지되어 있습니다. key 함수는 비교할 값을 꺼내는 도구입니다. date에서는 timestamp, author</a:t>
            </a:r>
            <a:endParaRPr lang="ko-KR" sz="1050"/>
          </a:p>
          <a:p>
            <a:pPr algn="l">
              <a:lnSpc>
                <a:spcPts val="1365"/>
              </a:lnSpc>
            </a:pPr>
            <a:r>
              <a:rPr lang="ko-KR" sz="1050" b="0">
                <a:solidFill>
                  <a:srgbClr val="142536"/>
                </a:solidFill>
                <a:latin typeface="Arial"/>
                <a:ea typeface="Malgun Gothic"/>
                <a:cs typeface="Arial"/>
              </a:rPr>
              <a:t xml:space="preserve">에서는 author를 꺼냅니다. 일반적인 병합 정렬은 임시 배열 공간 O(n)을 사용합니다. 퀵 정렬이 언제나 나쁜 것은 아니며, 이 과제에서는 최</a:t>
            </a:r>
            <a:endParaRPr lang="ko-KR" sz="1050"/>
          </a:p>
          <a:p>
            <a:pPr algn="l">
              <a:lnSpc>
                <a:spcPts val="1365"/>
              </a:lnSpc>
            </a:pPr>
            <a:r>
              <a:rPr lang="ko-KR" sz="1050" b="0">
                <a:solidFill>
                  <a:srgbClr val="142536"/>
                </a:solidFill>
                <a:latin typeface="Arial"/>
                <a:ea typeface="Malgun Gothic"/>
                <a:cs typeface="Arial"/>
              </a:rPr>
              <a:t xml:space="preserve">악 시간과 안정성이 설명하기 쉬운 병합 정렬을 선택했습니다.</a:t>
            </a:r>
            <a:endParaRPr lang="ko-KR" sz="1050"/>
          </a:p>
        </p:txBody>
      </p:sp>
      <p:sp>
        <p:nvSpPr>
          <p:cNvPr id="29" name="Text 29"/>
          <p:cNvSpPr txBox="1"/>
          <p:nvPr/>
        </p:nvSpPr>
        <p:spPr>
          <a:xfrm>
            <a:off x="508000" y="6299200"/>
            <a:ext cx="11176000" cy="22860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반으로 나누고, 작은 값부터 합칩니다. 날짜·작성자는 비교 키만 바꿉니다.</a:t>
            </a:r>
            <a:endParaRPr lang="ko-KR" sz="1250"/>
          </a:p>
        </p:txBody>
      </p:sp>
      <p:sp>
        <p:nvSpPr>
          <p:cNvPr id="30" name="Text 30"/>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mini_git/sorting.py: merge_sort(), _merge() · 평가질문_설명자료.md</a:t>
            </a:r>
            <a:endParaRPr lang="ko-KR" sz="1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O(n log n)과 안정 정렬을 쉬운 말로">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EXPLAIN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19 / 26</a:t>
            </a:r>
            <a:endParaRPr lang="ko-KR" sz="1250"/>
          </a:p>
        </p:txBody>
      </p:sp>
      <p:sp>
        <p:nvSpPr>
          <p:cNvPr id="5" name="Text 5"/>
          <p:cNvSpPr txBox="1"/>
          <p:nvPr/>
        </p:nvSpPr>
        <p:spPr>
          <a:xfrm>
            <a:off x="508000" y="793750"/>
            <a:ext cx="11176000" cy="635000"/>
          </a:xfrm>
          <a:prstGeom prst="rect">
            <a:avLst/>
          </a:prstGeom>
          <a:noFill/>
          <a:ln>
            <a:noFill/>
          </a:ln>
        </p:spPr>
        <p:txBody>
          <a:bodyPr wrap="square" lIns="0" tIns="0" rIns="0" bIns="0" anchor="t">
            <a:noAutofit/>
          </a:bodyPr>
          <a:lstStyle/>
          <a:p>
            <a:pPr algn="l">
              <a:lnSpc>
                <a:spcPts val="3900"/>
              </a:lnSpc>
            </a:pPr>
            <a:r>
              <a:rPr lang="ko-KR" sz="3000" b="1">
                <a:solidFill>
                  <a:srgbClr val="142536"/>
                </a:solidFill>
                <a:latin typeface="Arial"/>
                <a:ea typeface="Malgun Gothic"/>
                <a:cs typeface="Arial"/>
              </a:rPr>
              <a:t xml:space="preserve">O(n log n)과 안정 정렬을 쉬운 말로</a:t>
            </a:r>
            <a:endParaRPr lang="ko-KR" sz="3000"/>
          </a:p>
        </p:txBody>
      </p:sp>
      <p:sp>
        <p:nvSpPr>
          <p:cNvPr id="6" name="Text 6"/>
          <p:cNvSpPr txBox="1"/>
          <p:nvPr/>
        </p:nvSpPr>
        <p:spPr>
          <a:xfrm>
            <a:off x="571500" y="1492250"/>
            <a:ext cx="3683000" cy="24130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핵심 · 그림 · 실행</a:t>
            </a:r>
            <a:endParaRPr lang="ko-KR" sz="1300"/>
          </a:p>
        </p:txBody>
      </p:sp>
      <p:sp>
        <p:nvSpPr>
          <p:cNvPr id="7" name="Text 7"/>
          <p:cNvSpPr txBox="1"/>
          <p:nvPr/>
        </p:nvSpPr>
        <p:spPr>
          <a:xfrm>
            <a:off x="4508500" y="1492250"/>
            <a:ext cx="7175500" cy="24130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상세 설명 · 코드 · 문답 전체</a:t>
            </a:r>
            <a:endParaRPr lang="ko-KR" sz="1300"/>
          </a:p>
        </p:txBody>
      </p:sp>
      <p:sp>
        <p:nvSpPr>
          <p:cNvPr id="8" name="Shape 8"/>
          <p:cNvSpPr/>
          <p:nvPr/>
        </p:nvSpPr>
        <p:spPr>
          <a:xfrm>
            <a:off x="4349750" y="1778000"/>
            <a:ext cx="12700" cy="4381500"/>
          </a:xfrm>
          <a:prstGeom prst="rect">
            <a:avLst/>
          </a:prstGeom>
          <a:solidFill>
            <a:srgbClr val="D7DFDB"/>
          </a:solidFill>
          <a:ln>
            <a:noFill/>
          </a:ln>
        </p:spPr>
      </p:sp>
      <p:sp>
        <p:nvSpPr>
          <p:cNvPr id="9" name="Text 9"/>
          <p:cNvSpPr txBox="1"/>
          <p:nvPr/>
        </p:nvSpPr>
        <p:spPr>
          <a:xfrm>
            <a:off x="571500" y="1809750"/>
            <a:ext cx="3683000" cy="243840"/>
          </a:xfrm>
          <a:prstGeom prst="rect">
            <a:avLst/>
          </a:prstGeom>
          <a:noFill/>
          <a:ln>
            <a:noFill/>
          </a:ln>
        </p:spPr>
        <p:txBody>
          <a:bodyPr wrap="square" lIns="0" tIns="0" rIns="0" bIns="0" anchor="t">
            <a:noAutofit/>
          </a:bodyPr>
          <a:lstStyle/>
          <a:p>
            <a:pPr algn="l">
              <a:lnSpc>
                <a:spcPts val="1820"/>
              </a:lnSpc>
            </a:pPr>
            <a:r>
              <a:rPr lang="ko-KR" sz="1400" b="1">
                <a:solidFill>
                  <a:srgbClr val="168B82"/>
                </a:solidFill>
                <a:latin typeface="Arial"/>
                <a:ea typeface="Malgun Gothic"/>
                <a:cs typeface="Arial"/>
              </a:rPr>
              <a:t xml:space="preserve">작업량</a:t>
            </a:r>
            <a:endParaRPr lang="ko-KR" sz="1400"/>
          </a:p>
        </p:txBody>
      </p:sp>
      <p:sp>
        <p:nvSpPr>
          <p:cNvPr id="10" name="Text 10"/>
          <p:cNvSpPr txBox="1"/>
          <p:nvPr/>
        </p:nvSpPr>
        <p:spPr>
          <a:xfrm>
            <a:off x="571500" y="2104390"/>
            <a:ext cx="3683000" cy="47498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Arial"/>
                <a:ea typeface="Malgun Gothic"/>
                <a:cs typeface="Arial"/>
              </a:rPr>
              <a:t xml:space="preserve">n = 데이터 개수 8개를 나누면 8 → 4 → 2 → 1 각 병합</a:t>
            </a:r>
            <a:endParaRPr lang="ko-KR" sz="1400"/>
          </a:p>
          <a:p>
            <a:pPr algn="l">
              <a:lnSpc>
                <a:spcPts val="1820"/>
              </a:lnSpc>
            </a:pPr>
            <a:r>
              <a:rPr lang="ko-KR" sz="1400" b="0">
                <a:solidFill>
                  <a:srgbClr val="142536"/>
                </a:solidFill>
                <a:latin typeface="Arial"/>
                <a:ea typeface="Malgun Gothic"/>
                <a:cs typeface="Arial"/>
              </a:rPr>
              <a:t xml:space="preserve">층의 전체 작업은 약 n 평균·최악 시간: O(n log n)</a:t>
            </a:r>
            <a:endParaRPr lang="ko-KR" sz="1400"/>
          </a:p>
        </p:txBody>
      </p:sp>
      <p:sp>
        <p:nvSpPr>
          <p:cNvPr id="11" name="Text 11"/>
          <p:cNvSpPr txBox="1"/>
          <p:nvPr/>
        </p:nvSpPr>
        <p:spPr>
          <a:xfrm>
            <a:off x="571500" y="2630170"/>
            <a:ext cx="3683000" cy="243840"/>
          </a:xfrm>
          <a:prstGeom prst="rect">
            <a:avLst/>
          </a:prstGeom>
          <a:noFill/>
          <a:ln>
            <a:noFill/>
          </a:ln>
        </p:spPr>
        <p:txBody>
          <a:bodyPr wrap="square" lIns="0" tIns="0" rIns="0" bIns="0" anchor="t">
            <a:noAutofit/>
          </a:bodyPr>
          <a:lstStyle/>
          <a:p>
            <a:pPr algn="l">
              <a:lnSpc>
                <a:spcPts val="1820"/>
              </a:lnSpc>
            </a:pPr>
            <a:r>
              <a:rPr lang="ko-KR" sz="1400" b="1">
                <a:solidFill>
                  <a:srgbClr val="168B82"/>
                </a:solidFill>
                <a:latin typeface="Arial"/>
                <a:ea typeface="Malgun Gothic"/>
                <a:cs typeface="Arial"/>
              </a:rPr>
              <a:t xml:space="preserve">안정 정렬</a:t>
            </a:r>
            <a:endParaRPr lang="ko-KR" sz="1400"/>
          </a:p>
        </p:txBody>
      </p:sp>
      <p:sp>
        <p:nvSpPr>
          <p:cNvPr id="12" name="Text 12"/>
          <p:cNvSpPr txBox="1"/>
          <p:nvPr/>
        </p:nvSpPr>
        <p:spPr>
          <a:xfrm>
            <a:off x="571500" y="2924810"/>
            <a:ext cx="3683000" cy="70612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Arial"/>
                <a:ea typeface="Malgun Gothic"/>
                <a:cs typeface="Arial"/>
              </a:rPr>
              <a:t xml:space="preserve">정렬 전: Bob, Alice①, Alice② 정렬 후: Alice①, Alice</a:t>
            </a:r>
            <a:endParaRPr lang="ko-KR" sz="1400"/>
          </a:p>
          <a:p>
            <a:pPr algn="l">
              <a:lnSpc>
                <a:spcPts val="1820"/>
              </a:lnSpc>
            </a:pPr>
            <a:r>
              <a:rPr lang="ko-KR" sz="1400" b="0">
                <a:solidFill>
                  <a:srgbClr val="142536"/>
                </a:solidFill>
                <a:latin typeface="Arial"/>
                <a:ea typeface="Malgun Gothic"/>
                <a:cs typeface="Arial"/>
              </a:rPr>
              <a:t xml:space="preserve">②, Bob 키가 같으면 왼쪽을 먼저 채택: &lt;= ①·②는 설</a:t>
            </a:r>
            <a:endParaRPr lang="ko-KR" sz="1400"/>
          </a:p>
          <a:p>
            <a:pPr algn="l">
              <a:lnSpc>
                <a:spcPts val="1820"/>
              </a:lnSpc>
            </a:pPr>
            <a:r>
              <a:rPr lang="ko-KR" sz="1400" b="0">
                <a:solidFill>
                  <a:srgbClr val="142536"/>
                </a:solidFill>
                <a:latin typeface="Arial"/>
                <a:ea typeface="Malgun Gothic"/>
                <a:cs typeface="Arial"/>
              </a:rPr>
              <a:t xml:space="preserve">명용 순서 표식</a:t>
            </a:r>
            <a:endParaRPr lang="ko-KR" sz="1400"/>
          </a:p>
        </p:txBody>
      </p:sp>
      <p:sp>
        <p:nvSpPr>
          <p:cNvPr id="13" name="Text 13"/>
          <p:cNvSpPr txBox="1"/>
          <p:nvPr/>
        </p:nvSpPr>
        <p:spPr>
          <a:xfrm>
            <a:off x="571500" y="3681730"/>
            <a:ext cx="3683000" cy="243840"/>
          </a:xfrm>
          <a:prstGeom prst="rect">
            <a:avLst/>
          </a:prstGeom>
          <a:noFill/>
          <a:ln>
            <a:noFill/>
          </a:ln>
        </p:spPr>
        <p:txBody>
          <a:bodyPr wrap="square" lIns="0" tIns="0" rIns="0" bIns="0" anchor="t">
            <a:noAutofit/>
          </a:bodyPr>
          <a:lstStyle/>
          <a:p>
            <a:pPr algn="l">
              <a:lnSpc>
                <a:spcPts val="1820"/>
              </a:lnSpc>
            </a:pPr>
            <a:r>
              <a:rPr lang="ko-KR" sz="1400" b="1">
                <a:solidFill>
                  <a:srgbClr val="168B82"/>
                </a:solidFill>
                <a:latin typeface="Arial"/>
                <a:ea typeface="Malgun Gothic"/>
                <a:cs typeface="Arial"/>
              </a:rPr>
              <a:t xml:space="preserve">실행 확인 · 일반 터미널 · b3-2 폴더</a:t>
            </a:r>
            <a:endParaRPr lang="ko-KR" sz="1400"/>
          </a:p>
        </p:txBody>
      </p:sp>
      <p:sp>
        <p:nvSpPr>
          <p:cNvPr id="14" name="Text 14"/>
          <p:cNvSpPr txBox="1"/>
          <p:nvPr/>
        </p:nvSpPr>
        <p:spPr>
          <a:xfrm>
            <a:off x="571500" y="3976370"/>
            <a:ext cx="3683000" cy="47498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Menlo"/>
                <a:ea typeface="Malgun Gothic"/>
                <a:cs typeface="Arial"/>
              </a:rPr>
              <a:t xml:space="preserve">python3 -B -m unittest discover -s</a:t>
            </a:r>
            <a:endParaRPr lang="ko-KR" sz="1400"/>
          </a:p>
          <a:p>
            <a:pPr algn="l">
              <a:lnSpc>
                <a:spcPts val="1820"/>
              </a:lnSpc>
            </a:pPr>
            <a:r>
              <a:rPr lang="ko-KR" sz="1400" b="0">
                <a:solidFill>
                  <a:srgbClr val="142536"/>
                </a:solidFill>
                <a:latin typeface="Menlo"/>
                <a:ea typeface="Malgun Gothic"/>
                <a:cs typeface="Arial"/>
              </a:rPr>
              <a:t xml:space="preserve">tests -v -k sort_keys</a:t>
            </a:r>
            <a:endParaRPr lang="ko-KR" sz="1400"/>
          </a:p>
        </p:txBody>
      </p:sp>
      <p:sp>
        <p:nvSpPr>
          <p:cNvPr id="15" name="Text 15"/>
          <p:cNvSpPr txBox="1"/>
          <p:nvPr/>
        </p:nvSpPr>
        <p:spPr>
          <a:xfrm>
            <a:off x="571500" y="4502150"/>
            <a:ext cx="3683000" cy="47498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Arial"/>
                <a:ea typeface="Malgun Gothic"/>
                <a:cs typeface="Arial"/>
              </a:rPr>
              <a:t xml:space="preserve">확인: 정렬 키·안정성·원소 보존·원본 불변 확인 · 마지</a:t>
            </a:r>
            <a:endParaRPr lang="ko-KR" sz="1400"/>
          </a:p>
          <a:p>
            <a:pPr algn="l">
              <a:lnSpc>
                <a:spcPts val="1820"/>
              </a:lnSpc>
            </a:pPr>
            <a:r>
              <a:rPr lang="ko-KR" sz="1400" b="0">
                <a:solidFill>
                  <a:srgbClr val="142536"/>
                </a:solidFill>
                <a:latin typeface="Arial"/>
                <a:ea typeface="Malgun Gothic"/>
                <a:cs typeface="Arial"/>
              </a:rPr>
              <a:t xml:space="preserve">막 OK 확인</a:t>
            </a:r>
            <a:endParaRPr lang="ko-KR" sz="1400"/>
          </a:p>
        </p:txBody>
      </p:sp>
      <p:sp>
        <p:nvSpPr>
          <p:cNvPr id="16" name="Text 16"/>
          <p:cNvSpPr txBox="1"/>
          <p:nvPr/>
        </p:nvSpPr>
        <p:spPr>
          <a:xfrm>
            <a:off x="4508500" y="1809750"/>
            <a:ext cx="3498850" cy="1911350"/>
          </a:xfrm>
          <a:prstGeom prst="rect">
            <a:avLst/>
          </a:prstGeom>
          <a:noFill/>
          <a:ln>
            <a:noFill/>
          </a:ln>
        </p:spPr>
        <p:txBody>
          <a:bodyPr wrap="square" lIns="0" tIns="0" rIns="0" bIns="0" anchor="t">
            <a:noAutofit/>
          </a:bodyPr>
          <a:lstStyle/>
          <a:p>
            <a:pPr algn="l">
              <a:lnSpc>
                <a:spcPts val="1495"/>
              </a:lnSpc>
            </a:pPr>
            <a:r>
              <a:rPr lang="ko-KR" sz="1150" b="0">
                <a:solidFill>
                  <a:srgbClr val="142536"/>
                </a:solidFill>
                <a:latin typeface="Arial"/>
                <a:ea typeface="Malgun Gothic"/>
                <a:cs typeface="Arial"/>
              </a:rPr>
              <a:t xml:space="preserve">시간복잡도: 리스트를 절반씩 나누는 분할 과정은 입력이 어떻</a:t>
            </a:r>
            <a:endParaRPr lang="ko-KR" sz="1150"/>
          </a:p>
          <a:p>
            <a:pPr algn="l">
              <a:lnSpc>
                <a:spcPts val="1495"/>
              </a:lnSpc>
            </a:pPr>
            <a:r>
              <a:rPr lang="ko-KR" sz="1150" b="0">
                <a:solidFill>
                  <a:srgbClr val="142536"/>
                </a:solidFill>
                <a:latin typeface="Arial"/>
                <a:ea typeface="Malgun Gothic"/>
                <a:cs typeface="Arial"/>
              </a:rPr>
              <a:t xml:space="preserve">게 배치돼 있든 항상 정확히 반으로 쪼개지므로, 재귀 깊이가 l</a:t>
            </a:r>
            <a:endParaRPr lang="ko-KR" sz="1150"/>
          </a:p>
          <a:p>
            <a:pPr algn="l">
              <a:lnSpc>
                <a:spcPts val="1495"/>
              </a:lnSpc>
            </a:pPr>
            <a:r>
              <a:rPr lang="ko-KR" sz="1150" b="0">
                <a:solidFill>
                  <a:srgbClr val="142536"/>
                </a:solidFill>
                <a:latin typeface="Arial"/>
                <a:ea typeface="Malgun Gothic"/>
                <a:cs typeface="Arial"/>
              </a:rPr>
              <a:t xml:space="preserve">og₂n 입니다. 각 깊이 층에서 이루어지는 병합 작업의 총량은</a:t>
            </a:r>
            <a:endParaRPr lang="ko-KR" sz="1150"/>
          </a:p>
          <a:p>
            <a:pPr algn="l">
              <a:lnSpc>
                <a:spcPts val="1495"/>
              </a:lnSpc>
            </a:pPr>
            <a:r>
              <a:rPr lang="ko-KR" sz="1150" b="0">
                <a:solidFill>
                  <a:srgbClr val="142536"/>
                </a:solidFill>
                <a:latin typeface="Arial"/>
                <a:ea typeface="Malgun Gothic"/>
                <a:cs typeface="Arial"/>
              </a:rPr>
              <a:t xml:space="preserve">그 층에 있는 원소 전체 개수인 n입니다. 따라서 전체 시간은</a:t>
            </a:r>
            <a:endParaRPr lang="ko-KR" sz="1150"/>
          </a:p>
          <a:p>
            <a:pPr algn="l">
              <a:lnSpc>
                <a:spcPts val="1495"/>
              </a:lnSpc>
            </a:pPr>
            <a:r>
              <a:rPr lang="ko-KR" sz="1150" b="0">
                <a:solidFill>
                  <a:srgbClr val="142536"/>
                </a:solidFill>
                <a:latin typeface="Arial"/>
                <a:ea typeface="Malgun Gothic"/>
                <a:cs typeface="Arial"/>
              </a:rPr>
              <a:t xml:space="preserve">O(n) × O(l og n) = O(n log n)이며, 이는 입력의 초기 배치와</a:t>
            </a:r>
            <a:endParaRPr lang="ko-KR" sz="1150"/>
          </a:p>
          <a:p>
            <a:pPr algn="l">
              <a:lnSpc>
                <a:spcPts val="1495"/>
              </a:lnSpc>
            </a:pPr>
            <a:r>
              <a:rPr lang="ko-KR" sz="1150" b="0">
                <a:solidFill>
                  <a:srgbClr val="142536"/>
                </a:solidFill>
                <a:latin typeface="Arial"/>
                <a:ea typeface="Malgun Gothic"/>
                <a:cs typeface="Arial"/>
              </a:rPr>
              <a:t xml:space="preserve">무관하게 항상 성립하므로 평균과 최악이 동일하게 O(n log n)</a:t>
            </a:r>
            <a:endParaRPr lang="ko-KR" sz="1150"/>
          </a:p>
          <a:p>
            <a:pPr algn="l">
              <a:lnSpc>
                <a:spcPts val="1495"/>
              </a:lnSpc>
            </a:pPr>
            <a:r>
              <a:rPr lang="ko-KR" sz="1150" b="0">
                <a:solidFill>
                  <a:srgbClr val="142536"/>
                </a:solidFill>
                <a:latin typeface="Arial"/>
                <a:ea typeface="Malgun Gothic"/>
                <a:cs typeface="Arial"/>
              </a:rPr>
              <a:t xml:space="preserve">입니다. (참고로 퀵 정렬은 평균은 O(n log n)이지만, 피벗을</a:t>
            </a:r>
            <a:endParaRPr lang="ko-KR" sz="1150"/>
          </a:p>
          <a:p>
            <a:pPr algn="l">
              <a:lnSpc>
                <a:spcPts val="1495"/>
              </a:lnSpc>
            </a:pPr>
            <a:r>
              <a:rPr lang="ko-KR" sz="1150" b="0">
                <a:solidFill>
                  <a:srgbClr val="142536"/>
                </a:solidFill>
                <a:latin typeface="Arial"/>
                <a:ea typeface="Malgun Gothic"/>
                <a:cs typeface="Arial"/>
              </a:rPr>
              <a:t xml:space="preserve">잘못 고르면(예: 이미 정렬된 배열에서 항상 첫 원소를 피벗으</a:t>
            </a:r>
            <a:endParaRPr lang="ko-KR" sz="1150"/>
          </a:p>
          <a:p>
            <a:pPr algn="l">
              <a:lnSpc>
                <a:spcPts val="1495"/>
              </a:lnSpc>
            </a:pPr>
            <a:r>
              <a:rPr lang="ko-KR" sz="1150" b="0">
                <a:solidFill>
                  <a:srgbClr val="142536"/>
                </a:solidFill>
                <a:latin typeface="Arial"/>
                <a:ea typeface="Malgun Gothic"/>
                <a:cs typeface="Arial"/>
              </a:rPr>
              <a:t xml:space="preserve">로 고르는 구현) 최악의 경우 O(n²)까지 나빠질 수 있습니다 —</a:t>
            </a:r>
            <a:endParaRPr lang="ko-KR" sz="1150"/>
          </a:p>
          <a:p>
            <a:pPr algn="l">
              <a:lnSpc>
                <a:spcPts val="1495"/>
              </a:lnSpc>
            </a:pPr>
            <a:r>
              <a:rPr lang="ko-KR" sz="1150" b="0">
                <a:solidFill>
                  <a:srgbClr val="142536"/>
                </a:solidFill>
                <a:latin typeface="Arial"/>
                <a:ea typeface="Malgun Gothic"/>
                <a:cs typeface="Arial"/>
              </a:rPr>
              <a:t xml:space="preserve">병합 정렬은 이런 입력 의존성이 없습니다.)</a:t>
            </a:r>
            <a:endParaRPr lang="ko-KR" sz="1150"/>
          </a:p>
        </p:txBody>
      </p:sp>
      <p:sp>
        <p:nvSpPr>
          <p:cNvPr id="17" name="Text 17"/>
          <p:cNvSpPr txBox="1"/>
          <p:nvPr/>
        </p:nvSpPr>
        <p:spPr>
          <a:xfrm>
            <a:off x="4508500" y="3771900"/>
            <a:ext cx="3498850" cy="1151890"/>
          </a:xfrm>
          <a:prstGeom prst="rect">
            <a:avLst/>
          </a:prstGeom>
          <a:noFill/>
          <a:ln>
            <a:noFill/>
          </a:ln>
        </p:spPr>
        <p:txBody>
          <a:bodyPr wrap="square" lIns="0" tIns="0" rIns="0" bIns="0" anchor="t">
            <a:noAutofit/>
          </a:bodyPr>
          <a:lstStyle/>
          <a:p>
            <a:pPr algn="l">
              <a:lnSpc>
                <a:spcPts val="1495"/>
              </a:lnSpc>
            </a:pPr>
            <a:r>
              <a:rPr lang="ko-KR" sz="1150" b="0">
                <a:solidFill>
                  <a:srgbClr val="142536"/>
                </a:solidFill>
                <a:latin typeface="Arial"/>
                <a:ea typeface="Malgun Gothic"/>
                <a:cs typeface="Arial"/>
              </a:rPr>
              <a:t xml:space="preserve">안정 정렬 여부: _merge에서 두 값을 비교할 때 &lt;가 아니라 &lt;</a:t>
            </a:r>
            <a:endParaRPr lang="ko-KR" sz="1150"/>
          </a:p>
          <a:p>
            <a:pPr algn="l">
              <a:lnSpc>
                <a:spcPts val="1495"/>
              </a:lnSpc>
            </a:pPr>
            <a:r>
              <a:rPr lang="ko-KR" sz="1150" b="0">
                <a:solidFill>
                  <a:srgbClr val="142536"/>
                </a:solidFill>
                <a:latin typeface="Arial"/>
                <a:ea typeface="Malgun Gothic"/>
                <a:cs typeface="Arial"/>
              </a:rPr>
              <a:t xml:space="preserve">=를 씁니다. 즉 두 값이 같을 때도 "왼쪽 그룹(원래 앞쪽에 있</a:t>
            </a:r>
            <a:endParaRPr lang="ko-KR" sz="1150"/>
          </a:p>
          <a:p>
            <a:pPr algn="l">
              <a:lnSpc>
                <a:spcPts val="1495"/>
              </a:lnSpc>
            </a:pPr>
            <a:r>
              <a:rPr lang="ko-KR" sz="1150" b="0">
                <a:solidFill>
                  <a:srgbClr val="142536"/>
                </a:solidFill>
                <a:latin typeface="Arial"/>
                <a:ea typeface="Malgun Gothic"/>
                <a:cs typeface="Arial"/>
              </a:rPr>
              <a:t xml:space="preserve">던 원 소들)"을 먼저 채택합니다. 그 결과, 정렬 기준 값이 동일</a:t>
            </a:r>
            <a:endParaRPr lang="ko-KR" sz="1150"/>
          </a:p>
          <a:p>
            <a:pPr algn="l">
              <a:lnSpc>
                <a:spcPts val="1495"/>
              </a:lnSpc>
            </a:pPr>
            <a:r>
              <a:rPr lang="ko-KR" sz="1150" b="0">
                <a:solidFill>
                  <a:srgbClr val="142536"/>
                </a:solidFill>
                <a:latin typeface="Arial"/>
                <a:ea typeface="Malgun Gothic"/>
                <a:cs typeface="Arial"/>
              </a:rPr>
              <a:t xml:space="preserve">한 원소들끼리는 정렬하기 전의 상대적 순서가 정렬 후에도 그</a:t>
            </a:r>
            <a:endParaRPr lang="ko-KR" sz="1150"/>
          </a:p>
          <a:p>
            <a:pPr algn="l">
              <a:lnSpc>
                <a:spcPts val="1495"/>
              </a:lnSpc>
            </a:pPr>
            <a:r>
              <a:rPr lang="ko-KR" sz="1150" b="0">
                <a:solidFill>
                  <a:srgbClr val="142536"/>
                </a:solidFill>
                <a:latin typeface="Arial"/>
                <a:ea typeface="Malgun Gothic"/>
                <a:cs typeface="Arial"/>
              </a:rPr>
              <a:t xml:space="preserve">대로 유지 됩니다 — 이것이 안정 정렬(Stable Sort)의 정의입</a:t>
            </a:r>
            <a:endParaRPr lang="ko-KR" sz="1150"/>
          </a:p>
          <a:p>
            <a:pPr algn="l">
              <a:lnSpc>
                <a:spcPts val="1495"/>
              </a:lnSpc>
            </a:pPr>
            <a:r>
              <a:rPr lang="ko-KR" sz="1150" b="0">
                <a:solidFill>
                  <a:srgbClr val="142536"/>
                </a:solidFill>
                <a:latin typeface="Arial"/>
                <a:ea typeface="Malgun Gothic"/>
                <a:cs typeface="Arial"/>
              </a:rPr>
              <a:t xml:space="preserve">니다.</a:t>
            </a:r>
            <a:endParaRPr lang="ko-KR" sz="1150"/>
          </a:p>
        </p:txBody>
      </p:sp>
      <p:sp>
        <p:nvSpPr>
          <p:cNvPr id="18" name="Text 18"/>
          <p:cNvSpPr txBox="1"/>
          <p:nvPr/>
        </p:nvSpPr>
        <p:spPr>
          <a:xfrm>
            <a:off x="4508500" y="4974590"/>
            <a:ext cx="3498850" cy="962025"/>
          </a:xfrm>
          <a:prstGeom prst="rect">
            <a:avLst/>
          </a:prstGeom>
          <a:noFill/>
          <a:ln>
            <a:noFill/>
          </a:ln>
        </p:spPr>
        <p:txBody>
          <a:bodyPr wrap="square" lIns="0" tIns="0" rIns="0" bIns="0" anchor="t">
            <a:noAutofit/>
          </a:bodyPr>
          <a:lstStyle/>
          <a:p>
            <a:pPr algn="l">
              <a:lnSpc>
                <a:spcPts val="1495"/>
              </a:lnSpc>
            </a:pPr>
            <a:r>
              <a:rPr lang="ko-KR" sz="1150" b="0">
                <a:solidFill>
                  <a:srgbClr val="142536"/>
                </a:solidFill>
                <a:latin typeface="Arial"/>
                <a:ea typeface="Malgun Gothic"/>
                <a:cs typeface="Arial"/>
              </a:rPr>
              <a:t xml:space="preserve">이게 왜 중요한가: LOG --sort-by=author에서 같은 작성자</a:t>
            </a:r>
            <a:endParaRPr lang="ko-KR" sz="1150"/>
          </a:p>
          <a:p>
            <a:pPr algn="l">
              <a:lnSpc>
                <a:spcPts val="1495"/>
              </a:lnSpc>
            </a:pPr>
            <a:r>
              <a:rPr lang="ko-KR" sz="1150" b="0">
                <a:solidFill>
                  <a:srgbClr val="142536"/>
                </a:solidFill>
                <a:latin typeface="Arial"/>
                <a:ea typeface="Malgun Gothic"/>
                <a:cs typeface="Arial"/>
              </a:rPr>
              <a:t xml:space="preserve">가 커밋을 여러 개 가진 경우, "동률 처리 규칙은 자유"라는 과</a:t>
            </a:r>
            <a:endParaRPr lang="ko-KR" sz="1150"/>
          </a:p>
          <a:p>
            <a:pPr algn="l">
              <a:lnSpc>
                <a:spcPts val="1495"/>
              </a:lnSpc>
            </a:pPr>
            <a:r>
              <a:rPr lang="ko-KR" sz="1150" b="0">
                <a:solidFill>
                  <a:srgbClr val="142536"/>
                </a:solidFill>
                <a:latin typeface="Arial"/>
                <a:ea typeface="Malgun Gothic"/>
                <a:cs typeface="Arial"/>
              </a:rPr>
              <a:t xml:space="preserve">제 조 건 안에서 "원래(위상 정렬) 순서를 유지한다"는 직관적</a:t>
            </a:r>
            <a:endParaRPr lang="ko-KR" sz="1150"/>
          </a:p>
          <a:p>
            <a:pPr algn="l">
              <a:lnSpc>
                <a:spcPts val="1495"/>
              </a:lnSpc>
            </a:pPr>
            <a:r>
              <a:rPr lang="ko-KR" sz="1150" b="0">
                <a:solidFill>
                  <a:srgbClr val="142536"/>
                </a:solidFill>
                <a:latin typeface="Arial"/>
                <a:ea typeface="Malgun Gothic"/>
                <a:cs typeface="Arial"/>
              </a:rPr>
              <a:t xml:space="preserve">이고 재현 가능한 규칙을 별도 코드 없이 안정 정렬의 성질만</a:t>
            </a:r>
            <a:endParaRPr lang="ko-KR" sz="1150"/>
          </a:p>
          <a:p>
            <a:pPr algn="l">
              <a:lnSpc>
                <a:spcPts val="1495"/>
              </a:lnSpc>
            </a:pPr>
            <a:r>
              <a:rPr lang="ko-KR" sz="1150" b="0">
                <a:solidFill>
                  <a:srgbClr val="142536"/>
                </a:solidFill>
                <a:latin typeface="Arial"/>
                <a:ea typeface="Malgun Gothic"/>
                <a:cs typeface="Arial"/>
              </a:rPr>
              <a:t xml:space="preserve">으로 얻을 수 있습니다.</a:t>
            </a:r>
            <a:endParaRPr lang="ko-KR" sz="1150"/>
          </a:p>
        </p:txBody>
      </p:sp>
      <p:sp>
        <p:nvSpPr>
          <p:cNvPr id="19" name="Text 19"/>
          <p:cNvSpPr txBox="1"/>
          <p:nvPr/>
        </p:nvSpPr>
        <p:spPr>
          <a:xfrm>
            <a:off x="8185150" y="1809750"/>
            <a:ext cx="3498850" cy="1151890"/>
          </a:xfrm>
          <a:prstGeom prst="rect">
            <a:avLst/>
          </a:prstGeom>
          <a:noFill/>
          <a:ln>
            <a:noFill/>
          </a:ln>
        </p:spPr>
        <p:txBody>
          <a:bodyPr wrap="square" lIns="0" tIns="0" rIns="0" bIns="0" anchor="t">
            <a:noAutofit/>
          </a:bodyPr>
          <a:lstStyle/>
          <a:p>
            <a:pPr algn="l">
              <a:lnSpc>
                <a:spcPts val="1495"/>
              </a:lnSpc>
            </a:pPr>
            <a:r>
              <a:rPr lang="ko-KR" sz="1150" b="0">
                <a:solidFill>
                  <a:srgbClr val="142536"/>
                </a:solidFill>
                <a:latin typeface="Arial"/>
                <a:ea typeface="Malgun Gothic"/>
                <a:cs typeface="Arial"/>
              </a:rPr>
              <a:t xml:space="preserve">실제 확인: 단위 테스트에서 작성자가 Charlie/Alice/Bob/Alic</a:t>
            </a:r>
            <a:endParaRPr lang="ko-KR" sz="1150"/>
          </a:p>
          <a:p>
            <a:pPr algn="l">
              <a:lnSpc>
                <a:spcPts val="1495"/>
              </a:lnSpc>
            </a:pPr>
            <a:r>
              <a:rPr lang="ko-KR" sz="1150" b="0">
                <a:solidFill>
                  <a:srgbClr val="142536"/>
                </a:solidFill>
                <a:latin typeface="Arial"/>
                <a:ea typeface="Malgun Gothic"/>
                <a:cs typeface="Arial"/>
              </a:rPr>
              <a:t xml:space="preserve">e인 가짜 커밋 4개를 만들어 author 키로 정렬한 결과, 두 Alic</a:t>
            </a:r>
            <a:endParaRPr lang="ko-KR" sz="1150"/>
          </a:p>
          <a:p>
            <a:pPr algn="l">
              <a:lnSpc>
                <a:spcPts val="1495"/>
              </a:lnSpc>
            </a:pPr>
            <a:r>
              <a:rPr lang="ko-KR" sz="1150" b="0">
                <a:solidFill>
                  <a:srgbClr val="142536"/>
                </a:solidFill>
                <a:latin typeface="Arial"/>
                <a:ea typeface="Malgun Gothic"/>
                <a:cs typeface="Arial"/>
              </a:rPr>
              <a:t xml:space="preserve">e 커 밋 중 원본에서 먼저 나온 것이 정렬 후에도 먼저 나옴을</a:t>
            </a:r>
            <a:endParaRPr lang="ko-KR" sz="1150"/>
          </a:p>
          <a:p>
            <a:pPr algn="l">
              <a:lnSpc>
                <a:spcPts val="1495"/>
              </a:lnSpc>
            </a:pPr>
            <a:r>
              <a:rPr lang="ko-KR" sz="1150" b="0">
                <a:solidFill>
                  <a:srgbClr val="142536"/>
                </a:solidFill>
                <a:latin typeface="Arial"/>
                <a:ea typeface="Malgun Gothic"/>
                <a:cs typeface="Arial"/>
              </a:rPr>
              <a:t xml:space="preserve">확인했습니다. 또한 무작위 데이터 1,000개에서 정렬 순서, 원</a:t>
            </a:r>
            <a:endParaRPr lang="ko-KR" sz="1150"/>
          </a:p>
          <a:p>
            <a:pPr algn="l">
              <a:lnSpc>
                <a:spcPts val="1495"/>
              </a:lnSpc>
            </a:pPr>
            <a:r>
              <a:rPr lang="ko-KR" sz="1150" b="0">
                <a:solidFill>
                  <a:srgbClr val="142536"/>
                </a:solidFill>
                <a:latin typeface="Arial"/>
                <a:ea typeface="Malgun Gothic"/>
                <a:cs typeface="Arial"/>
              </a:rPr>
              <a:t xml:space="preserve">소 보존, 원본 불변, 같은 키의 상대 순서 보존을 확인했습니다(</a:t>
            </a:r>
            <a:endParaRPr lang="ko-KR" sz="1150"/>
          </a:p>
          <a:p>
            <a:pPr algn="l">
              <a:lnSpc>
                <a:spcPts val="1495"/>
              </a:lnSpc>
            </a:pPr>
            <a:r>
              <a:rPr lang="ko-KR" sz="1150" b="0">
                <a:solidFill>
                  <a:srgbClr val="142536"/>
                </a:solidFill>
                <a:latin typeface="Arial"/>
                <a:ea typeface="Malgun Gothic"/>
                <a:cs typeface="Arial"/>
              </a:rPr>
              <a:t xml:space="preserve">tests/test_mini_git.py).</a:t>
            </a:r>
            <a:endParaRPr lang="ko-KR" sz="1150"/>
          </a:p>
        </p:txBody>
      </p:sp>
      <p:sp>
        <p:nvSpPr>
          <p:cNvPr id="20" name="Text 20"/>
          <p:cNvSpPr txBox="1"/>
          <p:nvPr/>
        </p:nvSpPr>
        <p:spPr>
          <a:xfrm>
            <a:off x="8185150" y="3012440"/>
            <a:ext cx="3498850" cy="392430"/>
          </a:xfrm>
          <a:prstGeom prst="rect">
            <a:avLst/>
          </a:prstGeom>
          <a:noFill/>
          <a:ln>
            <a:noFill/>
          </a:ln>
        </p:spPr>
        <p:txBody>
          <a:bodyPr wrap="square" lIns="0" tIns="0" rIns="0" bIns="0" anchor="t">
            <a:noAutofit/>
          </a:bodyPr>
          <a:lstStyle/>
          <a:p>
            <a:pPr algn="l">
              <a:lnSpc>
                <a:spcPts val="1495"/>
              </a:lnSpc>
            </a:pPr>
            <a:r>
              <a:rPr lang="ko-KR" sz="1150" b="1">
                <a:solidFill>
                  <a:srgbClr val="168B82"/>
                </a:solidFill>
                <a:latin typeface="Arial"/>
                <a:ea typeface="Malgun Gothic"/>
                <a:cs typeface="Arial"/>
              </a:rPr>
              <a:t xml:space="preserve">Q3. 병합 정렬 대신 퀵 정렬을 선택했다면 무엇이 달라졌을까</a:t>
            </a:r>
            <a:endParaRPr lang="ko-KR" sz="1150"/>
          </a:p>
          <a:p>
            <a:pPr algn="l">
              <a:lnSpc>
                <a:spcPts val="1495"/>
              </a:lnSpc>
            </a:pPr>
            <a:r>
              <a:rPr lang="ko-KR" sz="1150" b="1">
                <a:solidFill>
                  <a:srgbClr val="168B82"/>
                </a:solidFill>
                <a:latin typeface="Arial"/>
                <a:ea typeface="Malgun Gothic"/>
                <a:cs typeface="Arial"/>
              </a:rPr>
              <a:t xml:space="preserve">?</a:t>
            </a:r>
            <a:endParaRPr lang="ko-KR" sz="1150"/>
          </a:p>
        </p:txBody>
      </p:sp>
      <p:sp>
        <p:nvSpPr>
          <p:cNvPr id="21" name="Text 21"/>
          <p:cNvSpPr txBox="1"/>
          <p:nvPr/>
        </p:nvSpPr>
        <p:spPr>
          <a:xfrm>
            <a:off x="8185150" y="3455670"/>
            <a:ext cx="3498850" cy="1151890"/>
          </a:xfrm>
          <a:prstGeom prst="rect">
            <a:avLst/>
          </a:prstGeom>
          <a:noFill/>
          <a:ln>
            <a:noFill/>
          </a:ln>
        </p:spPr>
        <p:txBody>
          <a:bodyPr wrap="square" lIns="0" tIns="0" rIns="0" bIns="0" anchor="t">
            <a:noAutofit/>
          </a:bodyPr>
          <a:lstStyle/>
          <a:p>
            <a:pPr algn="l">
              <a:lnSpc>
                <a:spcPts val="1495"/>
              </a:lnSpc>
            </a:pPr>
            <a:r>
              <a:rPr lang="ko-KR" sz="1150" b="0">
                <a:solidFill>
                  <a:srgbClr val="142536"/>
                </a:solidFill>
                <a:latin typeface="Arial"/>
                <a:ea typeface="Malgun Gothic"/>
                <a:cs typeface="Arial"/>
              </a:rPr>
              <a:t xml:space="preserve">퀵 정렬은 평균 O(n log n)으로 병합 정렬과 같지만, (a) 최악</a:t>
            </a:r>
            <a:endParaRPr lang="ko-KR" sz="1150"/>
          </a:p>
          <a:p>
            <a:pPr algn="l">
              <a:lnSpc>
                <a:spcPts val="1495"/>
              </a:lnSpc>
            </a:pPr>
            <a:r>
              <a:rPr lang="ko-KR" sz="1150" b="0">
                <a:solidFill>
                  <a:srgbClr val="142536"/>
                </a:solidFill>
                <a:latin typeface="Arial"/>
                <a:ea typeface="Malgun Gothic"/>
                <a:cs typeface="Arial"/>
              </a:rPr>
              <a:t xml:space="preserve">의 경우 O(n²)로 나빠질 수 있고 (b) 일반적인 구현은 원소 교</a:t>
            </a:r>
            <a:endParaRPr lang="ko-KR" sz="1150"/>
          </a:p>
          <a:p>
            <a:pPr algn="l">
              <a:lnSpc>
                <a:spcPts val="1495"/>
              </a:lnSpc>
            </a:pPr>
            <a:r>
              <a:rPr lang="ko-KR" sz="1150" b="0">
                <a:solidFill>
                  <a:srgbClr val="142536"/>
                </a:solidFill>
                <a:latin typeface="Arial"/>
                <a:ea typeface="Malgun Gothic"/>
                <a:cs typeface="Arial"/>
              </a:rPr>
              <a:t xml:space="preserve">환(sw ap) 방식이라 안정 정렬이 아닙니다(같은 값이라도 위</a:t>
            </a:r>
            <a:endParaRPr lang="ko-KR" sz="1150"/>
          </a:p>
          <a:p>
            <a:pPr algn="l">
              <a:lnSpc>
                <a:spcPts val="1495"/>
              </a:lnSpc>
            </a:pPr>
            <a:r>
              <a:rPr lang="ko-KR" sz="1150" b="0">
                <a:solidFill>
                  <a:srgbClr val="142536"/>
                </a:solidFill>
                <a:latin typeface="Arial"/>
                <a:ea typeface="Malgun Gothic"/>
                <a:cs typeface="Arial"/>
              </a:rPr>
              <a:t xml:space="preserve">치가 바뀔 수 있음). 이 과제는 "동률 처리"가 중요한 LOG --s</a:t>
            </a:r>
            <a:endParaRPr lang="ko-KR" sz="1150"/>
          </a:p>
          <a:p>
            <a:pPr algn="l">
              <a:lnSpc>
                <a:spcPts val="1495"/>
              </a:lnSpc>
            </a:pPr>
            <a:r>
              <a:rPr lang="ko-KR" sz="1150" b="0">
                <a:solidFill>
                  <a:srgbClr val="142536"/>
                </a:solidFill>
                <a:latin typeface="Arial"/>
                <a:ea typeface="Malgun Gothic"/>
                <a:cs typeface="Arial"/>
              </a:rPr>
              <a:t xml:space="preserve">ort-by에 정 렬 결과를 쓰므로, 안정성이 보장되고 시간복잡도</a:t>
            </a:r>
            <a:endParaRPr lang="ko-KR" sz="1150"/>
          </a:p>
          <a:p>
            <a:pPr algn="l">
              <a:lnSpc>
                <a:spcPts val="1495"/>
              </a:lnSpc>
            </a:pPr>
            <a:r>
              <a:rPr lang="ko-KR" sz="1150" b="0">
                <a:solidFill>
                  <a:srgbClr val="142536"/>
                </a:solidFill>
                <a:latin typeface="Arial"/>
                <a:ea typeface="Malgun Gothic"/>
                <a:cs typeface="Arial"/>
              </a:rPr>
              <a:t xml:space="preserve">가 입력에 흔들리지 않는 병합 정렬을 선택했습니다.</a:t>
            </a:r>
            <a:endParaRPr lang="ko-KR" sz="1150"/>
          </a:p>
        </p:txBody>
      </p:sp>
      <p:sp>
        <p:nvSpPr>
          <p:cNvPr id="22" name="Text 22"/>
          <p:cNvSpPr txBox="1"/>
          <p:nvPr/>
        </p:nvSpPr>
        <p:spPr>
          <a:xfrm>
            <a:off x="8185150" y="4658360"/>
            <a:ext cx="3498850" cy="1151890"/>
          </a:xfrm>
          <a:prstGeom prst="rect">
            <a:avLst/>
          </a:prstGeom>
          <a:noFill/>
          <a:ln>
            <a:noFill/>
          </a:ln>
        </p:spPr>
        <p:txBody>
          <a:bodyPr wrap="square" lIns="0" tIns="0" rIns="0" bIns="0" anchor="t">
            <a:noAutofit/>
          </a:bodyPr>
          <a:lstStyle/>
          <a:p>
            <a:pPr algn="l">
              <a:lnSpc>
                <a:spcPts val="1495"/>
              </a:lnSpc>
            </a:pPr>
            <a:r>
              <a:rPr lang="ko-KR" sz="1150" b="0">
                <a:solidFill>
                  <a:srgbClr val="142536"/>
                </a:solidFill>
                <a:latin typeface="Arial"/>
                <a:ea typeface="Malgun Gothic"/>
                <a:cs typeface="Arial"/>
              </a:rPr>
              <a:t xml:space="preserve">시간복잡도는 실제 초 단위 실행 시간이 아니라 입력이 커질</a:t>
            </a:r>
            <a:endParaRPr lang="ko-KR" sz="1150"/>
          </a:p>
          <a:p>
            <a:pPr algn="l">
              <a:lnSpc>
                <a:spcPts val="1495"/>
              </a:lnSpc>
            </a:pPr>
            <a:r>
              <a:rPr lang="ko-KR" sz="1150" b="0">
                <a:solidFill>
                  <a:srgbClr val="142536"/>
                </a:solidFill>
                <a:latin typeface="Arial"/>
                <a:ea typeface="Malgun Gothic"/>
                <a:cs typeface="Arial"/>
              </a:rPr>
              <a:t xml:space="preserve">때 작업량이 얼마나 늘어나는지 표현합니다. 안정성은 프로그</a:t>
            </a:r>
            <a:endParaRPr lang="ko-KR" sz="1150"/>
          </a:p>
          <a:p>
            <a:pPr algn="l">
              <a:lnSpc>
                <a:spcPts val="1495"/>
              </a:lnSpc>
            </a:pPr>
            <a:r>
              <a:rPr lang="ko-KR" sz="1150" b="0">
                <a:solidFill>
                  <a:srgbClr val="142536"/>
                </a:solidFill>
                <a:latin typeface="Arial"/>
                <a:ea typeface="Malgun Gothic"/>
                <a:cs typeface="Arial"/>
              </a:rPr>
              <a:t xml:space="preserve">램이 안 죽는다는 뜻이 아니라 같은 비교값끼리 원래 순서를</a:t>
            </a:r>
            <a:endParaRPr lang="ko-KR" sz="1150"/>
          </a:p>
          <a:p>
            <a:pPr algn="l">
              <a:lnSpc>
                <a:spcPts val="1495"/>
              </a:lnSpc>
            </a:pPr>
            <a:r>
              <a:rPr lang="ko-KR" sz="1150" b="0">
                <a:solidFill>
                  <a:srgbClr val="142536"/>
                </a:solidFill>
                <a:latin typeface="Arial"/>
                <a:ea typeface="Malgun Gothic"/>
                <a:cs typeface="Arial"/>
              </a:rPr>
              <a:t xml:space="preserve">지킨다는 뜻입니다. &lt;=를 쓰면 두 값이 같을 때 원래 앞에 있던</a:t>
            </a:r>
            <a:endParaRPr lang="ko-KR" sz="1150"/>
          </a:p>
          <a:p>
            <a:pPr algn="l">
              <a:lnSpc>
                <a:spcPts val="1495"/>
              </a:lnSpc>
            </a:pPr>
            <a:r>
              <a:rPr lang="ko-KR" sz="1150" b="0">
                <a:solidFill>
                  <a:srgbClr val="142536"/>
                </a:solidFill>
                <a:latin typeface="Arial"/>
                <a:ea typeface="Malgun Gothic"/>
                <a:cs typeface="Arial"/>
              </a:rPr>
              <a:t xml:space="preserve">왼쪽 원소를 먼저 꺼냅니다. 테스트는 순서뿐 아니라 원본 목</a:t>
            </a:r>
            <a:endParaRPr lang="ko-KR" sz="1150"/>
          </a:p>
          <a:p>
            <a:pPr algn="l">
              <a:lnSpc>
                <a:spcPts val="1495"/>
              </a:lnSpc>
            </a:pPr>
            <a:r>
              <a:rPr lang="ko-KR" sz="1150" b="0">
                <a:solidFill>
                  <a:srgbClr val="142536"/>
                </a:solidFill>
                <a:latin typeface="Arial"/>
                <a:ea typeface="Malgun Gothic"/>
                <a:cs typeface="Arial"/>
              </a:rPr>
              <a:t xml:space="preserve">록이 바뀌지 않았는지도 확인합니다.</a:t>
            </a:r>
            <a:endParaRPr lang="ko-KR" sz="1150"/>
          </a:p>
        </p:txBody>
      </p:sp>
      <p:sp>
        <p:nvSpPr>
          <p:cNvPr id="23" name="Text 23"/>
          <p:cNvSpPr txBox="1"/>
          <p:nvPr/>
        </p:nvSpPr>
        <p:spPr>
          <a:xfrm>
            <a:off x="508000" y="6299200"/>
            <a:ext cx="11176000" cy="22860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한 층에서 n개를 다루고 층은 log₂n개. 같은 키는 원래 순서를 보존합니다.</a:t>
            </a:r>
            <a:endParaRPr lang="ko-KR" sz="1250"/>
          </a:p>
        </p:txBody>
      </p:sp>
      <p:sp>
        <p:nvSpPr>
          <p:cNvPr id="24" name="Text 24"/>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mini_git/sorting.py · tests/test_mini_git.py: test_sort_keys_and_stability · 평가질문_설명자료.md</a:t>
            </a:r>
            <a:endParaRPr lang="ko-KR" sz="1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역색인: 책 뒤의 ‘찾아보기’">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EXPLAIN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20 / 26</a:t>
            </a:r>
            <a:endParaRPr lang="ko-KR" sz="1250"/>
          </a:p>
        </p:txBody>
      </p:sp>
      <p:sp>
        <p:nvSpPr>
          <p:cNvPr id="5" name="Text 5"/>
          <p:cNvSpPr txBox="1"/>
          <p:nvPr/>
        </p:nvSpPr>
        <p:spPr>
          <a:xfrm>
            <a:off x="508000" y="793750"/>
            <a:ext cx="11176000" cy="635000"/>
          </a:xfrm>
          <a:prstGeom prst="rect">
            <a:avLst/>
          </a:prstGeom>
          <a:noFill/>
          <a:ln>
            <a:noFill/>
          </a:ln>
        </p:spPr>
        <p:txBody>
          <a:bodyPr wrap="square" lIns="0" tIns="0" rIns="0" bIns="0" anchor="t">
            <a:noAutofit/>
          </a:bodyPr>
          <a:lstStyle/>
          <a:p>
            <a:pPr algn="l">
              <a:lnSpc>
                <a:spcPts val="3900"/>
              </a:lnSpc>
            </a:pPr>
            <a:r>
              <a:rPr lang="ko-KR" sz="3000" b="1">
                <a:solidFill>
                  <a:srgbClr val="142536"/>
                </a:solidFill>
                <a:latin typeface="Arial"/>
                <a:ea typeface="Malgun Gothic"/>
                <a:cs typeface="Arial"/>
              </a:rPr>
              <a:t xml:space="preserve">역색인: 책 뒤의 ‘찾아보기’</a:t>
            </a:r>
            <a:endParaRPr lang="ko-KR" sz="3000"/>
          </a:p>
        </p:txBody>
      </p:sp>
      <p:sp>
        <p:nvSpPr>
          <p:cNvPr id="6" name="Text 6"/>
          <p:cNvSpPr txBox="1"/>
          <p:nvPr/>
        </p:nvSpPr>
        <p:spPr>
          <a:xfrm>
            <a:off x="571500" y="1492250"/>
            <a:ext cx="3683000" cy="24130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핵심 · 그림 · 실행</a:t>
            </a:r>
            <a:endParaRPr lang="ko-KR" sz="1300"/>
          </a:p>
        </p:txBody>
      </p:sp>
      <p:sp>
        <p:nvSpPr>
          <p:cNvPr id="7" name="Text 7"/>
          <p:cNvSpPr txBox="1"/>
          <p:nvPr/>
        </p:nvSpPr>
        <p:spPr>
          <a:xfrm>
            <a:off x="4508500" y="1492250"/>
            <a:ext cx="7175500" cy="24130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상세 설명 · 코드 · 문답 전체</a:t>
            </a:r>
            <a:endParaRPr lang="ko-KR" sz="1300"/>
          </a:p>
        </p:txBody>
      </p:sp>
      <p:sp>
        <p:nvSpPr>
          <p:cNvPr id="8" name="Shape 8"/>
          <p:cNvSpPr/>
          <p:nvPr/>
        </p:nvSpPr>
        <p:spPr>
          <a:xfrm>
            <a:off x="4349750" y="1778000"/>
            <a:ext cx="12700" cy="4381500"/>
          </a:xfrm>
          <a:prstGeom prst="rect">
            <a:avLst/>
          </a:prstGeom>
          <a:solidFill>
            <a:srgbClr val="D7DFDB"/>
          </a:solidFill>
          <a:ln>
            <a:noFill/>
          </a:ln>
        </p:spPr>
      </p:sp>
      <p:sp>
        <p:nvSpPr>
          <p:cNvPr id="9" name="Shape 9"/>
          <p:cNvSpPr/>
          <p:nvPr/>
        </p:nvSpPr>
        <p:spPr>
          <a:xfrm>
            <a:off x="476250" y="1778000"/>
            <a:ext cx="2968625" cy="2182812"/>
          </a:xfrm>
          <a:prstGeom prst="roundRect">
            <a:avLst/>
          </a:prstGeom>
          <a:solidFill>
            <a:srgbClr val="FFFFFF"/>
          </a:solidFill>
          <a:ln w="12700">
            <a:solidFill>
              <a:srgbClr val="D7DFDB"/>
            </a:solidFill>
          </a:ln>
        </p:spPr>
      </p:sp>
      <p:sp>
        <p:nvSpPr>
          <p:cNvPr id="10" name="Text 10"/>
          <p:cNvSpPr txBox="1"/>
          <p:nvPr/>
        </p:nvSpPr>
        <p:spPr>
          <a:xfrm>
            <a:off x="581025" y="1847850"/>
            <a:ext cx="2724150" cy="209550"/>
          </a:xfrm>
          <a:prstGeom prst="rect">
            <a:avLst/>
          </a:prstGeom>
          <a:noFill/>
          <a:ln>
            <a:noFill/>
          </a:ln>
        </p:spPr>
        <p:txBody>
          <a:bodyPr wrap="square" lIns="0" tIns="0" rIns="0" bIns="0" anchor="t">
            <a:noAutofit/>
          </a:bodyPr>
          <a:lstStyle/>
          <a:p>
            <a:pPr algn="l">
              <a:lnSpc>
                <a:spcPts val="1072"/>
              </a:lnSpc>
            </a:pPr>
            <a:r>
              <a:rPr lang="ko-KR" sz="825" b="1">
                <a:solidFill>
                  <a:srgbClr val="168B82"/>
                </a:solidFill>
                <a:latin typeface="Arial"/>
                <a:ea typeface="Malgun Gothic"/>
                <a:cs typeface="Arial"/>
              </a:rPr>
              <a:t xml:space="preserve">한눈에 이해하기</a:t>
            </a:r>
            <a:endParaRPr lang="ko-KR" sz="825"/>
          </a:p>
        </p:txBody>
      </p:sp>
      <p:sp>
        <p:nvSpPr>
          <p:cNvPr id="11" name="Shape 11"/>
          <p:cNvSpPr/>
          <p:nvPr/>
        </p:nvSpPr>
        <p:spPr>
          <a:xfrm>
            <a:off x="650875" y="2266950"/>
            <a:ext cx="1030288" cy="349250"/>
          </a:xfrm>
          <a:prstGeom prst="roundRect">
            <a:avLst/>
          </a:prstGeom>
          <a:solidFill>
            <a:srgbClr val="168B82"/>
          </a:solidFill>
          <a:ln>
            <a:noFill/>
          </a:ln>
        </p:spPr>
      </p:sp>
      <p:sp>
        <p:nvSpPr>
          <p:cNvPr id="12" name="Text 12"/>
          <p:cNvSpPr txBox="1"/>
          <p:nvPr/>
        </p:nvSpPr>
        <p:spPr>
          <a:xfrm>
            <a:off x="685800" y="2343785"/>
            <a:ext cx="960438" cy="258445"/>
          </a:xfrm>
          <a:prstGeom prst="rect">
            <a:avLst/>
          </a:prstGeom>
          <a:noFill/>
          <a:ln>
            <a:noFill/>
          </a:ln>
        </p:spPr>
        <p:txBody>
          <a:bodyPr wrap="square" lIns="0" tIns="0" rIns="0" bIns="0" anchor="t">
            <a:noAutofit/>
          </a:bodyPr>
          <a:lstStyle/>
          <a:p>
            <a:pPr algn="ctr">
              <a:lnSpc>
                <a:spcPts val="1359"/>
              </a:lnSpc>
            </a:pPr>
            <a:r>
              <a:rPr lang="ko-KR" sz="1045" b="1">
                <a:solidFill>
                  <a:srgbClr val="FFFFFF"/>
                </a:solidFill>
                <a:latin typeface="Arial"/>
                <a:ea typeface="Malgun Gothic"/>
                <a:cs typeface="Arial"/>
              </a:rPr>
              <a:t xml:space="preserve">login</a:t>
            </a:r>
            <a:endParaRPr lang="ko-KR" sz="1045"/>
          </a:p>
        </p:txBody>
      </p:sp>
      <p:cxnSp>
        <p:nvCxnSpPr>
          <p:cNvPr id="13" name="Edge 13"/>
          <p:cNvCxnSpPr/>
          <p:nvPr/>
        </p:nvCxnSpPr>
        <p:spPr>
          <a:xfrm flipH="0" flipV="0">
            <a:off x="1698625" y="2441575"/>
            <a:ext cx="366712" cy="6350"/>
          </a:xfrm>
          <a:prstGeom prst="line">
            <a:avLst/>
          </a:prstGeom>
          <a:ln w="31750">
            <a:solidFill>
              <a:srgbClr val="168B82"/>
            </a:solidFill>
            <a:tailEnd type="triangle" w="med" len="med"/>
          </a:ln>
        </p:spPr>
      </p:cxnSp>
      <p:sp>
        <p:nvSpPr>
          <p:cNvPr id="14" name="Text 14"/>
          <p:cNvSpPr txBox="1"/>
          <p:nvPr/>
        </p:nvSpPr>
        <p:spPr>
          <a:xfrm>
            <a:off x="2152650" y="2336800"/>
            <a:ext cx="1047750" cy="279400"/>
          </a:xfrm>
          <a:prstGeom prst="rect">
            <a:avLst/>
          </a:prstGeom>
          <a:noFill/>
          <a:ln>
            <a:noFill/>
          </a:ln>
        </p:spPr>
        <p:txBody>
          <a:bodyPr wrap="square" lIns="0" tIns="0" rIns="0" bIns="0" anchor="t">
            <a:noAutofit/>
          </a:bodyPr>
          <a:lstStyle/>
          <a:p>
            <a:pPr algn="l">
              <a:lnSpc>
                <a:spcPts val="1609"/>
              </a:lnSpc>
            </a:pPr>
            <a:r>
              <a:rPr lang="ko-KR" sz="1238" b="1">
                <a:solidFill>
                  <a:srgbClr val="142536"/>
                </a:solidFill>
                <a:latin typeface="Arial"/>
                <a:ea typeface="Malgun Gothic"/>
                <a:cs typeface="Arial"/>
              </a:rPr>
              <a:t xml:space="preserve">[B]</a:t>
            </a:r>
            <a:endParaRPr lang="ko-KR" sz="1238"/>
          </a:p>
        </p:txBody>
      </p:sp>
      <p:sp>
        <p:nvSpPr>
          <p:cNvPr id="15" name="Shape 15"/>
          <p:cNvSpPr/>
          <p:nvPr/>
        </p:nvSpPr>
        <p:spPr>
          <a:xfrm>
            <a:off x="650875" y="2755900"/>
            <a:ext cx="1030288" cy="349250"/>
          </a:xfrm>
          <a:prstGeom prst="roundRect">
            <a:avLst/>
          </a:prstGeom>
          <a:solidFill>
            <a:srgbClr val="168B82"/>
          </a:solidFill>
          <a:ln>
            <a:noFill/>
          </a:ln>
        </p:spPr>
      </p:sp>
      <p:sp>
        <p:nvSpPr>
          <p:cNvPr id="16" name="Text 16"/>
          <p:cNvSpPr txBox="1"/>
          <p:nvPr/>
        </p:nvSpPr>
        <p:spPr>
          <a:xfrm>
            <a:off x="685800" y="2832735"/>
            <a:ext cx="960438" cy="258445"/>
          </a:xfrm>
          <a:prstGeom prst="rect">
            <a:avLst/>
          </a:prstGeom>
          <a:noFill/>
          <a:ln>
            <a:noFill/>
          </a:ln>
        </p:spPr>
        <p:txBody>
          <a:bodyPr wrap="square" lIns="0" tIns="0" rIns="0" bIns="0" anchor="t">
            <a:noAutofit/>
          </a:bodyPr>
          <a:lstStyle/>
          <a:p>
            <a:pPr algn="ctr">
              <a:lnSpc>
                <a:spcPts val="1359"/>
              </a:lnSpc>
            </a:pPr>
            <a:r>
              <a:rPr lang="ko-KR" sz="1045" b="1">
                <a:solidFill>
                  <a:srgbClr val="FFFFFF"/>
                </a:solidFill>
                <a:latin typeface="Arial"/>
                <a:ea typeface="Malgun Gothic"/>
                <a:cs typeface="Arial"/>
              </a:rPr>
              <a:t xml:space="preserve">feature</a:t>
            </a:r>
            <a:endParaRPr lang="ko-KR" sz="1045"/>
          </a:p>
        </p:txBody>
      </p:sp>
      <p:cxnSp>
        <p:nvCxnSpPr>
          <p:cNvPr id="17" name="Edge 17"/>
          <p:cNvCxnSpPr/>
          <p:nvPr/>
        </p:nvCxnSpPr>
        <p:spPr>
          <a:xfrm flipH="0" flipV="0">
            <a:off x="1698625" y="2930525"/>
            <a:ext cx="366712" cy="6350"/>
          </a:xfrm>
          <a:prstGeom prst="line">
            <a:avLst/>
          </a:prstGeom>
          <a:ln w="31750">
            <a:solidFill>
              <a:srgbClr val="168B82"/>
            </a:solidFill>
            <a:tailEnd type="triangle" w="med" len="med"/>
          </a:ln>
        </p:spPr>
      </p:cxnSp>
      <p:sp>
        <p:nvSpPr>
          <p:cNvPr id="18" name="Text 18"/>
          <p:cNvSpPr txBox="1"/>
          <p:nvPr/>
        </p:nvSpPr>
        <p:spPr>
          <a:xfrm>
            <a:off x="2152650" y="2825750"/>
            <a:ext cx="1047750" cy="279400"/>
          </a:xfrm>
          <a:prstGeom prst="rect">
            <a:avLst/>
          </a:prstGeom>
          <a:noFill/>
          <a:ln>
            <a:noFill/>
          </a:ln>
        </p:spPr>
        <p:txBody>
          <a:bodyPr wrap="square" lIns="0" tIns="0" rIns="0" bIns="0" anchor="t">
            <a:noAutofit/>
          </a:bodyPr>
          <a:lstStyle/>
          <a:p>
            <a:pPr algn="l">
              <a:lnSpc>
                <a:spcPts val="1609"/>
              </a:lnSpc>
            </a:pPr>
            <a:r>
              <a:rPr lang="ko-KR" sz="1238" b="1">
                <a:solidFill>
                  <a:srgbClr val="142536"/>
                </a:solidFill>
                <a:latin typeface="Arial"/>
                <a:ea typeface="Malgun Gothic"/>
                <a:cs typeface="Arial"/>
              </a:rPr>
              <a:t xml:space="preserve">[B, C]</a:t>
            </a:r>
            <a:endParaRPr lang="ko-KR" sz="1238"/>
          </a:p>
        </p:txBody>
      </p:sp>
      <p:sp>
        <p:nvSpPr>
          <p:cNvPr id="19" name="Shape 19"/>
          <p:cNvSpPr/>
          <p:nvPr/>
        </p:nvSpPr>
        <p:spPr>
          <a:xfrm>
            <a:off x="650875" y="3244850"/>
            <a:ext cx="1030288" cy="349250"/>
          </a:xfrm>
          <a:prstGeom prst="roundRect">
            <a:avLst/>
          </a:prstGeom>
          <a:solidFill>
            <a:srgbClr val="168B82"/>
          </a:solidFill>
          <a:ln>
            <a:noFill/>
          </a:ln>
        </p:spPr>
      </p:sp>
      <p:sp>
        <p:nvSpPr>
          <p:cNvPr id="20" name="Text 20"/>
          <p:cNvSpPr txBox="1"/>
          <p:nvPr/>
        </p:nvSpPr>
        <p:spPr>
          <a:xfrm>
            <a:off x="685800" y="3321685"/>
            <a:ext cx="960438" cy="258445"/>
          </a:xfrm>
          <a:prstGeom prst="rect">
            <a:avLst/>
          </a:prstGeom>
          <a:noFill/>
          <a:ln>
            <a:noFill/>
          </a:ln>
        </p:spPr>
        <p:txBody>
          <a:bodyPr wrap="square" lIns="0" tIns="0" rIns="0" bIns="0" anchor="t">
            <a:noAutofit/>
          </a:bodyPr>
          <a:lstStyle/>
          <a:p>
            <a:pPr algn="ctr">
              <a:lnSpc>
                <a:spcPts val="1359"/>
              </a:lnSpc>
            </a:pPr>
            <a:r>
              <a:rPr lang="ko-KR" sz="1045" b="1">
                <a:solidFill>
                  <a:srgbClr val="FFFFFF"/>
                </a:solidFill>
                <a:latin typeface="Arial"/>
                <a:ea typeface="Malgun Gothic"/>
                <a:cs typeface="Arial"/>
              </a:rPr>
              <a:t xml:space="preserve">Alice Kim</a:t>
            </a:r>
            <a:endParaRPr lang="ko-KR" sz="1045"/>
          </a:p>
        </p:txBody>
      </p:sp>
      <p:cxnSp>
        <p:nvCxnSpPr>
          <p:cNvPr id="21" name="Edge 21"/>
          <p:cNvCxnSpPr/>
          <p:nvPr/>
        </p:nvCxnSpPr>
        <p:spPr>
          <a:xfrm flipH="0" flipV="0">
            <a:off x="1698625" y="3419475"/>
            <a:ext cx="366712" cy="6350"/>
          </a:xfrm>
          <a:prstGeom prst="line">
            <a:avLst/>
          </a:prstGeom>
          <a:ln w="31750">
            <a:solidFill>
              <a:srgbClr val="168B82"/>
            </a:solidFill>
            <a:tailEnd type="triangle" w="med" len="med"/>
          </a:ln>
        </p:spPr>
      </p:cxnSp>
      <p:sp>
        <p:nvSpPr>
          <p:cNvPr id="22" name="Text 22"/>
          <p:cNvSpPr txBox="1"/>
          <p:nvPr/>
        </p:nvSpPr>
        <p:spPr>
          <a:xfrm>
            <a:off x="2152650" y="3314700"/>
            <a:ext cx="1047750" cy="279400"/>
          </a:xfrm>
          <a:prstGeom prst="rect">
            <a:avLst/>
          </a:prstGeom>
          <a:noFill/>
          <a:ln>
            <a:noFill/>
          </a:ln>
        </p:spPr>
        <p:txBody>
          <a:bodyPr wrap="square" lIns="0" tIns="0" rIns="0" bIns="0" anchor="t">
            <a:noAutofit/>
          </a:bodyPr>
          <a:lstStyle/>
          <a:p>
            <a:pPr algn="l">
              <a:lnSpc>
                <a:spcPts val="1609"/>
              </a:lnSpc>
            </a:pPr>
            <a:r>
              <a:rPr lang="ko-KR" sz="1238" b="1">
                <a:solidFill>
                  <a:srgbClr val="142536"/>
                </a:solidFill>
                <a:latin typeface="Arial"/>
                <a:ea typeface="Malgun Gothic"/>
                <a:cs typeface="Arial"/>
              </a:rPr>
              <a:t xml:space="preserve">[A, B, C]</a:t>
            </a:r>
            <a:endParaRPr lang="ko-KR" sz="1238"/>
          </a:p>
        </p:txBody>
      </p:sp>
      <p:sp>
        <p:nvSpPr>
          <p:cNvPr id="23" name="Text 23"/>
          <p:cNvSpPr txBox="1"/>
          <p:nvPr/>
        </p:nvSpPr>
        <p:spPr>
          <a:xfrm>
            <a:off x="571500" y="4127500"/>
            <a:ext cx="3683000" cy="144780"/>
          </a:xfrm>
          <a:prstGeom prst="rect">
            <a:avLst/>
          </a:prstGeom>
          <a:noFill/>
          <a:ln>
            <a:noFill/>
          </a:ln>
        </p:spPr>
        <p:txBody>
          <a:bodyPr wrap="square" lIns="0" tIns="0" rIns="0" bIns="0" anchor="t">
            <a:noAutofit/>
          </a:bodyPr>
          <a:lstStyle/>
          <a:p>
            <a:pPr algn="l">
              <a:lnSpc>
                <a:spcPts val="1040"/>
              </a:lnSpc>
            </a:pPr>
            <a:r>
              <a:rPr lang="ko-KR" sz="800" b="1">
                <a:solidFill>
                  <a:srgbClr val="168B82"/>
                </a:solidFill>
                <a:latin typeface="Arial"/>
                <a:ea typeface="Malgun Gothic"/>
                <a:cs typeface="Arial"/>
              </a:rPr>
              <a:t xml:space="preserve">메시지를 토큰으로</a:t>
            </a:r>
            <a:endParaRPr lang="ko-KR" sz="800"/>
          </a:p>
        </p:txBody>
      </p:sp>
      <p:sp>
        <p:nvSpPr>
          <p:cNvPr id="24" name="Text 24"/>
          <p:cNvSpPr txBox="1"/>
          <p:nvPr/>
        </p:nvSpPr>
        <p:spPr>
          <a:xfrm>
            <a:off x="571500" y="4323080"/>
            <a:ext cx="3683000" cy="144780"/>
          </a:xfrm>
          <a:prstGeom prst="rect">
            <a:avLst/>
          </a:prstGeom>
          <a:noFill/>
          <a:ln>
            <a:noFill/>
          </a:ln>
        </p:spPr>
        <p:txBody>
          <a:bodyPr wrap="square" lIns="0" tIns="0" rIns="0" bIns="0" anchor="t">
            <a:noAutofit/>
          </a:bodyPr>
          <a:lstStyle/>
          <a:p>
            <a:pPr algn="l">
              <a:lnSpc>
                <a:spcPts val="1040"/>
              </a:lnSpc>
            </a:pPr>
            <a:r>
              <a:rPr lang="ko-KR" sz="800" b="0">
                <a:solidFill>
                  <a:srgbClr val="142536"/>
                </a:solidFill>
                <a:latin typeface="Arial"/>
                <a:ea typeface="Malgun Gothic"/>
                <a:cs typeface="Arial"/>
              </a:rPr>
              <a:t xml:space="preserve">Add Login Feature → add, login, feature 공백 split + 소문자 lower</a:t>
            </a:r>
            <a:endParaRPr lang="ko-KR" sz="800"/>
          </a:p>
        </p:txBody>
      </p:sp>
      <p:sp>
        <p:nvSpPr>
          <p:cNvPr id="25" name="Text 25"/>
          <p:cNvSpPr txBox="1"/>
          <p:nvPr/>
        </p:nvSpPr>
        <p:spPr>
          <a:xfrm>
            <a:off x="571500" y="4518660"/>
            <a:ext cx="3683000" cy="144780"/>
          </a:xfrm>
          <a:prstGeom prst="rect">
            <a:avLst/>
          </a:prstGeom>
          <a:noFill/>
          <a:ln>
            <a:noFill/>
          </a:ln>
        </p:spPr>
        <p:txBody>
          <a:bodyPr wrap="square" lIns="0" tIns="0" rIns="0" bIns="0" anchor="t">
            <a:noAutofit/>
          </a:bodyPr>
          <a:lstStyle/>
          <a:p>
            <a:pPr algn="l">
              <a:lnSpc>
                <a:spcPts val="1040"/>
              </a:lnSpc>
            </a:pPr>
            <a:r>
              <a:rPr lang="ko-KR" sz="800" b="1">
                <a:solidFill>
                  <a:srgbClr val="168B82"/>
                </a:solidFill>
                <a:latin typeface="Arial"/>
                <a:ea typeface="Malgun Gothic"/>
                <a:cs typeface="Arial"/>
              </a:rPr>
              <a:t xml:space="preserve">색인 예</a:t>
            </a:r>
            <a:endParaRPr lang="ko-KR" sz="800"/>
          </a:p>
        </p:txBody>
      </p:sp>
      <p:sp>
        <p:nvSpPr>
          <p:cNvPr id="26" name="Text 26"/>
          <p:cNvSpPr txBox="1"/>
          <p:nvPr/>
        </p:nvSpPr>
        <p:spPr>
          <a:xfrm>
            <a:off x="571500" y="4714240"/>
            <a:ext cx="3683000" cy="144780"/>
          </a:xfrm>
          <a:prstGeom prst="rect">
            <a:avLst/>
          </a:prstGeom>
          <a:noFill/>
          <a:ln>
            <a:noFill/>
          </a:ln>
        </p:spPr>
        <p:txBody>
          <a:bodyPr wrap="square" lIns="0" tIns="0" rIns="0" bIns="0" anchor="t">
            <a:noAutofit/>
          </a:bodyPr>
          <a:lstStyle/>
          <a:p>
            <a:pPr algn="l">
              <a:lnSpc>
                <a:spcPts val="1040"/>
              </a:lnSpc>
            </a:pPr>
            <a:r>
              <a:rPr lang="ko-KR" sz="800" b="0">
                <a:solidFill>
                  <a:srgbClr val="142536"/>
                </a:solidFill>
                <a:latin typeface="Arial"/>
                <a:ea typeface="Malgun Gothic"/>
                <a:cs typeface="Arial"/>
              </a:rPr>
              <a:t xml:space="preserve">login → [B] feature → [B, C] Alice Kim → [A, B, C]</a:t>
            </a:r>
            <a:endParaRPr lang="ko-KR" sz="800"/>
          </a:p>
        </p:txBody>
      </p:sp>
      <p:sp>
        <p:nvSpPr>
          <p:cNvPr id="27" name="Text 27"/>
          <p:cNvSpPr txBox="1"/>
          <p:nvPr/>
        </p:nvSpPr>
        <p:spPr>
          <a:xfrm>
            <a:off x="571500" y="4909820"/>
            <a:ext cx="3683000" cy="144780"/>
          </a:xfrm>
          <a:prstGeom prst="rect">
            <a:avLst/>
          </a:prstGeom>
          <a:noFill/>
          <a:ln>
            <a:noFill/>
          </a:ln>
        </p:spPr>
        <p:txBody>
          <a:bodyPr wrap="square" lIns="0" tIns="0" rIns="0" bIns="0" anchor="t">
            <a:noAutofit/>
          </a:bodyPr>
          <a:lstStyle/>
          <a:p>
            <a:pPr algn="l">
              <a:lnSpc>
                <a:spcPts val="1040"/>
              </a:lnSpc>
            </a:pPr>
            <a:r>
              <a:rPr lang="ko-KR" sz="800" b="1">
                <a:solidFill>
                  <a:srgbClr val="168B82"/>
                </a:solidFill>
                <a:latin typeface="Arial"/>
                <a:ea typeface="Malgun Gothic"/>
                <a:cs typeface="Arial"/>
              </a:rPr>
              <a:t xml:space="preserve">검색 비용</a:t>
            </a:r>
            <a:endParaRPr lang="ko-KR" sz="800"/>
          </a:p>
        </p:txBody>
      </p:sp>
      <p:sp>
        <p:nvSpPr>
          <p:cNvPr id="28" name="Text 28"/>
          <p:cNvSpPr txBox="1"/>
          <p:nvPr/>
        </p:nvSpPr>
        <p:spPr>
          <a:xfrm>
            <a:off x="571500" y="5105400"/>
            <a:ext cx="3683000" cy="144780"/>
          </a:xfrm>
          <a:prstGeom prst="rect">
            <a:avLst/>
          </a:prstGeom>
          <a:noFill/>
          <a:ln>
            <a:noFill/>
          </a:ln>
        </p:spPr>
        <p:txBody>
          <a:bodyPr wrap="square" lIns="0" tIns="0" rIns="0" bIns="0" anchor="t">
            <a:noAutofit/>
          </a:bodyPr>
          <a:lstStyle/>
          <a:p>
            <a:pPr algn="l">
              <a:lnSpc>
                <a:spcPts val="1040"/>
              </a:lnSpc>
            </a:pPr>
            <a:r>
              <a:rPr lang="ko-KR" sz="800" b="0">
                <a:solidFill>
                  <a:srgbClr val="142536"/>
                </a:solidFill>
                <a:latin typeface="Arial"/>
                <a:ea typeface="Malgun Gothic"/>
                <a:cs typeface="Arial"/>
              </a:rPr>
              <a:t xml:space="preserve">전체 순회: 커밋 수 N에 비례 단어·작성자 색인 조회: 평균 O(1) 결과 k개를 복사·출력: O(k)</a:t>
            </a:r>
            <a:endParaRPr lang="ko-KR" sz="800"/>
          </a:p>
        </p:txBody>
      </p:sp>
      <p:sp>
        <p:nvSpPr>
          <p:cNvPr id="29" name="Text 29"/>
          <p:cNvSpPr txBox="1"/>
          <p:nvPr/>
        </p:nvSpPr>
        <p:spPr>
          <a:xfrm>
            <a:off x="571500" y="5300980"/>
            <a:ext cx="3683000" cy="144780"/>
          </a:xfrm>
          <a:prstGeom prst="rect">
            <a:avLst/>
          </a:prstGeom>
          <a:noFill/>
          <a:ln>
            <a:noFill/>
          </a:ln>
        </p:spPr>
        <p:txBody>
          <a:bodyPr wrap="square" lIns="0" tIns="0" rIns="0" bIns="0" anchor="t">
            <a:noAutofit/>
          </a:bodyPr>
          <a:lstStyle/>
          <a:p>
            <a:pPr algn="l">
              <a:lnSpc>
                <a:spcPts val="1040"/>
              </a:lnSpc>
            </a:pPr>
            <a:r>
              <a:rPr lang="ko-KR" sz="800" b="1">
                <a:solidFill>
                  <a:srgbClr val="168B82"/>
                </a:solidFill>
                <a:latin typeface="Arial"/>
                <a:ea typeface="Malgun Gothic"/>
                <a:cs typeface="Arial"/>
              </a:rPr>
              <a:t xml:space="preserve">실행 확인 · mini-git&gt; · 5페이지 실습 후</a:t>
            </a:r>
            <a:endParaRPr lang="ko-KR" sz="800"/>
          </a:p>
        </p:txBody>
      </p:sp>
      <p:sp>
        <p:nvSpPr>
          <p:cNvPr id="30" name="Text 30"/>
          <p:cNvSpPr txBox="1"/>
          <p:nvPr/>
        </p:nvSpPr>
        <p:spPr>
          <a:xfrm>
            <a:off x="571500" y="5496560"/>
            <a:ext cx="3683000" cy="408940"/>
          </a:xfrm>
          <a:prstGeom prst="rect">
            <a:avLst/>
          </a:prstGeom>
          <a:noFill/>
          <a:ln>
            <a:noFill/>
          </a:ln>
        </p:spPr>
        <p:txBody>
          <a:bodyPr wrap="square" lIns="0" tIns="0" rIns="0" bIns="0" anchor="t">
            <a:noAutofit/>
          </a:bodyPr>
          <a:lstStyle/>
          <a:p>
            <a:pPr algn="l">
              <a:lnSpc>
                <a:spcPts val="1040"/>
              </a:lnSpc>
            </a:pPr>
            <a:r>
              <a:rPr lang="ko-KR" sz="800" b="0">
                <a:solidFill>
                  <a:srgbClr val="142536"/>
                </a:solidFill>
                <a:latin typeface="Menlo"/>
                <a:ea typeface="Malgun Gothic"/>
                <a:cs typeface="Arial"/>
              </a:rPr>
              <a:t xml:space="preserve">SEARCH login</a:t>
            </a:r>
            <a:endParaRPr lang="ko-KR" sz="800"/>
          </a:p>
          <a:p>
            <a:pPr algn="l">
              <a:lnSpc>
                <a:spcPts val="1040"/>
              </a:lnSpc>
            </a:pPr>
            <a:r>
              <a:rPr lang="ko-KR" sz="800" b="0">
                <a:solidFill>
                  <a:srgbClr val="142536"/>
                </a:solidFill>
                <a:latin typeface="Menlo"/>
                <a:ea typeface="Malgun Gothic"/>
                <a:cs typeface="Arial"/>
              </a:rPr>
              <a:t xml:space="preserve">SEARCH feature</a:t>
            </a:r>
            <a:endParaRPr lang="ko-KR" sz="800"/>
          </a:p>
          <a:p>
            <a:pPr algn="l">
              <a:lnSpc>
                <a:spcPts val="1040"/>
              </a:lnSpc>
            </a:pPr>
            <a:r>
              <a:rPr lang="ko-KR" sz="800" b="0">
                <a:solidFill>
                  <a:srgbClr val="142536"/>
                </a:solidFill>
                <a:latin typeface="Menlo"/>
                <a:ea typeface="Malgun Gothic"/>
                <a:cs typeface="Arial"/>
              </a:rPr>
              <a:t xml:space="preserve">SEARCH --author="Alice Kim"</a:t>
            </a:r>
            <a:endParaRPr lang="ko-KR" sz="800"/>
          </a:p>
        </p:txBody>
      </p:sp>
      <p:sp>
        <p:nvSpPr>
          <p:cNvPr id="31" name="Text 31"/>
          <p:cNvSpPr txBox="1"/>
          <p:nvPr/>
        </p:nvSpPr>
        <p:spPr>
          <a:xfrm>
            <a:off x="571500" y="5956300"/>
            <a:ext cx="3683000" cy="144780"/>
          </a:xfrm>
          <a:prstGeom prst="rect">
            <a:avLst/>
          </a:prstGeom>
          <a:noFill/>
          <a:ln>
            <a:noFill/>
          </a:ln>
        </p:spPr>
        <p:txBody>
          <a:bodyPr wrap="square" lIns="0" tIns="0" rIns="0" bIns="0" anchor="t">
            <a:noAutofit/>
          </a:bodyPr>
          <a:lstStyle/>
          <a:p>
            <a:pPr algn="l">
              <a:lnSpc>
                <a:spcPts val="1040"/>
              </a:lnSpc>
            </a:pPr>
            <a:r>
              <a:rPr lang="ko-KR" sz="800" b="0">
                <a:solidFill>
                  <a:srgbClr val="142536"/>
                </a:solidFill>
                <a:latin typeface="Arial"/>
                <a:ea typeface="Malgun Gothic"/>
                <a:cs typeface="Arial"/>
              </a:rPr>
              <a:t xml:space="preserve">확인: 5페이지의 새 실습 기준: 각각 1개, 2개, 3개</a:t>
            </a:r>
            <a:endParaRPr lang="ko-KR" sz="800"/>
          </a:p>
        </p:txBody>
      </p:sp>
      <p:sp>
        <p:nvSpPr>
          <p:cNvPr id="32" name="Text 32"/>
          <p:cNvSpPr txBox="1"/>
          <p:nvPr/>
        </p:nvSpPr>
        <p:spPr>
          <a:xfrm>
            <a:off x="4508500" y="1809750"/>
            <a:ext cx="7175500" cy="177800"/>
          </a:xfrm>
          <a:prstGeom prst="rect">
            <a:avLst/>
          </a:prstGeom>
          <a:noFill/>
          <a:ln>
            <a:noFill/>
          </a:ln>
        </p:spPr>
        <p:txBody>
          <a:bodyPr wrap="square" lIns="0" tIns="0" rIns="0" bIns="0" anchor="t">
            <a:noAutofit/>
          </a:bodyPr>
          <a:lstStyle/>
          <a:p>
            <a:pPr algn="l">
              <a:lnSpc>
                <a:spcPts val="1300"/>
              </a:lnSpc>
            </a:pPr>
            <a:r>
              <a:rPr lang="ko-KR" sz="1000" b="0">
                <a:solidFill>
                  <a:srgbClr val="142536"/>
                </a:solidFill>
                <a:latin typeface="Arial"/>
                <a:ea typeface="Malgun Gothic"/>
                <a:cs typeface="Arial"/>
              </a:rPr>
              <a:t xml:space="preserve">index.py의 InvertedIndex는 커밋이 만들어질 때마다(COMMIT 실행 시) 메시지를 미리 분해해 색인해 둡니다.</a:t>
            </a:r>
            <a:endParaRPr lang="ko-KR" sz="1000"/>
          </a:p>
        </p:txBody>
      </p:sp>
      <p:sp>
        <p:nvSpPr>
          <p:cNvPr id="33" name="Text 33"/>
          <p:cNvSpPr txBox="1"/>
          <p:nvPr/>
        </p:nvSpPr>
        <p:spPr>
          <a:xfrm>
            <a:off x="4508500" y="2038350"/>
            <a:ext cx="7175500" cy="1003300"/>
          </a:xfrm>
          <a:prstGeom prst="rect">
            <a:avLst/>
          </a:prstGeom>
          <a:noFill/>
          <a:ln>
            <a:noFill/>
          </a:ln>
        </p:spPr>
        <p:txBody>
          <a:bodyPr wrap="square" lIns="0" tIns="0" rIns="0" bIns="0" anchor="t">
            <a:noAutofit/>
          </a:bodyPr>
          <a:lstStyle/>
          <a:p>
            <a:pPr algn="l">
              <a:lnSpc>
                <a:spcPts val="1300"/>
              </a:lnSpc>
            </a:pPr>
            <a:r>
              <a:rPr lang="ko-KR" sz="1000" b="0">
                <a:solidFill>
                  <a:srgbClr val="142536"/>
                </a:solidFill>
                <a:latin typeface="Menlo"/>
                <a:ea typeface="Malgun Gothic"/>
                <a:cs typeface="Arial"/>
              </a:rPr>
              <a:t xml:space="preserve">def add_commit(self, commit):</a:t>
            </a:r>
            <a:endParaRPr lang="ko-KR" sz="1000"/>
          </a:p>
          <a:p>
            <a:pPr algn="l">
              <a:lnSpc>
                <a:spcPts val="1300"/>
              </a:lnSpc>
            </a:pPr>
            <a:r>
              <a:rPr lang="ko-KR" sz="1000" b="0">
                <a:solidFill>
                  <a:srgbClr val="142536"/>
                </a:solidFill>
                <a:latin typeface="Menlo"/>
                <a:ea typeface="Malgun Gothic"/>
                <a:cs typeface="Arial"/>
              </a:rPr>
              <a:t xml:space="preserve">    tokens = tuple(token.lower() for token in commit.message.split())</a:t>
            </a:r>
            <a:endParaRPr lang="ko-KR" sz="1000"/>
          </a:p>
          <a:p>
            <a:pPr algn="l">
              <a:lnSpc>
                <a:spcPts val="1300"/>
              </a:lnSpc>
            </a:pPr>
            <a:r>
              <a:rPr lang="ko-KR" sz="1000" b="0">
                <a:solidFill>
                  <a:srgbClr val="142536"/>
                </a:solidFill>
                <a:latin typeface="Menlo"/>
                <a:ea typeface="Malgun Gothic"/>
                <a:cs typeface="Arial"/>
              </a:rPr>
              <a:t xml:space="preserve">    self._message_tokens[commit.hash] = tokens</a:t>
            </a:r>
            <a:endParaRPr lang="ko-KR" sz="1000"/>
          </a:p>
          <a:p>
            <a:pPr algn="l">
              <a:lnSpc>
                <a:spcPts val="1300"/>
              </a:lnSpc>
            </a:pPr>
            <a:r>
              <a:rPr lang="ko-KR" sz="1000" b="0">
                <a:solidFill>
                  <a:srgbClr val="142536"/>
                </a:solidFill>
                <a:latin typeface="Menlo"/>
                <a:ea typeface="Malgun Gothic"/>
                <a:cs typeface="Arial"/>
              </a:rPr>
              <a:t xml:space="preserve">    for keyword in dict.fromkeys(tokens):  # 한 커밋 안의 반복 단어 제거</a:t>
            </a:r>
            <a:endParaRPr lang="ko-KR" sz="1000"/>
          </a:p>
          <a:p>
            <a:pPr algn="l">
              <a:lnSpc>
                <a:spcPts val="1300"/>
              </a:lnSpc>
            </a:pPr>
            <a:r>
              <a:rPr lang="ko-KR" sz="1000" b="0">
                <a:solidFill>
                  <a:srgbClr val="142536"/>
                </a:solidFill>
                <a:latin typeface="Menlo"/>
                <a:ea typeface="Malgun Gothic"/>
                <a:cs typeface="Arial"/>
              </a:rPr>
              <a:t xml:space="preserve">        self._keyword_index.setdefault(keyword, []).append(commit.hash)</a:t>
            </a:r>
            <a:endParaRPr lang="ko-KR" sz="1000"/>
          </a:p>
          <a:p>
            <a:pPr algn="l">
              <a:lnSpc>
                <a:spcPts val="1300"/>
              </a:lnSpc>
            </a:pPr>
            <a:r>
              <a:rPr lang="ko-KR" sz="1000" b="0">
                <a:solidFill>
                  <a:srgbClr val="142536"/>
                </a:solidFill>
                <a:latin typeface="Menlo"/>
                <a:ea typeface="Malgun Gothic"/>
                <a:cs typeface="Arial"/>
              </a:rPr>
              <a:t xml:space="preserve">    self._author_index.setdefault(commit.author, []).append(commit.hash)</a:t>
            </a:r>
            <a:endParaRPr lang="ko-KR" sz="1000"/>
          </a:p>
        </p:txBody>
      </p:sp>
      <p:sp>
        <p:nvSpPr>
          <p:cNvPr id="34" name="Text 34"/>
          <p:cNvSpPr txBox="1"/>
          <p:nvPr/>
        </p:nvSpPr>
        <p:spPr>
          <a:xfrm>
            <a:off x="4508500" y="3092450"/>
            <a:ext cx="7175500" cy="342900"/>
          </a:xfrm>
          <a:prstGeom prst="rect">
            <a:avLst/>
          </a:prstGeom>
          <a:noFill/>
          <a:ln>
            <a:noFill/>
          </a:ln>
        </p:spPr>
        <p:txBody>
          <a:bodyPr wrap="square" lIns="0" tIns="0" rIns="0" bIns="0" anchor="t">
            <a:noAutofit/>
          </a:bodyPr>
          <a:lstStyle/>
          <a:p>
            <a:pPr algn="l">
              <a:lnSpc>
                <a:spcPts val="1300"/>
              </a:lnSpc>
            </a:pPr>
            <a:r>
              <a:rPr lang="ko-KR" sz="1000" b="0">
                <a:solidFill>
                  <a:srgbClr val="142536"/>
                </a:solidFill>
                <a:latin typeface="Arial"/>
                <a:ea typeface="Malgun Gothic"/>
                <a:cs typeface="Arial"/>
              </a:rPr>
              <a:t xml:space="preserve">아주 쉬운 설명: 책 뒤에 붙어있는 "찾아보기(색인)"와 같은 원리입니다. 책을 읽을 때마다 처음부터 그 단어를 찾는 대신, 미리 " 이 단어는 몇 페이지에</a:t>
            </a:r>
            <a:endParaRPr lang="ko-KR" sz="1000"/>
          </a:p>
          <a:p>
            <a:pPr algn="l">
              <a:lnSpc>
                <a:spcPts val="1300"/>
              </a:lnSpc>
            </a:pPr>
            <a:r>
              <a:rPr lang="ko-KR" sz="1000" b="0">
                <a:solidFill>
                  <a:srgbClr val="142536"/>
                </a:solidFill>
                <a:latin typeface="Arial"/>
                <a:ea typeface="Malgun Gothic"/>
                <a:cs typeface="Arial"/>
              </a:rPr>
              <a:t xml:space="preserve">나온다"를 정리해 둔 목록을 보고 바로 그 페이지로 넘어가는 것과 같습니다. 여기서는 "이 단어는 어떤 커 밋(들)에 나온다"를 미리 정리해 둡니다.</a:t>
            </a:r>
            <a:endParaRPr lang="ko-KR" sz="1000"/>
          </a:p>
        </p:txBody>
      </p:sp>
      <p:sp>
        <p:nvSpPr>
          <p:cNvPr id="35" name="Text 35"/>
          <p:cNvSpPr txBox="1"/>
          <p:nvPr/>
        </p:nvSpPr>
        <p:spPr>
          <a:xfrm>
            <a:off x="4508500" y="3486150"/>
            <a:ext cx="7175500" cy="177800"/>
          </a:xfrm>
          <a:prstGeom prst="rect">
            <a:avLst/>
          </a:prstGeom>
          <a:noFill/>
          <a:ln>
            <a:noFill/>
          </a:ln>
        </p:spPr>
        <p:txBody>
          <a:bodyPr wrap="square" lIns="0" tIns="0" rIns="0" bIns="0" anchor="t">
            <a:noAutofit/>
          </a:bodyPr>
          <a:lstStyle/>
          <a:p>
            <a:pPr algn="l">
              <a:lnSpc>
                <a:spcPts val="1300"/>
              </a:lnSpc>
            </a:pPr>
            <a:r>
              <a:rPr lang="ko-KR" sz="1000" b="0">
                <a:solidFill>
                  <a:srgbClr val="142536"/>
                </a:solidFill>
                <a:latin typeface="Arial"/>
                <a:ea typeface="Malgun Gothic"/>
                <a:cs typeface="Arial"/>
              </a:rPr>
              <a:t xml:space="preserve">시간복잡도 비교:</a:t>
            </a:r>
            <a:endParaRPr lang="ko-KR" sz="1000"/>
          </a:p>
        </p:txBody>
      </p:sp>
      <p:sp>
        <p:nvSpPr>
          <p:cNvPr id="36" name="Text 36"/>
          <p:cNvSpPr txBox="1"/>
          <p:nvPr/>
        </p:nvSpPr>
        <p:spPr>
          <a:xfrm>
            <a:off x="4508500" y="3714750"/>
            <a:ext cx="7175500" cy="342900"/>
          </a:xfrm>
          <a:prstGeom prst="rect">
            <a:avLst/>
          </a:prstGeom>
          <a:noFill/>
          <a:ln>
            <a:noFill/>
          </a:ln>
        </p:spPr>
        <p:txBody>
          <a:bodyPr wrap="square" lIns="0" tIns="0" rIns="0" bIns="0" anchor="t">
            <a:noAutofit/>
          </a:bodyPr>
          <a:lstStyle/>
          <a:p>
            <a:pPr algn="l">
              <a:lnSpc>
                <a:spcPts val="1300"/>
              </a:lnSpc>
            </a:pPr>
            <a:r>
              <a:rPr lang="ko-KR" sz="1000" b="0">
                <a:solidFill>
                  <a:srgbClr val="142536"/>
                </a:solidFill>
                <a:latin typeface="Arial"/>
                <a:ea typeface="Malgun Gothic"/>
                <a:cs typeface="Arial"/>
              </a:rPr>
              <a:t xml:space="preserve">| 방식 | SEARCH 처리 방법 | 시간복잡도 | |---|---|---| | 순회 검색(역색인 없음) | 커밋 N개를 전부 훑으며 메시지 안에 키워 드가 있는지 매번 검사</a:t>
            </a:r>
            <a:endParaRPr lang="ko-KR" sz="1000"/>
          </a:p>
          <a:p>
            <a:pPr algn="l">
              <a:lnSpc>
                <a:spcPts val="1300"/>
              </a:lnSpc>
            </a:pPr>
            <a:r>
              <a:rPr lang="ko-KR" sz="1000" b="0">
                <a:solidFill>
                  <a:srgbClr val="142536"/>
                </a:solidFill>
                <a:latin typeface="Arial"/>
                <a:ea typeface="Malgun Gothic"/>
                <a:cs typeface="Arial"/>
              </a:rPr>
              <a:t xml:space="preserve">| O(N) | | 단어 역색인 검색 | keyword_index[키워드]를 딕셔너리에서 바로 조회 | 평균 O(1) + 결과 복 사 O(k), 검색어 정규화 비용 별도 |</a:t>
            </a:r>
            <a:endParaRPr lang="ko-KR" sz="1000"/>
          </a:p>
        </p:txBody>
      </p:sp>
      <p:sp>
        <p:nvSpPr>
          <p:cNvPr id="37" name="Text 37"/>
          <p:cNvSpPr txBox="1"/>
          <p:nvPr/>
        </p:nvSpPr>
        <p:spPr>
          <a:xfrm>
            <a:off x="4508500" y="4108450"/>
            <a:ext cx="7175500" cy="508000"/>
          </a:xfrm>
          <a:prstGeom prst="rect">
            <a:avLst/>
          </a:prstGeom>
          <a:noFill/>
          <a:ln>
            <a:noFill/>
          </a:ln>
        </p:spPr>
        <p:txBody>
          <a:bodyPr wrap="square" lIns="0" tIns="0" rIns="0" bIns="0" anchor="t">
            <a:noAutofit/>
          </a:bodyPr>
          <a:lstStyle/>
          <a:p>
            <a:pPr algn="l">
              <a:lnSpc>
                <a:spcPts val="1300"/>
              </a:lnSpc>
            </a:pPr>
            <a:r>
              <a:rPr lang="ko-KR" sz="1000" b="0">
                <a:solidFill>
                  <a:srgbClr val="142536"/>
                </a:solidFill>
                <a:latin typeface="Arial"/>
                <a:ea typeface="Malgun Gothic"/>
                <a:cs typeface="Arial"/>
              </a:rPr>
              <a:t xml:space="preserve">커밋이 10개면 차이가 크게 안 느껴지지만, 커밋이 100만 개라면 순회 검색은 매번 100만 번을 다 훑어야 하는 반면, 역색인은 여전히 거의 즉시 결과</a:t>
            </a:r>
            <a:endParaRPr lang="ko-KR" sz="1000"/>
          </a:p>
          <a:p>
            <a:pPr algn="l">
              <a:lnSpc>
                <a:spcPts val="1300"/>
              </a:lnSpc>
            </a:pPr>
            <a:r>
              <a:rPr lang="ko-KR" sz="1000" b="0">
                <a:solidFill>
                  <a:srgbClr val="142536"/>
                </a:solidFill>
                <a:latin typeface="Arial"/>
                <a:ea typeface="Malgun Gothic"/>
                <a:cs typeface="Arial"/>
              </a:rPr>
              <a:t xml:space="preserve">를 돌려줍니다. 대신 "커밋을 만들 때마다 미리 색인해두는" 비용(메시지 길이에 비례하는 O(m))을 매번 지 불하는 트레이드오프입니다 — 검색이 저</a:t>
            </a:r>
            <a:endParaRPr lang="ko-KR" sz="1000"/>
          </a:p>
          <a:p>
            <a:pPr algn="l">
              <a:lnSpc>
                <a:spcPts val="1300"/>
              </a:lnSpc>
            </a:pPr>
            <a:r>
              <a:rPr lang="ko-KR" sz="1000" b="0">
                <a:solidFill>
                  <a:srgbClr val="142536"/>
                </a:solidFill>
                <a:latin typeface="Arial"/>
                <a:ea typeface="Malgun Gothic"/>
                <a:cs typeface="Arial"/>
              </a:rPr>
              <a:t xml:space="preserve">장보다 훨씬 자주 일어나는 상황(Git 로그처럼 한 번 만든 커밋을 여러 번 찾아보는 경우 )에 유리한 구조입니다.</a:t>
            </a:r>
            <a:endParaRPr lang="ko-KR" sz="1000"/>
          </a:p>
        </p:txBody>
      </p:sp>
      <p:sp>
        <p:nvSpPr>
          <p:cNvPr id="38" name="Text 38"/>
          <p:cNvSpPr txBox="1"/>
          <p:nvPr/>
        </p:nvSpPr>
        <p:spPr>
          <a:xfrm>
            <a:off x="4508500" y="4667250"/>
            <a:ext cx="7175500" cy="342900"/>
          </a:xfrm>
          <a:prstGeom prst="rect">
            <a:avLst/>
          </a:prstGeom>
          <a:noFill/>
          <a:ln>
            <a:noFill/>
          </a:ln>
        </p:spPr>
        <p:txBody>
          <a:bodyPr wrap="square" lIns="0" tIns="0" rIns="0" bIns="0" anchor="t">
            <a:noAutofit/>
          </a:bodyPr>
          <a:lstStyle/>
          <a:p>
            <a:pPr algn="l">
              <a:lnSpc>
                <a:spcPts val="1300"/>
              </a:lnSpc>
            </a:pPr>
            <a:r>
              <a:rPr lang="ko-KR" sz="1000" b="0">
                <a:solidFill>
                  <a:srgbClr val="142536"/>
                </a:solidFill>
                <a:latin typeface="Arial"/>
                <a:ea typeface="Malgun Gothic"/>
                <a:cs typeface="Arial"/>
              </a:rPr>
              <a:t xml:space="preserve">author 검색도 같은 원리: author_index[작성자명]으로 바로 조회하므로, "이 사람이 만든 커밋을 모두 보여줘"도 전체 순회 없 이 평균 O(1) 조회와</a:t>
            </a:r>
            <a:endParaRPr lang="ko-KR" sz="1000"/>
          </a:p>
          <a:p>
            <a:pPr algn="l">
              <a:lnSpc>
                <a:spcPts val="1300"/>
              </a:lnSpc>
            </a:pPr>
            <a:r>
              <a:rPr lang="ko-KR" sz="1000" b="0">
                <a:solidFill>
                  <a:srgbClr val="142536"/>
                </a:solidFill>
                <a:latin typeface="Arial"/>
                <a:ea typeface="Malgun Gothic"/>
                <a:cs typeface="Arial"/>
              </a:rPr>
              <a:t xml:space="preserve">O(k) 결과 복사로 처리됩니다. 이름 길이에 따른 해싱 비용은 별도입니다.</a:t>
            </a:r>
            <a:endParaRPr lang="ko-KR" sz="1000"/>
          </a:p>
        </p:txBody>
      </p:sp>
      <p:sp>
        <p:nvSpPr>
          <p:cNvPr id="39" name="Text 39"/>
          <p:cNvSpPr txBox="1"/>
          <p:nvPr/>
        </p:nvSpPr>
        <p:spPr>
          <a:xfrm>
            <a:off x="4508500" y="5060950"/>
            <a:ext cx="7175500" cy="508000"/>
          </a:xfrm>
          <a:prstGeom prst="rect">
            <a:avLst/>
          </a:prstGeom>
          <a:noFill/>
          <a:ln>
            <a:noFill/>
          </a:ln>
        </p:spPr>
        <p:txBody>
          <a:bodyPr wrap="square" lIns="0" tIns="0" rIns="0" bIns="0" anchor="t">
            <a:noAutofit/>
          </a:bodyPr>
          <a:lstStyle/>
          <a:p>
            <a:pPr algn="l">
              <a:lnSpc>
                <a:spcPts val="1300"/>
              </a:lnSpc>
            </a:pPr>
            <a:r>
              <a:rPr lang="ko-KR" sz="1000" b="0">
                <a:solidFill>
                  <a:srgbClr val="142536"/>
                </a:solidFill>
                <a:latin typeface="Arial"/>
                <a:ea typeface="Malgun Gothic"/>
                <a:cs typeface="Arial"/>
              </a:rPr>
              <a:t xml:space="preserve">실제 확인: 제출/results/06_SEARCH.txt에서 search login이 정확히 1건(Add login feature)을, search --author="Alice Kim "이 3건(전체)을, 없</a:t>
            </a:r>
            <a:endParaRPr lang="ko-KR" sz="1000"/>
          </a:p>
          <a:p>
            <a:pPr algn="l">
              <a:lnSpc>
                <a:spcPts val="1300"/>
              </a:lnSpc>
            </a:pPr>
            <a:r>
              <a:rPr lang="ko-KR" sz="1000" b="0">
                <a:solidFill>
                  <a:srgbClr val="142536"/>
                </a:solidFill>
                <a:latin typeface="Arial"/>
                <a:ea typeface="Malgun Gothic"/>
                <a:cs typeface="Arial"/>
              </a:rPr>
              <a:t xml:space="preserve">는 키워드는 0건을 반환함을 확인했습니다. 대소문자가 섞인 메시지도 "Login"으로 검색하면 매칭되는지(소 문자 정규화 확인) 별도 단위 테스트로도</a:t>
            </a:r>
            <a:endParaRPr lang="ko-KR" sz="1000"/>
          </a:p>
          <a:p>
            <a:pPr algn="l">
              <a:lnSpc>
                <a:spcPts val="1300"/>
              </a:lnSpc>
            </a:pPr>
            <a:r>
              <a:rPr lang="ko-KR" sz="1000" b="0">
                <a:solidFill>
                  <a:srgbClr val="142536"/>
                </a:solidFill>
                <a:latin typeface="Arial"/>
                <a:ea typeface="Malgun Gothic"/>
                <a:cs typeface="Arial"/>
              </a:rPr>
              <a:t xml:space="preserve">검증했습니다(tests/test_mini_git.py).</a:t>
            </a:r>
            <a:endParaRPr lang="ko-KR" sz="1000"/>
          </a:p>
        </p:txBody>
      </p:sp>
      <p:sp>
        <p:nvSpPr>
          <p:cNvPr id="40" name="Text 40"/>
          <p:cNvSpPr txBox="1"/>
          <p:nvPr/>
        </p:nvSpPr>
        <p:spPr>
          <a:xfrm>
            <a:off x="4508500" y="5619750"/>
            <a:ext cx="7175500" cy="508000"/>
          </a:xfrm>
          <a:prstGeom prst="rect">
            <a:avLst/>
          </a:prstGeom>
          <a:noFill/>
          <a:ln>
            <a:noFill/>
          </a:ln>
        </p:spPr>
        <p:txBody>
          <a:bodyPr wrap="square" lIns="0" tIns="0" rIns="0" bIns="0" anchor="t">
            <a:noAutofit/>
          </a:bodyPr>
          <a:lstStyle/>
          <a:p>
            <a:pPr algn="l">
              <a:lnSpc>
                <a:spcPts val="1300"/>
              </a:lnSpc>
            </a:pPr>
            <a:r>
              <a:rPr lang="ko-KR" sz="1000" b="0">
                <a:solidFill>
                  <a:srgbClr val="142536"/>
                </a:solidFill>
                <a:latin typeface="Arial"/>
                <a:ea typeface="Malgun Gothic"/>
                <a:cs typeface="Arial"/>
              </a:rPr>
              <a:t xml:space="preserve">역색인의 역은 커밋에서 단어를 찾는 대신 단어에서 커밋을 찾는다는 의미입니다. 키워드를 담는 dict와 작성자를 담는 dict 두 종류를 사용합니다. 한</a:t>
            </a:r>
            <a:endParaRPr lang="ko-KR" sz="1000"/>
          </a:p>
          <a:p>
            <a:pPr algn="l">
              <a:lnSpc>
                <a:spcPts val="1300"/>
              </a:lnSpc>
            </a:pPr>
            <a:r>
              <a:rPr lang="ko-KR" sz="1000" b="0">
                <a:solidFill>
                  <a:srgbClr val="142536"/>
                </a:solidFill>
                <a:latin typeface="Arial"/>
                <a:ea typeface="Malgun Gothic"/>
                <a:cs typeface="Arial"/>
              </a:rPr>
              <a:t xml:space="preserve">메시지의 login이 세 번 반복되어도 그 커밋 hash는 해당 목록에 한 번만 들어갑니다. 쓰기 시점의 색인 비용과 추가 메모리 대신 검색 속도를 얻습니</a:t>
            </a:r>
            <a:endParaRPr lang="ko-KR" sz="1000"/>
          </a:p>
          <a:p>
            <a:pPr algn="l">
              <a:lnSpc>
                <a:spcPts val="1300"/>
              </a:lnSpc>
            </a:pPr>
            <a:r>
              <a:rPr lang="ko-KR" sz="1000" b="0">
                <a:solidFill>
                  <a:srgbClr val="142536"/>
                </a:solidFill>
                <a:latin typeface="Arial"/>
                <a:ea typeface="Malgun Gothic"/>
                <a:cs typeface="Arial"/>
              </a:rPr>
              <a:t xml:space="preserve">다. 해싱과 정규화는 문자열 길이만큼 비용이 별도로 듭니다.</a:t>
            </a:r>
            <a:endParaRPr lang="ko-KR" sz="1000"/>
          </a:p>
        </p:txBody>
      </p:sp>
      <p:sp>
        <p:nvSpPr>
          <p:cNvPr id="41" name="Text 41"/>
          <p:cNvSpPr txBox="1"/>
          <p:nvPr/>
        </p:nvSpPr>
        <p:spPr>
          <a:xfrm>
            <a:off x="508000" y="6299200"/>
            <a:ext cx="11176000" cy="22860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커밋을 만들 때 단어별 커밋 목록을 준비해서, 검색 때 바로 꺼냅니다.</a:t>
            </a:r>
            <a:endParaRPr lang="ko-KR" sz="1250"/>
          </a:p>
        </p:txBody>
      </p:sp>
      <p:sp>
        <p:nvSpPr>
          <p:cNvPr id="42" name="Text 42"/>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mini_git/index.py: add_commit(), search_keyword(), search_author() · 평가질문_설명자료.md</a:t>
            </a:r>
            <a:endParaRPr lang="ko-KR" sz="1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공백 포함 검색은 ‘연속 구문’으로">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EXPLAIN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21 / 26</a:t>
            </a:r>
            <a:endParaRPr lang="ko-KR" sz="1250"/>
          </a:p>
        </p:txBody>
      </p:sp>
      <p:sp>
        <p:nvSpPr>
          <p:cNvPr id="5" name="Text 5"/>
          <p:cNvSpPr txBox="1"/>
          <p:nvPr/>
        </p:nvSpPr>
        <p:spPr>
          <a:xfrm>
            <a:off x="508000" y="793750"/>
            <a:ext cx="11176000" cy="635000"/>
          </a:xfrm>
          <a:prstGeom prst="rect">
            <a:avLst/>
          </a:prstGeom>
          <a:noFill/>
          <a:ln>
            <a:noFill/>
          </a:ln>
        </p:spPr>
        <p:txBody>
          <a:bodyPr wrap="square" lIns="0" tIns="0" rIns="0" bIns="0" anchor="t">
            <a:noAutofit/>
          </a:bodyPr>
          <a:lstStyle/>
          <a:p>
            <a:pPr algn="l">
              <a:lnSpc>
                <a:spcPts val="3900"/>
              </a:lnSpc>
            </a:pPr>
            <a:r>
              <a:rPr lang="ko-KR" sz="3000" b="1">
                <a:solidFill>
                  <a:srgbClr val="142536"/>
                </a:solidFill>
                <a:latin typeface="Arial"/>
                <a:ea typeface="Malgun Gothic"/>
                <a:cs typeface="Arial"/>
              </a:rPr>
              <a:t xml:space="preserve">공백 포함 검색은 ‘연속 구문’으로</a:t>
            </a:r>
            <a:endParaRPr lang="ko-KR" sz="3000"/>
          </a:p>
        </p:txBody>
      </p:sp>
      <p:sp>
        <p:nvSpPr>
          <p:cNvPr id="6" name="Text 6"/>
          <p:cNvSpPr txBox="1"/>
          <p:nvPr/>
        </p:nvSpPr>
        <p:spPr>
          <a:xfrm>
            <a:off x="571500" y="1492250"/>
            <a:ext cx="3683000" cy="24130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핵심 · 그림 · 실행</a:t>
            </a:r>
            <a:endParaRPr lang="ko-KR" sz="1300"/>
          </a:p>
        </p:txBody>
      </p:sp>
      <p:sp>
        <p:nvSpPr>
          <p:cNvPr id="7" name="Text 7"/>
          <p:cNvSpPr txBox="1"/>
          <p:nvPr/>
        </p:nvSpPr>
        <p:spPr>
          <a:xfrm>
            <a:off x="4508500" y="1492250"/>
            <a:ext cx="7175500" cy="24130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상세 설명 · 코드 · 문답 전체</a:t>
            </a:r>
            <a:endParaRPr lang="ko-KR" sz="1300"/>
          </a:p>
        </p:txBody>
      </p:sp>
      <p:sp>
        <p:nvSpPr>
          <p:cNvPr id="8" name="Shape 8"/>
          <p:cNvSpPr/>
          <p:nvPr/>
        </p:nvSpPr>
        <p:spPr>
          <a:xfrm>
            <a:off x="4349750" y="1778000"/>
            <a:ext cx="12700" cy="4381500"/>
          </a:xfrm>
          <a:prstGeom prst="rect">
            <a:avLst/>
          </a:prstGeom>
          <a:solidFill>
            <a:srgbClr val="D7DFDB"/>
          </a:solidFill>
          <a:ln>
            <a:noFill/>
          </a:ln>
        </p:spPr>
      </p:sp>
      <p:sp>
        <p:nvSpPr>
          <p:cNvPr id="9" name="Text 9"/>
          <p:cNvSpPr txBox="1"/>
          <p:nvPr/>
        </p:nvSpPr>
        <p:spPr>
          <a:xfrm>
            <a:off x="571500" y="1809750"/>
            <a:ext cx="3683000" cy="243840"/>
          </a:xfrm>
          <a:prstGeom prst="rect">
            <a:avLst/>
          </a:prstGeom>
          <a:noFill/>
          <a:ln>
            <a:noFill/>
          </a:ln>
        </p:spPr>
        <p:txBody>
          <a:bodyPr wrap="square" lIns="0" tIns="0" rIns="0" bIns="0" anchor="t">
            <a:noAutofit/>
          </a:bodyPr>
          <a:lstStyle/>
          <a:p>
            <a:pPr algn="l">
              <a:lnSpc>
                <a:spcPts val="1820"/>
              </a:lnSpc>
            </a:pPr>
            <a:r>
              <a:rPr lang="ko-KR" sz="1400" b="1">
                <a:solidFill>
                  <a:srgbClr val="168B82"/>
                </a:solidFill>
                <a:latin typeface="Arial"/>
                <a:ea typeface="Malgun Gothic"/>
                <a:cs typeface="Arial"/>
              </a:rPr>
              <a:t xml:space="preserve">SEARCH "login feature"</a:t>
            </a:r>
            <a:endParaRPr lang="ko-KR" sz="1400"/>
          </a:p>
        </p:txBody>
      </p:sp>
      <p:sp>
        <p:nvSpPr>
          <p:cNvPr id="10" name="Text 10"/>
          <p:cNvSpPr txBox="1"/>
          <p:nvPr/>
        </p:nvSpPr>
        <p:spPr>
          <a:xfrm>
            <a:off x="571500" y="2104390"/>
            <a:ext cx="3683000" cy="70612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Arial"/>
                <a:ea typeface="Malgun Gothic"/>
                <a:cs typeface="Arial"/>
              </a:rPr>
              <a:t xml:space="preserve">Add Login Feature → 일치 login another feature →</a:t>
            </a:r>
            <a:endParaRPr lang="ko-KR" sz="1400"/>
          </a:p>
          <a:p>
            <a:pPr algn="l">
              <a:lnSpc>
                <a:spcPts val="1820"/>
              </a:lnSpc>
            </a:pPr>
            <a:r>
              <a:rPr lang="ko-KR" sz="1400" b="0">
                <a:solidFill>
                  <a:srgbClr val="142536"/>
                </a:solidFill>
                <a:latin typeface="Arial"/>
                <a:ea typeface="Malgun Gothic"/>
                <a:cs typeface="Arial"/>
              </a:rPr>
              <a:t xml:space="preserve">불일치 feature login → 불일치 대소문자·공백 수는 무</a:t>
            </a:r>
            <a:endParaRPr lang="ko-KR" sz="1400"/>
          </a:p>
          <a:p>
            <a:pPr algn="l">
              <a:lnSpc>
                <a:spcPts val="1820"/>
              </a:lnSpc>
            </a:pPr>
            <a:r>
              <a:rPr lang="ko-KR" sz="1400" b="0">
                <a:solidFill>
                  <a:srgbClr val="142536"/>
                </a:solidFill>
                <a:latin typeface="Arial"/>
                <a:ea typeface="Malgun Gothic"/>
                <a:cs typeface="Arial"/>
              </a:rPr>
              <a:t xml:space="preserve">시</a:t>
            </a:r>
            <a:endParaRPr lang="ko-KR" sz="1400"/>
          </a:p>
        </p:txBody>
      </p:sp>
      <p:sp>
        <p:nvSpPr>
          <p:cNvPr id="11" name="Text 11"/>
          <p:cNvSpPr txBox="1"/>
          <p:nvPr/>
        </p:nvSpPr>
        <p:spPr>
          <a:xfrm>
            <a:off x="571500" y="2861310"/>
            <a:ext cx="3683000" cy="243840"/>
          </a:xfrm>
          <a:prstGeom prst="rect">
            <a:avLst/>
          </a:prstGeom>
          <a:noFill/>
          <a:ln>
            <a:noFill/>
          </a:ln>
        </p:spPr>
        <p:txBody>
          <a:bodyPr wrap="square" lIns="0" tIns="0" rIns="0" bIns="0" anchor="t">
            <a:noAutofit/>
          </a:bodyPr>
          <a:lstStyle/>
          <a:p>
            <a:pPr algn="l">
              <a:lnSpc>
                <a:spcPts val="1820"/>
              </a:lnSpc>
            </a:pPr>
            <a:r>
              <a:rPr lang="ko-KR" sz="1400" b="1">
                <a:solidFill>
                  <a:srgbClr val="168B82"/>
                </a:solidFill>
                <a:latin typeface="Arial"/>
                <a:ea typeface="Malgun Gothic"/>
                <a:cs typeface="Arial"/>
              </a:rPr>
              <a:t xml:space="preserve">후보 선택과 비용</a:t>
            </a:r>
            <a:endParaRPr lang="ko-KR" sz="1400"/>
          </a:p>
        </p:txBody>
      </p:sp>
      <p:sp>
        <p:nvSpPr>
          <p:cNvPr id="12" name="Text 12"/>
          <p:cNvSpPr txBox="1"/>
          <p:nvPr/>
        </p:nvSpPr>
        <p:spPr>
          <a:xfrm>
            <a:off x="571500" y="3155950"/>
            <a:ext cx="3683000" cy="70612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Arial"/>
                <a:ea typeface="Malgun Gothic"/>
                <a:cs typeface="Arial"/>
              </a:rPr>
              <a:t xml:space="preserve">login 목록과 feature 목록 중 작은 목록 선택 후보의</a:t>
            </a:r>
            <a:endParaRPr lang="ko-KR" sz="1400"/>
          </a:p>
          <a:p>
            <a:pPr algn="l">
              <a:lnSpc>
                <a:spcPts val="1820"/>
              </a:lnSpc>
            </a:pPr>
            <a:r>
              <a:rPr lang="ko-KR" sz="1400" b="0">
                <a:solidFill>
                  <a:srgbClr val="142536"/>
                </a:solidFill>
                <a:latin typeface="Arial"/>
                <a:ea typeface="Malgun Gothic"/>
                <a:cs typeface="Arial"/>
              </a:rPr>
              <a:t xml:space="preserve">토큰이 연속해서 같은지 확인 구문 길이 q, 후보 토큰</a:t>
            </a:r>
            <a:endParaRPr lang="ko-KR" sz="1400"/>
          </a:p>
          <a:p>
            <a:pPr algn="l">
              <a:lnSpc>
                <a:spcPts val="1820"/>
              </a:lnSpc>
            </a:pPr>
            <a:r>
              <a:rPr lang="ko-KR" sz="1400" b="0">
                <a:solidFill>
                  <a:srgbClr val="142536"/>
                </a:solidFill>
                <a:latin typeface="Arial"/>
                <a:ea typeface="Malgun Gothic"/>
                <a:cs typeface="Arial"/>
              </a:rPr>
              <a:t xml:space="preserve">합 T 후보 검사: 최악 O(T·q)</a:t>
            </a:r>
            <a:endParaRPr lang="ko-KR" sz="1400"/>
          </a:p>
        </p:txBody>
      </p:sp>
      <p:sp>
        <p:nvSpPr>
          <p:cNvPr id="13" name="Text 13"/>
          <p:cNvSpPr txBox="1"/>
          <p:nvPr/>
        </p:nvSpPr>
        <p:spPr>
          <a:xfrm>
            <a:off x="571500" y="3912870"/>
            <a:ext cx="3683000" cy="243840"/>
          </a:xfrm>
          <a:prstGeom prst="rect">
            <a:avLst/>
          </a:prstGeom>
          <a:noFill/>
          <a:ln>
            <a:noFill/>
          </a:ln>
        </p:spPr>
        <p:txBody>
          <a:bodyPr wrap="square" lIns="0" tIns="0" rIns="0" bIns="0" anchor="t">
            <a:noAutofit/>
          </a:bodyPr>
          <a:lstStyle/>
          <a:p>
            <a:pPr algn="l">
              <a:lnSpc>
                <a:spcPts val="1820"/>
              </a:lnSpc>
            </a:pPr>
            <a:r>
              <a:rPr lang="ko-KR" sz="1400" b="1">
                <a:solidFill>
                  <a:srgbClr val="168B82"/>
                </a:solidFill>
                <a:latin typeface="Arial"/>
                <a:ea typeface="Malgun Gothic"/>
                <a:cs typeface="Arial"/>
              </a:rPr>
              <a:t xml:space="preserve">실행 확인 · mini-git&gt; · 5페이지 실습 이후 추가 입력</a:t>
            </a:r>
            <a:endParaRPr lang="ko-KR" sz="1400"/>
          </a:p>
        </p:txBody>
      </p:sp>
      <p:sp>
        <p:nvSpPr>
          <p:cNvPr id="14" name="Text 14"/>
          <p:cNvSpPr txBox="1"/>
          <p:nvPr/>
        </p:nvSpPr>
        <p:spPr>
          <a:xfrm>
            <a:off x="571500" y="4207510"/>
            <a:ext cx="3683000" cy="70612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Menlo"/>
                <a:ea typeface="Malgun Gothic"/>
                <a:cs typeface="Arial"/>
              </a:rPr>
              <a:t xml:space="preserve">COMMIT "login another feature"</a:t>
            </a:r>
            <a:endParaRPr lang="ko-KR" sz="1400"/>
          </a:p>
          <a:p>
            <a:pPr algn="l">
              <a:lnSpc>
                <a:spcPts val="1820"/>
              </a:lnSpc>
            </a:pPr>
            <a:r>
              <a:rPr lang="ko-KR" sz="1400" b="0">
                <a:solidFill>
                  <a:srgbClr val="142536"/>
                </a:solidFill>
                <a:latin typeface="Menlo"/>
                <a:ea typeface="Malgun Gothic"/>
                <a:cs typeface="Arial"/>
              </a:rPr>
              <a:t xml:space="preserve">COMMIT "feature login"</a:t>
            </a:r>
            <a:endParaRPr lang="ko-KR" sz="1400"/>
          </a:p>
          <a:p>
            <a:pPr algn="l">
              <a:lnSpc>
                <a:spcPts val="1820"/>
              </a:lnSpc>
            </a:pPr>
            <a:r>
              <a:rPr lang="ko-KR" sz="1400" b="0">
                <a:solidFill>
                  <a:srgbClr val="142536"/>
                </a:solidFill>
                <a:latin typeface="Menlo"/>
                <a:ea typeface="Malgun Gothic"/>
                <a:cs typeface="Arial"/>
              </a:rPr>
              <a:t xml:space="preserve">SEARCH "login feature"</a:t>
            </a:r>
            <a:endParaRPr lang="ko-KR" sz="1400"/>
          </a:p>
        </p:txBody>
      </p:sp>
      <p:sp>
        <p:nvSpPr>
          <p:cNvPr id="15" name="Text 15"/>
          <p:cNvSpPr txBox="1"/>
          <p:nvPr/>
        </p:nvSpPr>
        <p:spPr>
          <a:xfrm>
            <a:off x="571500" y="4964430"/>
            <a:ext cx="3683000" cy="47498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Arial"/>
                <a:ea typeface="Malgun Gothic"/>
                <a:cs typeface="Arial"/>
              </a:rPr>
              <a:t xml:space="preserve">확인: Add login feature만 일치. 추가 두 커밋은 단어</a:t>
            </a:r>
            <a:endParaRPr lang="ko-KR" sz="1400"/>
          </a:p>
          <a:p>
            <a:pPr algn="l">
              <a:lnSpc>
                <a:spcPts val="1820"/>
              </a:lnSpc>
            </a:pPr>
            <a:r>
              <a:rPr lang="ko-KR" sz="1400" b="0">
                <a:solidFill>
                  <a:srgbClr val="142536"/>
                </a:solidFill>
                <a:latin typeface="Arial"/>
                <a:ea typeface="Malgun Gothic"/>
                <a:cs typeface="Arial"/>
              </a:rPr>
              <a:t xml:space="preserve">가 연속하지 않거나 순서가 반대여서 제외</a:t>
            </a:r>
            <a:endParaRPr lang="ko-KR" sz="1400"/>
          </a:p>
        </p:txBody>
      </p:sp>
      <p:sp>
        <p:nvSpPr>
          <p:cNvPr id="16" name="Text 16"/>
          <p:cNvSpPr txBox="1"/>
          <p:nvPr/>
        </p:nvSpPr>
        <p:spPr>
          <a:xfrm>
            <a:off x="4508500" y="1809750"/>
            <a:ext cx="7175500" cy="1333500"/>
          </a:xfrm>
          <a:prstGeom prst="rect">
            <a:avLst/>
          </a:prstGeom>
          <a:noFill/>
          <a:ln>
            <a:noFill/>
          </a:ln>
        </p:spPr>
        <p:txBody>
          <a:bodyPr wrap="square" lIns="0" tIns="0" rIns="0" bIns="0" anchor="t">
            <a:noAutofit/>
          </a:bodyPr>
          <a:lstStyle/>
          <a:p>
            <a:pPr algn="l">
              <a:lnSpc>
                <a:spcPts val="2080"/>
              </a:lnSpc>
            </a:pPr>
            <a:r>
              <a:rPr lang="ko-KR" sz="1600" b="0">
                <a:solidFill>
                  <a:srgbClr val="142536"/>
                </a:solidFill>
                <a:latin typeface="Arial"/>
                <a:ea typeface="Malgun Gothic"/>
                <a:cs typeface="Arial"/>
              </a:rPr>
              <a:t xml:space="preserve">공백 포함 구문 검색: SEARCH "login feature"는 가장 드문 단어의 역색인 후보만 가져와</a:t>
            </a:r>
            <a:endParaRPr lang="ko-KR" sz="1600"/>
          </a:p>
          <a:p>
            <a:pPr algn="l">
              <a:lnSpc>
                <a:spcPts val="2080"/>
              </a:lnSpc>
            </a:pPr>
            <a:r>
              <a:rPr lang="ko-KR" sz="1600" b="0">
                <a:solidFill>
                  <a:srgbClr val="142536"/>
                </a:solidFill>
                <a:latin typeface="Arial"/>
                <a:ea typeface="Malgun Gothic"/>
                <a:cs typeface="Arial"/>
              </a:rPr>
              <a:t xml:space="preserve">메시지 토큰이 연속해서 일치하는지 검사합니다. 토큰의 순서와 반복 횟수는 구분하고 대소</a:t>
            </a:r>
            <a:endParaRPr lang="ko-KR" sz="1600"/>
          </a:p>
          <a:p>
            <a:pPr algn="l">
              <a:lnSpc>
                <a:spcPts val="2080"/>
              </a:lnSpc>
            </a:pPr>
            <a:r>
              <a:rPr lang="ko-KR" sz="1600" b="0">
                <a:solidFill>
                  <a:srgbClr val="142536"/>
                </a:solidFill>
                <a:latin typeface="Arial"/>
                <a:ea typeface="Malgun Gothic"/>
                <a:cs typeface="Arial"/>
              </a:rPr>
              <a:t xml:space="preserve">문자와 공백 수는 무시합니다. 구문 길이를 q, 후보 메시지들의 토큰 수 합 을 T라 하면 후보</a:t>
            </a:r>
            <a:endParaRPr lang="ko-KR" sz="1600"/>
          </a:p>
          <a:p>
            <a:pPr algn="l">
              <a:lnSpc>
                <a:spcPts val="2080"/>
              </a:lnSpc>
            </a:pPr>
            <a:r>
              <a:rPr lang="ko-KR" sz="1600" b="0">
                <a:solidFill>
                  <a:srgbClr val="142536"/>
                </a:solidFill>
                <a:latin typeface="Arial"/>
                <a:ea typeface="Malgun Gothic"/>
                <a:cs typeface="Arial"/>
              </a:rPr>
              <a:t xml:space="preserve">검사는 최악 O(T·q)이며, 결과 출력 O(k)와 검색어 정규화 비용이 추가됩니다. 후보가 전체</a:t>
            </a:r>
            <a:endParaRPr lang="ko-KR" sz="1600"/>
          </a:p>
          <a:p>
            <a:pPr algn="l">
              <a:lnSpc>
                <a:spcPts val="2080"/>
              </a:lnSpc>
            </a:pPr>
            <a:r>
              <a:rPr lang="ko-KR" sz="1600" b="0">
                <a:solidFill>
                  <a:srgbClr val="142536"/>
                </a:solidFill>
                <a:latin typeface="Arial"/>
                <a:ea typeface="Malgun Gothic"/>
                <a:cs typeface="Arial"/>
              </a:rPr>
              <a:t xml:space="preserve">커밋에 해당할 수 있으므로 구문 검색을 항상 O(1)이라 말할 수는 없습니다.</a:t>
            </a:r>
            <a:endParaRPr lang="ko-KR" sz="1600"/>
          </a:p>
        </p:txBody>
      </p:sp>
      <p:sp>
        <p:nvSpPr>
          <p:cNvPr id="17" name="Text 17"/>
          <p:cNvSpPr txBox="1"/>
          <p:nvPr/>
        </p:nvSpPr>
        <p:spPr>
          <a:xfrm>
            <a:off x="4508500" y="3194050"/>
            <a:ext cx="7175500" cy="1069340"/>
          </a:xfrm>
          <a:prstGeom prst="rect">
            <a:avLst/>
          </a:prstGeom>
          <a:noFill/>
          <a:ln>
            <a:noFill/>
          </a:ln>
        </p:spPr>
        <p:txBody>
          <a:bodyPr wrap="square" lIns="0" tIns="0" rIns="0" bIns="0" anchor="t">
            <a:noAutofit/>
          </a:bodyPr>
          <a:lstStyle/>
          <a:p>
            <a:pPr algn="l">
              <a:lnSpc>
                <a:spcPts val="2080"/>
              </a:lnSpc>
            </a:pPr>
            <a:r>
              <a:rPr lang="ko-KR" sz="1600" b="0">
                <a:solidFill>
                  <a:srgbClr val="142536"/>
                </a:solidFill>
                <a:latin typeface="Arial"/>
                <a:ea typeface="Malgun Gothic"/>
                <a:cs typeface="Arial"/>
              </a:rPr>
              <a:t xml:space="preserve">이 검색은 부분 문자열 검색이 아닙니다. login으로 logging을 찾지 않습니다. 여러 단어를</a:t>
            </a:r>
            <a:endParaRPr lang="ko-KR" sz="1600"/>
          </a:p>
          <a:p>
            <a:pPr algn="l">
              <a:lnSpc>
                <a:spcPts val="2080"/>
              </a:lnSpc>
            </a:pPr>
            <a:r>
              <a:rPr lang="ko-KR" sz="1600" b="0">
                <a:solidFill>
                  <a:srgbClr val="142536"/>
                </a:solidFill>
                <a:latin typeface="Arial"/>
                <a:ea typeface="Malgun Gothic"/>
                <a:cs typeface="Arial"/>
              </a:rPr>
              <a:t xml:space="preserve">검색할 때 단어가 다 있다는 사실만으로는 부족합니다. 붙어 있는지, 순서가 맞는지, 같은 단</a:t>
            </a:r>
            <a:endParaRPr lang="ko-KR" sz="1600"/>
          </a:p>
          <a:p>
            <a:pPr algn="l">
              <a:lnSpc>
                <a:spcPts val="2080"/>
              </a:lnSpc>
            </a:pPr>
            <a:r>
              <a:rPr lang="ko-KR" sz="1600" b="0">
                <a:solidFill>
                  <a:srgbClr val="142536"/>
                </a:solidFill>
                <a:latin typeface="Arial"/>
                <a:ea typeface="Malgun Gothic"/>
                <a:cs typeface="Arial"/>
              </a:rPr>
              <a:t xml:space="preserve">어를 반복한 구문인지 확인해야 합니다. 모든 커밋에 흔한 단어라면 후보가 많아질 수 있으</a:t>
            </a:r>
            <a:endParaRPr lang="ko-KR" sz="1600"/>
          </a:p>
          <a:p>
            <a:pPr algn="l">
              <a:lnSpc>
                <a:spcPts val="2080"/>
              </a:lnSpc>
            </a:pPr>
            <a:r>
              <a:rPr lang="ko-KR" sz="1600" b="0">
                <a:solidFill>
                  <a:srgbClr val="142536"/>
                </a:solidFill>
                <a:latin typeface="Arial"/>
                <a:ea typeface="Malgun Gothic"/>
                <a:cs typeface="Arial"/>
              </a:rPr>
              <a:t xml:space="preserve">므로 모든 검색이 O(1)이라고 말하지 않습니다.</a:t>
            </a:r>
            <a:endParaRPr lang="ko-KR" sz="1600"/>
          </a:p>
        </p:txBody>
      </p:sp>
      <p:sp>
        <p:nvSpPr>
          <p:cNvPr id="18" name="Text 18"/>
          <p:cNvSpPr txBox="1"/>
          <p:nvPr/>
        </p:nvSpPr>
        <p:spPr>
          <a:xfrm>
            <a:off x="508000" y="6299200"/>
            <a:ext cx="11176000" cy="22860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드문 단어의 후보만 확인하므로 전체 저장소를 훑지 않습니다.</a:t>
            </a:r>
            <a:endParaRPr lang="ko-KR" sz="1250"/>
          </a:p>
        </p:txBody>
      </p:sp>
      <p:sp>
        <p:nvSpPr>
          <p:cNvPr id="19" name="Text 19"/>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mini_git/index.py: search_keyword() · 제출/results/10_보완_회귀검증.txt · 평가질문_설명자료.md</a:t>
            </a:r>
            <a:endParaRPr lang="ko-KR" sz="1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평가 질문: dict와 hash를 왜 썼나요?">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Q&amp;A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22 / 26</a:t>
            </a:r>
            <a:endParaRPr lang="ko-KR" sz="1250"/>
          </a:p>
        </p:txBody>
      </p:sp>
      <p:sp>
        <p:nvSpPr>
          <p:cNvPr id="5" name="Text 5"/>
          <p:cNvSpPr txBox="1"/>
          <p:nvPr/>
        </p:nvSpPr>
        <p:spPr>
          <a:xfrm>
            <a:off x="508000" y="793750"/>
            <a:ext cx="11176000" cy="635000"/>
          </a:xfrm>
          <a:prstGeom prst="rect">
            <a:avLst/>
          </a:prstGeom>
          <a:noFill/>
          <a:ln>
            <a:noFill/>
          </a:ln>
        </p:spPr>
        <p:txBody>
          <a:bodyPr wrap="square" lIns="0" tIns="0" rIns="0" bIns="0" anchor="t">
            <a:noAutofit/>
          </a:bodyPr>
          <a:lstStyle/>
          <a:p>
            <a:pPr algn="l">
              <a:lnSpc>
                <a:spcPts val="3900"/>
              </a:lnSpc>
            </a:pPr>
            <a:r>
              <a:rPr lang="ko-KR" sz="3000" b="1">
                <a:solidFill>
                  <a:srgbClr val="142536"/>
                </a:solidFill>
                <a:latin typeface="Arial"/>
                <a:ea typeface="Malgun Gothic"/>
                <a:cs typeface="Arial"/>
              </a:rPr>
              <a:t xml:space="preserve">평가 질문: dict와 hash를 왜 썼나요?</a:t>
            </a:r>
            <a:endParaRPr lang="ko-KR" sz="3000"/>
          </a:p>
        </p:txBody>
      </p:sp>
      <p:sp>
        <p:nvSpPr>
          <p:cNvPr id="6" name="Text 6"/>
          <p:cNvSpPr txBox="1"/>
          <p:nvPr/>
        </p:nvSpPr>
        <p:spPr>
          <a:xfrm>
            <a:off x="571500" y="1492250"/>
            <a:ext cx="3683000" cy="24130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핵심 · 그림 · 실행</a:t>
            </a:r>
            <a:endParaRPr lang="ko-KR" sz="1300"/>
          </a:p>
        </p:txBody>
      </p:sp>
      <p:sp>
        <p:nvSpPr>
          <p:cNvPr id="7" name="Text 7"/>
          <p:cNvSpPr txBox="1"/>
          <p:nvPr/>
        </p:nvSpPr>
        <p:spPr>
          <a:xfrm>
            <a:off x="4508500" y="1492250"/>
            <a:ext cx="7175500" cy="24130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상세 설명 · 코드 · 문답 전체</a:t>
            </a:r>
            <a:endParaRPr lang="ko-KR" sz="1300"/>
          </a:p>
        </p:txBody>
      </p:sp>
      <p:sp>
        <p:nvSpPr>
          <p:cNvPr id="8" name="Shape 8"/>
          <p:cNvSpPr/>
          <p:nvPr/>
        </p:nvSpPr>
        <p:spPr>
          <a:xfrm>
            <a:off x="4349750" y="1778000"/>
            <a:ext cx="12700" cy="4381500"/>
          </a:xfrm>
          <a:prstGeom prst="rect">
            <a:avLst/>
          </a:prstGeom>
          <a:solidFill>
            <a:srgbClr val="D7DFDB"/>
          </a:solidFill>
          <a:ln>
            <a:noFill/>
          </a:ln>
        </p:spPr>
      </p:sp>
      <p:sp>
        <p:nvSpPr>
          <p:cNvPr id="9" name="Text 9"/>
          <p:cNvSpPr txBox="1"/>
          <p:nvPr/>
        </p:nvSpPr>
        <p:spPr>
          <a:xfrm>
            <a:off x="571500" y="1809750"/>
            <a:ext cx="3683000" cy="243840"/>
          </a:xfrm>
          <a:prstGeom prst="rect">
            <a:avLst/>
          </a:prstGeom>
          <a:noFill/>
          <a:ln>
            <a:noFill/>
          </a:ln>
        </p:spPr>
        <p:txBody>
          <a:bodyPr wrap="square" lIns="0" tIns="0" rIns="0" bIns="0" anchor="t">
            <a:noAutofit/>
          </a:bodyPr>
          <a:lstStyle/>
          <a:p>
            <a:pPr algn="l">
              <a:lnSpc>
                <a:spcPts val="1820"/>
              </a:lnSpc>
            </a:pPr>
            <a:r>
              <a:rPr lang="ko-KR" sz="1400" b="1">
                <a:solidFill>
                  <a:srgbClr val="168B82"/>
                </a:solidFill>
                <a:latin typeface="Arial"/>
                <a:ea typeface="Malgun Gothic"/>
                <a:cs typeface="Arial"/>
              </a:rPr>
              <a:t xml:space="preserve">Q. list 대신 dict인 이유?</a:t>
            </a:r>
            <a:endParaRPr lang="ko-KR" sz="1400"/>
          </a:p>
        </p:txBody>
      </p:sp>
      <p:sp>
        <p:nvSpPr>
          <p:cNvPr id="10" name="Text 10"/>
          <p:cNvSpPr txBox="1"/>
          <p:nvPr/>
        </p:nvSpPr>
        <p:spPr>
          <a:xfrm>
            <a:off x="571500" y="2104390"/>
            <a:ext cx="3683000" cy="70612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Arial"/>
                <a:ea typeface="Malgun Gothic"/>
                <a:cs typeface="Arial"/>
              </a:rPr>
              <a:t xml:space="preserve">list: 같은 hash를 처음부터 찾아야 함 → O(N) dict: ha</a:t>
            </a:r>
            <a:endParaRPr lang="ko-KR" sz="1400"/>
          </a:p>
          <a:p>
            <a:pPr algn="l">
              <a:lnSpc>
                <a:spcPts val="1820"/>
              </a:lnSpc>
            </a:pPr>
            <a:r>
              <a:rPr lang="ko-KR" sz="1400" b="0">
                <a:solidFill>
                  <a:srgbClr val="142536"/>
                </a:solidFill>
                <a:latin typeface="Arial"/>
                <a:ea typeface="Malgun Gothic"/>
                <a:cs typeface="Arial"/>
              </a:rPr>
              <a:t xml:space="preserve">sh를 키로 평균 O(1) 조회 Repository.commits[hash</a:t>
            </a:r>
            <a:endParaRPr lang="ko-KR" sz="1400"/>
          </a:p>
          <a:p>
            <a:pPr algn="l">
              <a:lnSpc>
                <a:spcPts val="1820"/>
              </a:lnSpc>
            </a:pPr>
            <a:r>
              <a:rPr lang="ko-KR" sz="1400" b="0">
                <a:solidFill>
                  <a:srgbClr val="142536"/>
                </a:solidFill>
                <a:latin typeface="Arial"/>
                <a:ea typeface="Malgun Gothic"/>
                <a:cs typeface="Arial"/>
              </a:rPr>
              <a:t xml:space="preserve">]로 바로 찾음</a:t>
            </a:r>
            <a:endParaRPr lang="ko-KR" sz="1400"/>
          </a:p>
        </p:txBody>
      </p:sp>
      <p:sp>
        <p:nvSpPr>
          <p:cNvPr id="11" name="Text 11"/>
          <p:cNvSpPr txBox="1"/>
          <p:nvPr/>
        </p:nvSpPr>
        <p:spPr>
          <a:xfrm>
            <a:off x="571500" y="2861310"/>
            <a:ext cx="3683000" cy="243840"/>
          </a:xfrm>
          <a:prstGeom prst="rect">
            <a:avLst/>
          </a:prstGeom>
          <a:noFill/>
          <a:ln>
            <a:noFill/>
          </a:ln>
        </p:spPr>
        <p:txBody>
          <a:bodyPr wrap="square" lIns="0" tIns="0" rIns="0" bIns="0" anchor="t">
            <a:noAutofit/>
          </a:bodyPr>
          <a:lstStyle/>
          <a:p>
            <a:pPr algn="l">
              <a:lnSpc>
                <a:spcPts val="1820"/>
              </a:lnSpc>
            </a:pPr>
            <a:r>
              <a:rPr lang="ko-KR" sz="1400" b="1">
                <a:solidFill>
                  <a:srgbClr val="168B82"/>
                </a:solidFill>
                <a:latin typeface="Arial"/>
                <a:ea typeface="Malgun Gothic"/>
                <a:cs typeface="Arial"/>
              </a:rPr>
              <a:t xml:space="preserve">Q. hash 중복은 어떻게 막나요?</a:t>
            </a:r>
            <a:endParaRPr lang="ko-KR" sz="1400"/>
          </a:p>
        </p:txBody>
      </p:sp>
      <p:sp>
        <p:nvSpPr>
          <p:cNvPr id="12" name="Text 12"/>
          <p:cNvSpPr txBox="1"/>
          <p:nvPr/>
        </p:nvSpPr>
        <p:spPr>
          <a:xfrm>
            <a:off x="571500" y="3155950"/>
            <a:ext cx="3683000" cy="70612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Arial"/>
                <a:ea typeface="Malgun Gothic"/>
                <a:cs typeface="Arial"/>
              </a:rPr>
              <a:t xml:space="preserve">내용 + 시퀀스를 SHA-1으로 해싱 앞 6자리를 기존 ha</a:t>
            </a:r>
            <a:endParaRPr lang="ko-KR" sz="1400"/>
          </a:p>
          <a:p>
            <a:pPr algn="l">
              <a:lnSpc>
                <a:spcPts val="1820"/>
              </a:lnSpc>
            </a:pPr>
            <a:r>
              <a:rPr lang="ko-KR" sz="1400" b="0">
                <a:solidFill>
                  <a:srgbClr val="142536"/>
                </a:solidFill>
                <a:latin typeface="Arial"/>
                <a:ea typeface="Malgun Gothic"/>
                <a:cs typeface="Arial"/>
              </a:rPr>
              <a:t xml:space="preserve">sh와 비교 충돌이면 새 시퀀스로 다시 시도 카운터만으</a:t>
            </a:r>
            <a:endParaRPr lang="ko-KR" sz="1400"/>
          </a:p>
          <a:p>
            <a:pPr algn="l">
              <a:lnSpc>
                <a:spcPts val="1820"/>
              </a:lnSpc>
            </a:pPr>
            <a:r>
              <a:rPr lang="ko-KR" sz="1400" b="0">
                <a:solidFill>
                  <a:srgbClr val="142536"/>
                </a:solidFill>
                <a:latin typeface="Arial"/>
                <a:ea typeface="Malgun Gothic"/>
                <a:cs typeface="Arial"/>
              </a:rPr>
              <a:t xml:space="preserve">로 충돌이 사라지지는 않음</a:t>
            </a:r>
            <a:endParaRPr lang="ko-KR" sz="1400"/>
          </a:p>
        </p:txBody>
      </p:sp>
      <p:sp>
        <p:nvSpPr>
          <p:cNvPr id="13" name="Text 13"/>
          <p:cNvSpPr txBox="1"/>
          <p:nvPr/>
        </p:nvSpPr>
        <p:spPr>
          <a:xfrm>
            <a:off x="571500" y="3912870"/>
            <a:ext cx="3683000" cy="243840"/>
          </a:xfrm>
          <a:prstGeom prst="rect">
            <a:avLst/>
          </a:prstGeom>
          <a:noFill/>
          <a:ln>
            <a:noFill/>
          </a:ln>
        </p:spPr>
        <p:txBody>
          <a:bodyPr wrap="square" lIns="0" tIns="0" rIns="0" bIns="0" anchor="t">
            <a:noAutofit/>
          </a:bodyPr>
          <a:lstStyle/>
          <a:p>
            <a:pPr algn="l">
              <a:lnSpc>
                <a:spcPts val="1820"/>
              </a:lnSpc>
            </a:pPr>
            <a:r>
              <a:rPr lang="ko-KR" sz="1400" b="1">
                <a:solidFill>
                  <a:srgbClr val="168B82"/>
                </a:solidFill>
                <a:latin typeface="Arial"/>
                <a:ea typeface="Malgun Gothic"/>
                <a:cs typeface="Arial"/>
              </a:rPr>
              <a:t xml:space="preserve">실행 확인 · 일반 터미널 · b3-2 폴더</a:t>
            </a:r>
            <a:endParaRPr lang="ko-KR" sz="1400"/>
          </a:p>
        </p:txBody>
      </p:sp>
      <p:sp>
        <p:nvSpPr>
          <p:cNvPr id="14" name="Text 14"/>
          <p:cNvSpPr txBox="1"/>
          <p:nvPr/>
        </p:nvSpPr>
        <p:spPr>
          <a:xfrm>
            <a:off x="571500" y="4207510"/>
            <a:ext cx="3683000" cy="47498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Menlo"/>
                <a:ea typeface="Malgun Gothic"/>
                <a:cs typeface="Arial"/>
              </a:rPr>
              <a:t xml:space="preserve">python3 -B -m unittest discover -s</a:t>
            </a:r>
            <a:endParaRPr lang="ko-KR" sz="1400"/>
          </a:p>
          <a:p>
            <a:pPr algn="l">
              <a:lnSpc>
                <a:spcPts val="1820"/>
              </a:lnSpc>
            </a:pPr>
            <a:r>
              <a:rPr lang="ko-KR" sz="1400" b="0">
                <a:solidFill>
                  <a:srgbClr val="142536"/>
                </a:solidFill>
                <a:latin typeface="Menlo"/>
                <a:ea typeface="Malgun Gothic"/>
                <a:cs typeface="Arial"/>
              </a:rPr>
              <a:t xml:space="preserve">tests -v -k hash_collision</a:t>
            </a:r>
            <a:endParaRPr lang="ko-KR" sz="1400"/>
          </a:p>
        </p:txBody>
      </p:sp>
      <p:sp>
        <p:nvSpPr>
          <p:cNvPr id="15" name="Text 15"/>
          <p:cNvSpPr txBox="1"/>
          <p:nvPr/>
        </p:nvSpPr>
        <p:spPr>
          <a:xfrm>
            <a:off x="571500" y="4733290"/>
            <a:ext cx="3683000" cy="47498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Arial"/>
                <a:ea typeface="Malgun Gothic"/>
                <a:cs typeface="Arial"/>
              </a:rPr>
              <a:t xml:space="preserve">확인: hash 충돌을 강제로 발생시켜 재시도와 식별자</a:t>
            </a:r>
            <a:endParaRPr lang="ko-KR" sz="1400"/>
          </a:p>
          <a:p>
            <a:pPr algn="l">
              <a:lnSpc>
                <a:spcPts val="1820"/>
              </a:lnSpc>
            </a:pPr>
            <a:r>
              <a:rPr lang="ko-KR" sz="1400" b="0">
                <a:solidFill>
                  <a:srgbClr val="142536"/>
                </a:solidFill>
                <a:latin typeface="Arial"/>
                <a:ea typeface="Malgun Gothic"/>
                <a:cs typeface="Arial"/>
              </a:rPr>
              <a:t xml:space="preserve">중복 방지 확인 · 마지막 OK 확인</a:t>
            </a:r>
            <a:endParaRPr lang="ko-KR" sz="1400"/>
          </a:p>
        </p:txBody>
      </p:sp>
      <p:sp>
        <p:nvSpPr>
          <p:cNvPr id="16" name="Text 16"/>
          <p:cNvSpPr txBox="1"/>
          <p:nvPr/>
        </p:nvSpPr>
        <p:spPr>
          <a:xfrm>
            <a:off x="4508500" y="1809750"/>
            <a:ext cx="7175500" cy="260350"/>
          </a:xfrm>
          <a:prstGeom prst="rect">
            <a:avLst/>
          </a:prstGeom>
          <a:noFill/>
          <a:ln>
            <a:noFill/>
          </a:ln>
        </p:spPr>
        <p:txBody>
          <a:bodyPr wrap="square" lIns="0" tIns="0" rIns="0" bIns="0" anchor="t">
            <a:noAutofit/>
          </a:bodyPr>
          <a:lstStyle/>
          <a:p>
            <a:pPr algn="l">
              <a:lnSpc>
                <a:spcPts val="1950"/>
              </a:lnSpc>
            </a:pPr>
            <a:r>
              <a:rPr lang="ko-KR" sz="1500" b="1">
                <a:solidFill>
                  <a:srgbClr val="168B82"/>
                </a:solidFill>
                <a:latin typeface="Arial"/>
                <a:ea typeface="Malgun Gothic"/>
                <a:cs typeface="Arial"/>
              </a:rPr>
              <a:t xml:space="preserve">Q2. 커밋 저장소로 왜 dict를 썼는가? list로도 되지 않는가?</a:t>
            </a:r>
            <a:endParaRPr lang="ko-KR" sz="1500"/>
          </a:p>
        </p:txBody>
      </p:sp>
      <p:sp>
        <p:nvSpPr>
          <p:cNvPr id="17" name="Text 17"/>
          <p:cNvSpPr txBox="1"/>
          <p:nvPr/>
        </p:nvSpPr>
        <p:spPr>
          <a:xfrm>
            <a:off x="4508500" y="2120900"/>
            <a:ext cx="7175500" cy="1250950"/>
          </a:xfrm>
          <a:prstGeom prst="rect">
            <a:avLst/>
          </a:prstGeom>
          <a:noFill/>
          <a:ln>
            <a:noFill/>
          </a:ln>
        </p:spPr>
        <p:txBody>
          <a:bodyPr wrap="square" lIns="0" tIns="0" rIns="0" bIns="0" anchor="t">
            <a:noAutofit/>
          </a:bodyPr>
          <a:lstStyle/>
          <a:p>
            <a:pPr algn="l">
              <a:lnSpc>
                <a:spcPts val="1950"/>
              </a:lnSpc>
            </a:pPr>
            <a:r>
              <a:rPr lang="ko-KR" sz="1500" b="0">
                <a:solidFill>
                  <a:srgbClr val="142536"/>
                </a:solidFill>
                <a:latin typeface="Arial"/>
                <a:ea typeface="Malgun Gothic"/>
                <a:cs typeface="Arial"/>
              </a:rPr>
              <a:t xml:space="preserve">PATH/ANCESTORS/COMMIT(부모 조회) 등 대부분의 연산이 "이 hash를 가진 커밋을 찾아라"라</a:t>
            </a:r>
            <a:endParaRPr lang="ko-KR" sz="1500"/>
          </a:p>
          <a:p>
            <a:pPr algn="l">
              <a:lnSpc>
                <a:spcPts val="1950"/>
              </a:lnSpc>
            </a:pPr>
            <a:r>
              <a:rPr lang="ko-KR" sz="1500" b="0">
                <a:solidFill>
                  <a:srgbClr val="142536"/>
                </a:solidFill>
                <a:latin typeface="Arial"/>
                <a:ea typeface="Malgun Gothic"/>
                <a:cs typeface="Arial"/>
              </a:rPr>
              <a:t xml:space="preserve">는 형태입니다. list에서 특정 값을 찾으려면 처음부터 끝까지 훑어야 해서 O(n)이지만, dict(해시</a:t>
            </a:r>
            <a:endParaRPr lang="ko-KR" sz="1500"/>
          </a:p>
          <a:p>
            <a:pPr algn="l">
              <a:lnSpc>
                <a:spcPts val="1950"/>
              </a:lnSpc>
            </a:pPr>
            <a:r>
              <a:rPr lang="ko-KR" sz="1500" b="0">
                <a:solidFill>
                  <a:srgbClr val="142536"/>
                </a:solidFill>
                <a:latin typeface="Arial"/>
                <a:ea typeface="Malgun Gothic"/>
                <a:cs typeface="Arial"/>
              </a:rPr>
              <a:t xml:space="preserve">맵)는 평균 O(1)에 바로 찾을 수 있습니다. 과제 명세도 "커밋 저장소는 커밋 hash로 빠르게 찾을</a:t>
            </a:r>
            <a:endParaRPr lang="ko-KR" sz="1500"/>
          </a:p>
          <a:p>
            <a:pPr algn="l">
              <a:lnSpc>
                <a:spcPts val="1950"/>
              </a:lnSpc>
            </a:pPr>
            <a:r>
              <a:rPr lang="ko-KR" sz="1500" b="0">
                <a:solidFill>
                  <a:srgbClr val="142536"/>
                </a:solidFill>
                <a:latin typeface="Arial"/>
                <a:ea typeface="Malgun Gothic"/>
                <a:cs typeface="Arial"/>
              </a:rPr>
              <a:t xml:space="preserve">수 있어야 한다(예: 해시맵 기반)"고 명시하고 있고, 이 과제는 dict 사용을 허용하므로 (b3-1 의 M</a:t>
            </a:r>
            <a:endParaRPr lang="ko-KR" sz="1500"/>
          </a:p>
          <a:p>
            <a:pPr algn="l">
              <a:lnSpc>
                <a:spcPts val="1950"/>
              </a:lnSpc>
            </a:pPr>
            <a:r>
              <a:rPr lang="ko-KR" sz="1500" b="0">
                <a:solidFill>
                  <a:srgbClr val="142536"/>
                </a:solidFill>
                <a:latin typeface="Arial"/>
                <a:ea typeface="Malgun Gothic"/>
                <a:cs typeface="Arial"/>
              </a:rPr>
              <a:t xml:space="preserve">ini Redis와 달리 dict/list/set은 자유롭게 사용 가능) 표준 dict를 그대로 활용했습니다.</a:t>
            </a:r>
            <a:endParaRPr lang="ko-KR" sz="1500"/>
          </a:p>
        </p:txBody>
      </p:sp>
      <p:sp>
        <p:nvSpPr>
          <p:cNvPr id="18" name="Text 18"/>
          <p:cNvSpPr txBox="1"/>
          <p:nvPr/>
        </p:nvSpPr>
        <p:spPr>
          <a:xfrm>
            <a:off x="4508500" y="3422650"/>
            <a:ext cx="7175500" cy="260350"/>
          </a:xfrm>
          <a:prstGeom prst="rect">
            <a:avLst/>
          </a:prstGeom>
          <a:noFill/>
          <a:ln>
            <a:noFill/>
          </a:ln>
        </p:spPr>
        <p:txBody>
          <a:bodyPr wrap="square" lIns="0" tIns="0" rIns="0" bIns="0" anchor="t">
            <a:noAutofit/>
          </a:bodyPr>
          <a:lstStyle/>
          <a:p>
            <a:pPr algn="l">
              <a:lnSpc>
                <a:spcPts val="1950"/>
              </a:lnSpc>
            </a:pPr>
            <a:r>
              <a:rPr lang="ko-KR" sz="1500" b="1">
                <a:solidFill>
                  <a:srgbClr val="168B82"/>
                </a:solidFill>
                <a:latin typeface="Arial"/>
                <a:ea typeface="Malgun Gothic"/>
                <a:cs typeface="Arial"/>
              </a:rPr>
              <a:t xml:space="preserve">Q3. 커밋 hash 중복은 어떻게 막았는가?</a:t>
            </a:r>
            <a:endParaRPr lang="ko-KR" sz="1500"/>
          </a:p>
        </p:txBody>
      </p:sp>
      <p:sp>
        <p:nvSpPr>
          <p:cNvPr id="19" name="Text 19"/>
          <p:cNvSpPr txBox="1"/>
          <p:nvPr/>
        </p:nvSpPr>
        <p:spPr>
          <a:xfrm>
            <a:off x="4508500" y="3733800"/>
            <a:ext cx="7175500" cy="1250950"/>
          </a:xfrm>
          <a:prstGeom prst="rect">
            <a:avLst/>
          </a:prstGeom>
          <a:noFill/>
          <a:ln>
            <a:noFill/>
          </a:ln>
        </p:spPr>
        <p:txBody>
          <a:bodyPr wrap="square" lIns="0" tIns="0" rIns="0" bIns="0" anchor="t">
            <a:noAutofit/>
          </a:bodyPr>
          <a:lstStyle/>
          <a:p>
            <a:pPr algn="l">
              <a:lnSpc>
                <a:spcPts val="1950"/>
              </a:lnSpc>
            </a:pPr>
            <a:r>
              <a:rPr lang="ko-KR" sz="1500" b="0">
                <a:solidFill>
                  <a:srgbClr val="142536"/>
                </a:solidFill>
                <a:latin typeface="Arial"/>
                <a:ea typeface="Malgun Gothic"/>
                <a:cs typeface="Arial"/>
              </a:rPr>
              <a:t xml:space="preserve">commit.py의 generate_commit_hash는 메시지/작성자/시각/부모 목록에 더해 세션 동안 계속</a:t>
            </a:r>
            <a:endParaRPr lang="ko-KR" sz="1500"/>
          </a:p>
          <a:p>
            <a:pPr algn="l">
              <a:lnSpc>
                <a:spcPts val="1950"/>
              </a:lnSpc>
            </a:pPr>
            <a:r>
              <a:rPr lang="ko-KR" sz="1500" b="0">
                <a:solidFill>
                  <a:srgbClr val="142536"/>
                </a:solidFill>
                <a:latin typeface="Arial"/>
                <a:ea typeface="Malgun Gothic"/>
                <a:cs typeface="Arial"/>
              </a:rPr>
              <a:t xml:space="preserve">증가하기만 하는 카운터를 함께 SHA-1으로 해싱합니다. 같은 내용도 시퀀스 번호를 바꾸어 새로</a:t>
            </a:r>
            <a:endParaRPr lang="ko-KR" sz="1500"/>
          </a:p>
          <a:p>
            <a:pPr algn="l">
              <a:lnSpc>
                <a:spcPts val="1950"/>
              </a:lnSpc>
            </a:pPr>
            <a:r>
              <a:rPr lang="ko-KR" sz="1500" b="0">
                <a:solidFill>
                  <a:srgbClr val="142536"/>
                </a:solidFill>
                <a:latin typeface="Arial"/>
                <a:ea typeface="Malgun Gothic"/>
                <a:cs typeface="Arial"/>
              </a:rPr>
              <a:t xml:space="preserve">운 입력으로 해싱합니다. 서로 다른 입력도 같은 출력 hash를 만 들 수 있으므로, 유일성을 보장하</a:t>
            </a:r>
            <a:endParaRPr lang="ko-KR" sz="1500"/>
          </a:p>
          <a:p>
            <a:pPr algn="l">
              <a:lnSpc>
                <a:spcPts val="1950"/>
              </a:lnSpc>
            </a:pPr>
            <a:r>
              <a:rPr lang="ko-KR" sz="1500" b="0">
                <a:solidFill>
                  <a:srgbClr val="142536"/>
                </a:solidFill>
                <a:latin typeface="Arial"/>
                <a:ea typeface="Malgun Gothic"/>
                <a:cs typeface="Arial"/>
              </a:rPr>
              <a:t xml:space="preserve">는 핵심은 기존 hash와 비교하고 충돌하면 재시도하는 검사입니다. 6자리 공간은 166개로 유한</a:t>
            </a:r>
            <a:endParaRPr lang="ko-KR" sz="1500"/>
          </a:p>
          <a:p>
            <a:pPr algn="l">
              <a:lnSpc>
                <a:spcPts val="1950"/>
              </a:lnSpc>
            </a:pPr>
            <a:r>
              <a:rPr lang="ko-KR" sz="1500" b="0">
                <a:solidFill>
                  <a:srgbClr val="142536"/>
                </a:solidFill>
                <a:latin typeface="Arial"/>
                <a:ea typeface="Malgun Gothic"/>
                <a:cs typeface="Arial"/>
              </a:rPr>
              <a:t xml:space="preserve">합니다. 충돌을 강제로 발생시키는 회귀 테스트로 재시도 동작을 확인했습니다.</a:t>
            </a:r>
            <a:endParaRPr lang="ko-KR" sz="1500"/>
          </a:p>
        </p:txBody>
      </p:sp>
      <p:sp>
        <p:nvSpPr>
          <p:cNvPr id="20" name="Text 20"/>
          <p:cNvSpPr txBox="1"/>
          <p:nvPr/>
        </p:nvSpPr>
        <p:spPr>
          <a:xfrm>
            <a:off x="4508500" y="5035550"/>
            <a:ext cx="7175500" cy="1003300"/>
          </a:xfrm>
          <a:prstGeom prst="rect">
            <a:avLst/>
          </a:prstGeom>
          <a:noFill/>
          <a:ln>
            <a:noFill/>
          </a:ln>
        </p:spPr>
        <p:txBody>
          <a:bodyPr wrap="square" lIns="0" tIns="0" rIns="0" bIns="0" anchor="t">
            <a:noAutofit/>
          </a:bodyPr>
          <a:lstStyle/>
          <a:p>
            <a:pPr algn="l">
              <a:lnSpc>
                <a:spcPts val="1950"/>
              </a:lnSpc>
            </a:pPr>
            <a:r>
              <a:rPr lang="ko-KR" sz="1500" b="0">
                <a:solidFill>
                  <a:srgbClr val="142536"/>
                </a:solidFill>
                <a:latin typeface="Arial"/>
                <a:ea typeface="Malgun Gothic"/>
                <a:cs typeface="Arial"/>
              </a:rPr>
              <a:t xml:space="preserve">hash는 이 구현에서 짧은 문자열 식별자입니다. 같은 내용을 다시 커밋해도 시퀀스가 바뀌어 새로</a:t>
            </a:r>
            <a:endParaRPr lang="ko-KR" sz="1500"/>
          </a:p>
          <a:p>
            <a:pPr algn="l">
              <a:lnSpc>
                <a:spcPts val="1950"/>
              </a:lnSpc>
            </a:pPr>
            <a:r>
              <a:rPr lang="ko-KR" sz="1500" b="0">
                <a:solidFill>
                  <a:srgbClr val="142536"/>
                </a:solidFill>
                <a:latin typeface="Arial"/>
                <a:ea typeface="Malgun Gothic"/>
                <a:cs typeface="Arial"/>
              </a:rPr>
              <a:t xml:space="preserve">운 입력으로 해싱합니다. 서로 다른 입력의 출력이 같을 수 있으므로 존재 여부 검사와 재시도가</a:t>
            </a:r>
            <a:endParaRPr lang="ko-KR" sz="1500"/>
          </a:p>
          <a:p>
            <a:pPr algn="l">
              <a:lnSpc>
                <a:spcPts val="1950"/>
              </a:lnSpc>
            </a:pPr>
            <a:r>
              <a:rPr lang="ko-KR" sz="1500" b="0">
                <a:solidFill>
                  <a:srgbClr val="142536"/>
                </a:solidFill>
                <a:latin typeface="Arial"/>
                <a:ea typeface="Malgun Gothic"/>
                <a:cs typeface="Arial"/>
              </a:rPr>
              <a:t xml:space="preserve">핵심입니다. 6자리 공간은 16의 6승으로 유한하다는 한계도 있습니다. 강제로 같은 digest가 나오</a:t>
            </a:r>
            <a:endParaRPr lang="ko-KR" sz="1500"/>
          </a:p>
          <a:p>
            <a:pPr algn="l">
              <a:lnSpc>
                <a:spcPts val="1950"/>
              </a:lnSpc>
            </a:pPr>
            <a:r>
              <a:rPr lang="ko-KR" sz="1500" b="0">
                <a:solidFill>
                  <a:srgbClr val="142536"/>
                </a:solidFill>
                <a:latin typeface="Arial"/>
                <a:ea typeface="Malgun Gothic"/>
                <a:cs typeface="Arial"/>
              </a:rPr>
              <a:t xml:space="preserve">게 만든 테스트로 재시도를 확인했습니다.</a:t>
            </a:r>
            <a:endParaRPr lang="ko-KR" sz="1500"/>
          </a:p>
        </p:txBody>
      </p:sp>
      <p:sp>
        <p:nvSpPr>
          <p:cNvPr id="21" name="Text 21"/>
          <p:cNvSpPr txBox="1"/>
          <p:nvPr/>
        </p:nvSpPr>
        <p:spPr>
          <a:xfrm>
            <a:off x="508000" y="6299200"/>
            <a:ext cx="11176000" cy="22860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dict는 빠른 조회를 맡고, hash 중복 검사는 식별자의 유일성을 지킵니다.</a:t>
            </a:r>
            <a:endParaRPr lang="ko-KR" sz="1250"/>
          </a:p>
        </p:txBody>
      </p:sp>
      <p:sp>
        <p:nvSpPr>
          <p:cNvPr id="22" name="Text 22"/>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mini_git/commit.py · repository.py · test_hash_collision_retry · 평가질문_설명자료.md</a:t>
            </a:r>
            <a:endParaRPr lang="ko-KR" sz="1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평가 질문: CLI 정책을 설명해 보세요">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Q&amp;A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23 / 26</a:t>
            </a:r>
            <a:endParaRPr lang="ko-KR" sz="1250"/>
          </a:p>
        </p:txBody>
      </p:sp>
      <p:sp>
        <p:nvSpPr>
          <p:cNvPr id="5" name="Text 5"/>
          <p:cNvSpPr txBox="1"/>
          <p:nvPr/>
        </p:nvSpPr>
        <p:spPr>
          <a:xfrm>
            <a:off x="508000" y="793750"/>
            <a:ext cx="11176000" cy="635000"/>
          </a:xfrm>
          <a:prstGeom prst="rect">
            <a:avLst/>
          </a:prstGeom>
          <a:noFill/>
          <a:ln>
            <a:noFill/>
          </a:ln>
        </p:spPr>
        <p:txBody>
          <a:bodyPr wrap="square" lIns="0" tIns="0" rIns="0" bIns="0" anchor="t">
            <a:noAutofit/>
          </a:bodyPr>
          <a:lstStyle/>
          <a:p>
            <a:pPr algn="l">
              <a:lnSpc>
                <a:spcPts val="3900"/>
              </a:lnSpc>
            </a:pPr>
            <a:r>
              <a:rPr lang="ko-KR" sz="3000" b="1">
                <a:solidFill>
                  <a:srgbClr val="142536"/>
                </a:solidFill>
                <a:latin typeface="Arial"/>
                <a:ea typeface="Malgun Gothic"/>
                <a:cs typeface="Arial"/>
              </a:rPr>
              <a:t xml:space="preserve">평가 질문: CLI 정책을 설명해 보세요</a:t>
            </a:r>
            <a:endParaRPr lang="ko-KR" sz="3000"/>
          </a:p>
        </p:txBody>
      </p:sp>
      <p:sp>
        <p:nvSpPr>
          <p:cNvPr id="6" name="Text 6"/>
          <p:cNvSpPr txBox="1"/>
          <p:nvPr/>
        </p:nvSpPr>
        <p:spPr>
          <a:xfrm>
            <a:off x="571500" y="1492250"/>
            <a:ext cx="3683000" cy="24130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핵심 · 그림 · 실행</a:t>
            </a:r>
            <a:endParaRPr lang="ko-KR" sz="1300"/>
          </a:p>
        </p:txBody>
      </p:sp>
      <p:sp>
        <p:nvSpPr>
          <p:cNvPr id="7" name="Text 7"/>
          <p:cNvSpPr txBox="1"/>
          <p:nvPr/>
        </p:nvSpPr>
        <p:spPr>
          <a:xfrm>
            <a:off x="4508500" y="1492250"/>
            <a:ext cx="7175500" cy="24130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상세 설명 · 코드 · 문답 전체</a:t>
            </a:r>
            <a:endParaRPr lang="ko-KR" sz="1300"/>
          </a:p>
        </p:txBody>
      </p:sp>
      <p:sp>
        <p:nvSpPr>
          <p:cNvPr id="8" name="Shape 8"/>
          <p:cNvSpPr/>
          <p:nvPr/>
        </p:nvSpPr>
        <p:spPr>
          <a:xfrm>
            <a:off x="4349750" y="1778000"/>
            <a:ext cx="12700" cy="4381500"/>
          </a:xfrm>
          <a:prstGeom prst="rect">
            <a:avLst/>
          </a:prstGeom>
          <a:solidFill>
            <a:srgbClr val="D7DFDB"/>
          </a:solidFill>
          <a:ln>
            <a:noFill/>
          </a:ln>
        </p:spPr>
      </p:sp>
      <p:sp>
        <p:nvSpPr>
          <p:cNvPr id="9" name="Text 9"/>
          <p:cNvSpPr txBox="1"/>
          <p:nvPr/>
        </p:nvSpPr>
        <p:spPr>
          <a:xfrm>
            <a:off x="571500" y="1809750"/>
            <a:ext cx="3683000" cy="243840"/>
          </a:xfrm>
          <a:prstGeom prst="rect">
            <a:avLst/>
          </a:prstGeom>
          <a:noFill/>
          <a:ln>
            <a:noFill/>
          </a:ln>
        </p:spPr>
        <p:txBody>
          <a:bodyPr wrap="square" lIns="0" tIns="0" rIns="0" bIns="0" anchor="t">
            <a:noAutofit/>
          </a:bodyPr>
          <a:lstStyle/>
          <a:p>
            <a:pPr algn="l">
              <a:lnSpc>
                <a:spcPts val="1820"/>
              </a:lnSpc>
            </a:pPr>
            <a:r>
              <a:rPr lang="ko-KR" sz="1400" b="1">
                <a:solidFill>
                  <a:srgbClr val="168B82"/>
                </a:solidFill>
                <a:latin typeface="Arial"/>
                <a:ea typeface="Malgun Gothic"/>
                <a:cs typeface="Arial"/>
              </a:rPr>
              <a:t xml:space="preserve">질문 / 실제 동작과 이유</a:t>
            </a:r>
            <a:endParaRPr lang="ko-KR" sz="1400"/>
          </a:p>
        </p:txBody>
      </p:sp>
      <p:sp>
        <p:nvSpPr>
          <p:cNvPr id="10" name="Text 10"/>
          <p:cNvSpPr txBox="1"/>
          <p:nvPr/>
        </p:nvSpPr>
        <p:spPr>
          <a:xfrm>
            <a:off x="571500" y="2104390"/>
            <a:ext cx="3683000" cy="163068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Arial"/>
                <a:ea typeface="Malgun Gothic"/>
                <a:cs typeface="Arial"/>
              </a:rPr>
              <a:t xml:space="preserve">LOG의 [branch]는? / 생성 당시 브랜치 표시, 현재 H</a:t>
            </a:r>
            <a:endParaRPr lang="ko-KR" sz="1400"/>
          </a:p>
          <a:p>
            <a:pPr algn="l">
              <a:lnSpc>
                <a:spcPts val="1820"/>
              </a:lnSpc>
            </a:pPr>
            <a:r>
              <a:rPr lang="ko-KR" sz="1400" b="0">
                <a:solidFill>
                  <a:srgbClr val="142536"/>
                </a:solidFill>
                <a:latin typeface="Arial"/>
                <a:ea typeface="Malgun Gothic"/>
                <a:cs typeface="Arial"/>
              </a:rPr>
              <a:t xml:space="preserve">EAD 표시는 아님 정렬 LOG에도 표시? / 필수 필드 외</a:t>
            </a:r>
            <a:endParaRPr lang="ko-KR" sz="1400"/>
          </a:p>
          <a:p>
            <a:pPr algn="l">
              <a:lnSpc>
                <a:spcPts val="1820"/>
              </a:lnSpc>
            </a:pPr>
            <a:r>
              <a:rPr lang="ko-KR" sz="1400" b="0">
                <a:solidFill>
                  <a:srgbClr val="142536"/>
                </a:solidFill>
                <a:latin typeface="Arial"/>
                <a:ea typeface="Malgun Gothic"/>
                <a:cs typeface="Arial"/>
              </a:rPr>
              <a:t xml:space="preserve">에 같은 출력 형식을 유지 INIT을 다시 하면? / 커밋·브</a:t>
            </a:r>
            <a:endParaRPr lang="ko-KR" sz="1400"/>
          </a:p>
          <a:p>
            <a:pPr algn="l">
              <a:lnSpc>
                <a:spcPts val="1820"/>
              </a:lnSpc>
            </a:pPr>
            <a:r>
              <a:rPr lang="ko-KR" sz="1400" b="0">
                <a:solidFill>
                  <a:srgbClr val="142536"/>
                </a:solidFill>
                <a:latin typeface="Arial"/>
                <a:ea typeface="Malgun Gothic"/>
                <a:cs typeface="Arial"/>
              </a:rPr>
              <a:t xml:space="preserve">랜치·역색인을 초기화 기존 이름으로 BRANCH? / Inv</a:t>
            </a:r>
            <a:endParaRPr lang="ko-KR" sz="1400"/>
          </a:p>
          <a:p>
            <a:pPr algn="l">
              <a:lnSpc>
                <a:spcPts val="1820"/>
              </a:lnSpc>
            </a:pPr>
            <a:r>
              <a:rPr lang="ko-KR" sz="1400" b="0">
                <a:solidFill>
                  <a:srgbClr val="142536"/>
                </a:solidFill>
                <a:latin typeface="Arial"/>
                <a:ea typeface="Malgun Gothic"/>
                <a:cs typeface="Arial"/>
              </a:rPr>
              <a:t xml:space="preserve">alid args, 기존 HEAD 보존 INIT 전에 명령 입력? / Ru</a:t>
            </a:r>
            <a:endParaRPr lang="ko-KR" sz="1400"/>
          </a:p>
          <a:p>
            <a:pPr algn="l">
              <a:lnSpc>
                <a:spcPts val="1820"/>
              </a:lnSpc>
            </a:pPr>
            <a:r>
              <a:rPr lang="ko-KR" sz="1400" b="0">
                <a:solidFill>
                  <a:srgbClr val="142536"/>
                </a:solidFill>
                <a:latin typeface="Arial"/>
                <a:ea typeface="Malgun Gothic"/>
                <a:cs typeface="Arial"/>
              </a:rPr>
              <a:t xml:space="preserve">n INIT first 안내 대소문자·공백 인자? / 명령 upper,</a:t>
            </a:r>
            <a:endParaRPr lang="ko-KR" sz="1400"/>
          </a:p>
          <a:p>
            <a:pPr algn="l">
              <a:lnSpc>
                <a:spcPts val="1820"/>
              </a:lnSpc>
            </a:pPr>
            <a:r>
              <a:rPr lang="ko-KR" sz="1400" b="0">
                <a:solidFill>
                  <a:srgbClr val="142536"/>
                </a:solidFill>
                <a:latin typeface="Arial"/>
                <a:ea typeface="Malgun Gothic"/>
                <a:cs typeface="Arial"/>
              </a:rPr>
              <a:t xml:space="preserve">문자열 shlex로 따옴표 파싱</a:t>
            </a:r>
            <a:endParaRPr lang="ko-KR" sz="1400"/>
          </a:p>
        </p:txBody>
      </p:sp>
      <p:sp>
        <p:nvSpPr>
          <p:cNvPr id="11" name="Text 11"/>
          <p:cNvSpPr txBox="1"/>
          <p:nvPr/>
        </p:nvSpPr>
        <p:spPr>
          <a:xfrm>
            <a:off x="571500" y="3785870"/>
            <a:ext cx="3683000" cy="243840"/>
          </a:xfrm>
          <a:prstGeom prst="rect">
            <a:avLst/>
          </a:prstGeom>
          <a:noFill/>
          <a:ln>
            <a:noFill/>
          </a:ln>
        </p:spPr>
        <p:txBody>
          <a:bodyPr wrap="square" lIns="0" tIns="0" rIns="0" bIns="0" anchor="t">
            <a:noAutofit/>
          </a:bodyPr>
          <a:lstStyle/>
          <a:p>
            <a:pPr algn="l">
              <a:lnSpc>
                <a:spcPts val="1820"/>
              </a:lnSpc>
            </a:pPr>
            <a:r>
              <a:rPr lang="ko-KR" sz="1400" b="1">
                <a:solidFill>
                  <a:srgbClr val="168B82"/>
                </a:solidFill>
                <a:latin typeface="Arial"/>
                <a:ea typeface="Malgun Gothic"/>
                <a:cs typeface="Arial"/>
              </a:rPr>
              <a:t xml:space="preserve">실행 확인 · mini-git&gt; · 5페이지 실습 후</a:t>
            </a:r>
            <a:endParaRPr lang="ko-KR" sz="1400"/>
          </a:p>
        </p:txBody>
      </p:sp>
      <p:sp>
        <p:nvSpPr>
          <p:cNvPr id="12" name="Text 12"/>
          <p:cNvSpPr txBox="1"/>
          <p:nvPr/>
        </p:nvSpPr>
        <p:spPr>
          <a:xfrm>
            <a:off x="571500" y="4080510"/>
            <a:ext cx="3683000" cy="70612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Menlo"/>
                <a:ea typeface="Malgun Gothic"/>
                <a:cs typeface="Arial"/>
              </a:rPr>
              <a:t xml:space="preserve">BRANCH feature</a:t>
            </a:r>
            <a:endParaRPr lang="ko-KR" sz="1400"/>
          </a:p>
          <a:p>
            <a:pPr algn="l">
              <a:lnSpc>
                <a:spcPts val="1820"/>
              </a:lnSpc>
            </a:pPr>
            <a:r>
              <a:rPr lang="ko-KR" sz="1400" b="0">
                <a:solidFill>
                  <a:srgbClr val="142536"/>
                </a:solidFill>
                <a:latin typeface="Menlo"/>
                <a:ea typeface="Malgun Gothic"/>
                <a:cs typeface="Arial"/>
              </a:rPr>
              <a:t xml:space="preserve">SWITCH missing</a:t>
            </a:r>
            <a:endParaRPr lang="ko-KR" sz="1400"/>
          </a:p>
          <a:p>
            <a:pPr algn="l">
              <a:lnSpc>
                <a:spcPts val="1820"/>
              </a:lnSpc>
            </a:pPr>
            <a:r>
              <a:rPr lang="ko-KR" sz="1400" b="0">
                <a:solidFill>
                  <a:srgbClr val="142536"/>
                </a:solidFill>
                <a:latin typeface="Menlo"/>
                <a:ea typeface="Malgun Gothic"/>
                <a:cs typeface="Arial"/>
              </a:rPr>
              <a:t xml:space="preserve">COMMIT "   "</a:t>
            </a:r>
            <a:endParaRPr lang="ko-KR" sz="1400"/>
          </a:p>
        </p:txBody>
      </p:sp>
      <p:sp>
        <p:nvSpPr>
          <p:cNvPr id="13" name="Text 13"/>
          <p:cNvSpPr txBox="1"/>
          <p:nvPr/>
        </p:nvSpPr>
        <p:spPr>
          <a:xfrm>
            <a:off x="571500" y="4837430"/>
            <a:ext cx="3683000" cy="47498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Arial"/>
                <a:ea typeface="Malgun Gothic"/>
                <a:cs typeface="Arial"/>
              </a:rPr>
              <a:t xml:space="preserve">확인: 기존 feature가 있으면 Invalid args / Unknown</a:t>
            </a:r>
            <a:endParaRPr lang="ko-KR" sz="1400"/>
          </a:p>
          <a:p>
            <a:pPr algn="l">
              <a:lnSpc>
                <a:spcPts val="1820"/>
              </a:lnSpc>
            </a:pPr>
            <a:r>
              <a:rPr lang="ko-KR" sz="1400" b="0">
                <a:solidFill>
                  <a:srgbClr val="142536"/>
                </a:solidFill>
                <a:latin typeface="Arial"/>
                <a:ea typeface="Malgun Gothic"/>
                <a:cs typeface="Arial"/>
              </a:rPr>
              <a:t xml:space="preserve">branch: missing / Invalid args</a:t>
            </a:r>
            <a:endParaRPr lang="ko-KR" sz="1400"/>
          </a:p>
        </p:txBody>
      </p:sp>
      <p:sp>
        <p:nvSpPr>
          <p:cNvPr id="14" name="Text 14"/>
          <p:cNvSpPr txBox="1"/>
          <p:nvPr/>
        </p:nvSpPr>
        <p:spPr>
          <a:xfrm>
            <a:off x="4508500" y="1809750"/>
            <a:ext cx="3498850" cy="44196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Q1. LOG의 [branch] 표시는 과제 예시와 다르게 --so</a:t>
            </a:r>
            <a:endParaRPr lang="ko-KR" sz="1300"/>
          </a:p>
          <a:p>
            <a:pPr algn="l">
              <a:lnSpc>
                <a:spcPts val="1690"/>
              </a:lnSpc>
            </a:pPr>
            <a:r>
              <a:rPr lang="ko-KR" sz="1300" b="1">
                <a:solidFill>
                  <a:srgbClr val="168B82"/>
                </a:solidFill>
                <a:latin typeface="Arial"/>
                <a:ea typeface="Malgun Gothic"/>
                <a:cs typeface="Arial"/>
              </a:rPr>
              <a:t xml:space="preserve">rt-by 결과에도 항상 나오게 했는데, 왜인가?</a:t>
            </a:r>
            <a:endParaRPr lang="ko-KR" sz="1300"/>
          </a:p>
        </p:txBody>
      </p:sp>
      <p:sp>
        <p:nvSpPr>
          <p:cNvPr id="15" name="Text 15"/>
          <p:cNvSpPr txBox="1"/>
          <p:nvPr/>
        </p:nvSpPr>
        <p:spPr>
          <a:xfrm>
            <a:off x="4508500" y="2302510"/>
            <a:ext cx="3498850" cy="130048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과제 예시는 --sort-by 결과에서 [branch] 태그를 생략</a:t>
            </a:r>
            <a:endParaRPr lang="ko-KR" sz="1300"/>
          </a:p>
          <a:p>
            <a:pPr algn="l">
              <a:lnSpc>
                <a:spcPts val="1690"/>
              </a:lnSpc>
            </a:pPr>
            <a:r>
              <a:rPr lang="ko-KR" sz="1300" b="0">
                <a:solidFill>
                  <a:srgbClr val="142536"/>
                </a:solidFill>
                <a:latin typeface="Arial"/>
                <a:ea typeface="Malgun Gothic"/>
                <a:cs typeface="Arial"/>
              </a:rPr>
              <a:t xml:space="preserve">했지만, "출력 포맷은 자유이나 hash/author/timestam</a:t>
            </a:r>
            <a:endParaRPr lang="ko-KR" sz="1300"/>
          </a:p>
          <a:p>
            <a:pPr algn="l">
              <a:lnSpc>
                <a:spcPts val="1690"/>
              </a:lnSpc>
            </a:pPr>
            <a:r>
              <a:rPr lang="ko-KR" sz="1300" b="0">
                <a:solidFill>
                  <a:srgbClr val="142536"/>
                </a:solidFill>
                <a:latin typeface="Arial"/>
                <a:ea typeface="Malgun Gothic"/>
                <a:cs typeface="Arial"/>
              </a:rPr>
              <a:t xml:space="preserve">p/message가 식 별 가능해야 한다"고만 명시되어 있어</a:t>
            </a:r>
            <a:endParaRPr lang="ko-KR" sz="1300"/>
          </a:p>
          <a:p>
            <a:pPr algn="l">
              <a:lnSpc>
                <a:spcPts val="1690"/>
              </a:lnSpc>
            </a:pPr>
            <a:r>
              <a:rPr lang="ko-KR" sz="1300" b="0">
                <a:solidFill>
                  <a:srgbClr val="142536"/>
                </a:solidFill>
                <a:latin typeface="Arial"/>
                <a:ea typeface="Malgun Gothic"/>
                <a:cs typeface="Arial"/>
              </a:rPr>
              <a:t xml:space="preserve">형식 선택의 여지가 있었습니다. 정보가 더 많은 쪽이 유</a:t>
            </a:r>
            <a:endParaRPr lang="ko-KR" sz="1300"/>
          </a:p>
          <a:p>
            <a:pPr algn="l">
              <a:lnSpc>
                <a:spcPts val="1690"/>
              </a:lnSpc>
            </a:pPr>
            <a:r>
              <a:rPr lang="ko-KR" sz="1300" b="0">
                <a:solidFill>
                  <a:srgbClr val="142536"/>
                </a:solidFill>
                <a:latin typeface="Arial"/>
                <a:ea typeface="Malgun Gothic"/>
                <a:cs typeface="Arial"/>
              </a:rPr>
              <a:t xml:space="preserve">용하다고 판단해 두 출력 모두 일관 되게 [branch]를 포</a:t>
            </a:r>
            <a:endParaRPr lang="ko-KR" sz="1300"/>
          </a:p>
          <a:p>
            <a:pPr algn="l">
              <a:lnSpc>
                <a:spcPts val="1690"/>
              </a:lnSpc>
            </a:pPr>
            <a:r>
              <a:rPr lang="ko-KR" sz="1300" b="0">
                <a:solidFill>
                  <a:srgbClr val="142536"/>
                </a:solidFill>
                <a:latin typeface="Arial"/>
                <a:ea typeface="Malgun Gothic"/>
                <a:cs typeface="Arial"/>
              </a:rPr>
              <a:t xml:space="preserve">함시켰습니다.</a:t>
            </a:r>
            <a:endParaRPr lang="ko-KR" sz="1300"/>
          </a:p>
        </p:txBody>
      </p:sp>
      <p:sp>
        <p:nvSpPr>
          <p:cNvPr id="16" name="Text 16"/>
          <p:cNvSpPr txBox="1"/>
          <p:nvPr/>
        </p:nvSpPr>
        <p:spPr>
          <a:xfrm>
            <a:off x="4508500" y="3653790"/>
            <a:ext cx="3498850" cy="44196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Q2. INIT을 다시 호출하면 기존 데이터는 어떻게 되는</a:t>
            </a:r>
            <a:endParaRPr lang="ko-KR" sz="1300"/>
          </a:p>
          <a:p>
            <a:pPr algn="l">
              <a:lnSpc>
                <a:spcPts val="1690"/>
              </a:lnSpc>
            </a:pPr>
            <a:r>
              <a:rPr lang="ko-KR" sz="1300" b="1">
                <a:solidFill>
                  <a:srgbClr val="168B82"/>
                </a:solidFill>
                <a:latin typeface="Arial"/>
                <a:ea typeface="Malgun Gothic"/>
                <a:cs typeface="Arial"/>
              </a:rPr>
              <a:t xml:space="preserve">가?</a:t>
            </a:r>
            <a:endParaRPr lang="ko-KR" sz="1300"/>
          </a:p>
        </p:txBody>
      </p:sp>
      <p:sp>
        <p:nvSpPr>
          <p:cNvPr id="17" name="Text 17"/>
          <p:cNvSpPr txBox="1"/>
          <p:nvPr/>
        </p:nvSpPr>
        <p:spPr>
          <a:xfrm>
            <a:off x="4508500" y="4146550"/>
            <a:ext cx="3498850" cy="87122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저장소 전체(커밋/브랜치/역색인)를 새로 초기화합니다.</a:t>
            </a:r>
            <a:endParaRPr lang="ko-KR" sz="1300"/>
          </a:p>
          <a:p>
            <a:pPr algn="l">
              <a:lnSpc>
                <a:spcPts val="1690"/>
              </a:lnSpc>
            </a:pPr>
            <a:r>
              <a:rPr lang="ko-KR" sz="1300" b="0">
                <a:solidFill>
                  <a:srgbClr val="142536"/>
                </a:solidFill>
                <a:latin typeface="Arial"/>
                <a:ea typeface="Malgun Gothic"/>
                <a:cs typeface="Arial"/>
              </a:rPr>
              <a:t xml:space="preserve">과제 명세가 "INIT은 저장소 초기화"라고 정의하고 있고,</a:t>
            </a:r>
            <a:endParaRPr lang="ko-KR" sz="1300"/>
          </a:p>
          <a:p>
            <a:pPr algn="l">
              <a:lnSpc>
                <a:spcPts val="1690"/>
              </a:lnSpc>
            </a:pPr>
            <a:r>
              <a:rPr lang="ko-KR" sz="1300" b="0">
                <a:solidFill>
                  <a:srgbClr val="142536"/>
                </a:solidFill>
                <a:latin typeface="Arial"/>
                <a:ea typeface="Malgun Gothic"/>
                <a:cs typeface="Arial"/>
              </a:rPr>
              <a:t xml:space="preserve">별도의 "재초기 화 방지" 요구사항이 없었기 때문에 매번</a:t>
            </a:r>
            <a:endParaRPr lang="ko-KR" sz="1300"/>
          </a:p>
          <a:p>
            <a:pPr algn="l">
              <a:lnSpc>
                <a:spcPts val="1690"/>
              </a:lnSpc>
            </a:pPr>
            <a:r>
              <a:rPr lang="ko-KR" sz="1300" b="0">
                <a:solidFill>
                  <a:srgbClr val="142536"/>
                </a:solidFill>
                <a:latin typeface="Arial"/>
                <a:ea typeface="Malgun Gothic"/>
                <a:cs typeface="Arial"/>
              </a:rPr>
              <a:t xml:space="preserve">새로 시작하는 것이 가장 직관적이라고 판단했습니다.</a:t>
            </a:r>
            <a:endParaRPr lang="ko-KR" sz="1300"/>
          </a:p>
        </p:txBody>
      </p:sp>
      <p:sp>
        <p:nvSpPr>
          <p:cNvPr id="18" name="Text 18"/>
          <p:cNvSpPr txBox="1"/>
          <p:nvPr/>
        </p:nvSpPr>
        <p:spPr>
          <a:xfrm>
            <a:off x="4508500" y="5068570"/>
            <a:ext cx="3498850" cy="44196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Q3. BRANCH를 이미 존재하는 이름으로 다시 호출하</a:t>
            </a:r>
            <a:endParaRPr lang="ko-KR" sz="1300"/>
          </a:p>
          <a:p>
            <a:pPr algn="l">
              <a:lnSpc>
                <a:spcPts val="1690"/>
              </a:lnSpc>
            </a:pPr>
            <a:r>
              <a:rPr lang="ko-KR" sz="1300" b="1">
                <a:solidFill>
                  <a:srgbClr val="168B82"/>
                </a:solidFill>
                <a:latin typeface="Arial"/>
                <a:ea typeface="Malgun Gothic"/>
                <a:cs typeface="Arial"/>
              </a:rPr>
              <a:t xml:space="preserve">면?</a:t>
            </a:r>
            <a:endParaRPr lang="ko-KR" sz="1300"/>
          </a:p>
        </p:txBody>
      </p:sp>
      <p:sp>
        <p:nvSpPr>
          <p:cNvPr id="19" name="Text 19"/>
          <p:cNvSpPr txBox="1"/>
          <p:nvPr/>
        </p:nvSpPr>
        <p:spPr>
          <a:xfrm>
            <a:off x="4508500" y="5561330"/>
            <a:ext cx="3498850" cy="4419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Invalid args로 거부하고 기존 브랜치의 HEAD를 보존</a:t>
            </a:r>
            <a:endParaRPr lang="ko-KR" sz="1300"/>
          </a:p>
          <a:p>
            <a:pPr algn="l">
              <a:lnSpc>
                <a:spcPts val="1690"/>
              </a:lnSpc>
            </a:pPr>
            <a:r>
              <a:rPr lang="ko-KR" sz="1300" b="0">
                <a:solidFill>
                  <a:srgbClr val="142536"/>
                </a:solidFill>
                <a:latin typeface="Arial"/>
                <a:ea typeface="Malgun Gothic"/>
                <a:cs typeface="Arial"/>
              </a:rPr>
              <a:t xml:space="preserve">합니다. BRANCH는 새 이름표를 추가하는 기능이므로</a:t>
            </a:r>
            <a:endParaRPr lang="ko-KR" sz="1300"/>
          </a:p>
        </p:txBody>
      </p:sp>
      <p:sp>
        <p:nvSpPr>
          <p:cNvPr id="20" name="Text 20"/>
          <p:cNvSpPr txBox="1"/>
          <p:nvPr/>
        </p:nvSpPr>
        <p:spPr>
          <a:xfrm>
            <a:off x="8185150" y="1809750"/>
            <a:ext cx="3498850" cy="87122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기존 이름표를 조용 히 이동시키지 않습니다. 다른 브랜</a:t>
            </a:r>
            <a:endParaRPr lang="ko-KR" sz="1300"/>
          </a:p>
          <a:p>
            <a:pPr algn="l">
              <a:lnSpc>
                <a:spcPts val="1690"/>
              </a:lnSpc>
            </a:pPr>
            <a:r>
              <a:rPr lang="ko-KR" sz="1300" b="0">
                <a:solidFill>
                  <a:srgbClr val="142536"/>
                </a:solidFill>
                <a:latin typeface="Arial"/>
                <a:ea typeface="Malgun Gothic"/>
                <a:cs typeface="Arial"/>
              </a:rPr>
              <a:t xml:space="preserve">치에서 BRANCH main을 입력해도 모든 브랜치 포인터</a:t>
            </a:r>
            <a:endParaRPr lang="ko-KR" sz="1300"/>
          </a:p>
          <a:p>
            <a:pPr algn="l">
              <a:lnSpc>
                <a:spcPts val="1690"/>
              </a:lnSpc>
            </a:pPr>
            <a:r>
              <a:rPr lang="ko-KR" sz="1300" b="0">
                <a:solidFill>
                  <a:srgbClr val="142536"/>
                </a:solidFill>
                <a:latin typeface="Arial"/>
                <a:ea typeface="Malgun Gothic"/>
                <a:cs typeface="Arial"/>
              </a:rPr>
              <a:t xml:space="preserve">와 현재 브랜치가 유지되는지 회귀 테 스트로 확인했습</a:t>
            </a:r>
            <a:endParaRPr lang="ko-KR" sz="1300"/>
          </a:p>
          <a:p>
            <a:pPr algn="l">
              <a:lnSpc>
                <a:spcPts val="1690"/>
              </a:lnSpc>
            </a:pPr>
            <a:r>
              <a:rPr lang="ko-KR" sz="1300" b="0">
                <a:solidFill>
                  <a:srgbClr val="142536"/>
                </a:solidFill>
                <a:latin typeface="Arial"/>
                <a:ea typeface="Malgun Gothic"/>
                <a:cs typeface="Arial"/>
              </a:rPr>
              <a:t xml:space="preserve">니다.</a:t>
            </a:r>
            <a:endParaRPr lang="ko-KR" sz="1300"/>
          </a:p>
        </p:txBody>
      </p:sp>
      <p:sp>
        <p:nvSpPr>
          <p:cNvPr id="21" name="Text 21"/>
          <p:cNvSpPr txBox="1"/>
          <p:nvPr/>
        </p:nvSpPr>
        <p:spPr>
          <a:xfrm>
            <a:off x="8185150" y="2731770"/>
            <a:ext cx="3498850" cy="22733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Q4. INIT 이전에 다른 명령을 입력하면 어떻게 되는가?</a:t>
            </a:r>
            <a:endParaRPr lang="ko-KR" sz="1300"/>
          </a:p>
        </p:txBody>
      </p:sp>
      <p:sp>
        <p:nvSpPr>
          <p:cNvPr id="22" name="Text 22"/>
          <p:cNvSpPr txBox="1"/>
          <p:nvPr/>
        </p:nvSpPr>
        <p:spPr>
          <a:xfrm>
            <a:off x="8185150" y="3009900"/>
            <a:ext cx="3498850" cy="108585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Repository not initialized. Run INIT first.라는 안내</a:t>
            </a:r>
            <a:endParaRPr lang="ko-KR" sz="1300"/>
          </a:p>
          <a:p>
            <a:pPr algn="l">
              <a:lnSpc>
                <a:spcPts val="1690"/>
              </a:lnSpc>
            </a:pPr>
            <a:r>
              <a:rPr lang="ko-KR" sz="1300" b="0">
                <a:solidFill>
                  <a:srgbClr val="142536"/>
                </a:solidFill>
                <a:latin typeface="Arial"/>
                <a:ea typeface="Malgun Gothic"/>
                <a:cs typeface="Arial"/>
              </a:rPr>
              <a:t xml:space="preserve">메시지를 반환합니다. 이는 과제 명세의 최소 3종 표준</a:t>
            </a:r>
            <a:endParaRPr lang="ko-KR" sz="1300"/>
          </a:p>
          <a:p>
            <a:pPr algn="l">
              <a:lnSpc>
                <a:spcPts val="1690"/>
              </a:lnSpc>
            </a:pPr>
            <a:r>
              <a:rPr lang="ko-KR" sz="1300" b="0">
                <a:solidFill>
                  <a:srgbClr val="142536"/>
                </a:solidFill>
                <a:latin typeface="Arial"/>
                <a:ea typeface="Malgun Gothic"/>
                <a:cs typeface="Arial"/>
              </a:rPr>
              <a:t xml:space="preserve">에러에는 없지만, " 잘못된 입력에 대한 최소 에러 메시</a:t>
            </a:r>
            <a:endParaRPr lang="ko-KR" sz="1300"/>
          </a:p>
          <a:p>
            <a:pPr algn="l">
              <a:lnSpc>
                <a:spcPts val="1690"/>
              </a:lnSpc>
            </a:pPr>
            <a:r>
              <a:rPr lang="ko-KR" sz="1300" b="0">
                <a:solidFill>
                  <a:srgbClr val="142536"/>
                </a:solidFill>
                <a:latin typeface="Arial"/>
                <a:ea typeface="Malgun Gothic"/>
                <a:cs typeface="Arial"/>
              </a:rPr>
              <a:t xml:space="preserve">지를 표준화한다"는 조항이 그 3개가 전부라고 못박지는</a:t>
            </a:r>
            <a:endParaRPr lang="ko-KR" sz="1300"/>
          </a:p>
          <a:p>
            <a:pPr algn="l">
              <a:lnSpc>
                <a:spcPts val="1690"/>
              </a:lnSpc>
            </a:pPr>
            <a:r>
              <a:rPr lang="ko-KR" sz="1300" b="0">
                <a:solidFill>
                  <a:srgbClr val="142536"/>
                </a:solidFill>
                <a:latin typeface="Arial"/>
                <a:ea typeface="Malgun Gothic"/>
                <a:cs typeface="Arial"/>
              </a:rPr>
              <a:t xml:space="preserve">않았기 때문에, 사용성을 위해 추가한 확장입니다.</a:t>
            </a:r>
            <a:endParaRPr lang="ko-KR" sz="1300"/>
          </a:p>
        </p:txBody>
      </p:sp>
      <p:sp>
        <p:nvSpPr>
          <p:cNvPr id="23" name="Text 23"/>
          <p:cNvSpPr txBox="1"/>
          <p:nvPr/>
        </p:nvSpPr>
        <p:spPr>
          <a:xfrm>
            <a:off x="8185150" y="4146550"/>
            <a:ext cx="3498850" cy="172974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기존 설명 문서에는 BRANCH 덮어쓰기 정책이 남아 있</a:t>
            </a:r>
            <a:endParaRPr lang="ko-KR" sz="1300"/>
          </a:p>
          <a:p>
            <a:pPr algn="l">
              <a:lnSpc>
                <a:spcPts val="1690"/>
              </a:lnSpc>
            </a:pPr>
            <a:r>
              <a:rPr lang="ko-KR" sz="1300" b="0">
                <a:solidFill>
                  <a:srgbClr val="142536"/>
                </a:solidFill>
                <a:latin typeface="Arial"/>
                <a:ea typeface="Malgun Gothic"/>
                <a:cs typeface="Arial"/>
              </a:rPr>
              <a:t xml:space="preserve">었지만 현재 코드는 중복 이름을 거부합니다. 발표에서</a:t>
            </a:r>
            <a:endParaRPr lang="ko-KR" sz="1300"/>
          </a:p>
          <a:p>
            <a:pPr algn="l">
              <a:lnSpc>
                <a:spcPts val="1690"/>
              </a:lnSpc>
            </a:pPr>
            <a:r>
              <a:rPr lang="ko-KR" sz="1300" b="0">
                <a:solidFill>
                  <a:srgbClr val="142536"/>
                </a:solidFill>
                <a:latin typeface="Arial"/>
                <a:ea typeface="Malgun Gothic"/>
                <a:cs typeface="Arial"/>
              </a:rPr>
              <a:t xml:space="preserve">는 현재 구현을 기준으로 답합니다. [branch]는 커밋의</a:t>
            </a:r>
            <a:endParaRPr lang="ko-KR" sz="1300"/>
          </a:p>
          <a:p>
            <a:pPr algn="l">
              <a:lnSpc>
                <a:spcPts val="1690"/>
              </a:lnSpc>
            </a:pPr>
            <a:r>
              <a:rPr lang="ko-KR" sz="1300" b="0">
                <a:solidFill>
                  <a:srgbClr val="142536"/>
                </a:solidFill>
                <a:latin typeface="Arial"/>
                <a:ea typeface="Malgun Gothic"/>
                <a:cs typeface="Arial"/>
              </a:rPr>
              <a:t xml:space="preserve">생성 당시 메타데이터라 지금 브랜치가 가리키는 곳이라</a:t>
            </a:r>
            <a:endParaRPr lang="ko-KR" sz="1300"/>
          </a:p>
          <a:p>
            <a:pPr algn="l">
              <a:lnSpc>
                <a:spcPts val="1690"/>
              </a:lnSpc>
            </a:pPr>
            <a:r>
              <a:rPr lang="ko-KR" sz="1300" b="0">
                <a:solidFill>
                  <a:srgbClr val="142536"/>
                </a:solidFill>
                <a:latin typeface="Arial"/>
                <a:ea typeface="Malgun Gothic"/>
                <a:cs typeface="Arial"/>
              </a:rPr>
              <a:t xml:space="preserve">는 의미가 아닙니다. 표준 오류에는 Invalid args, Unkn</a:t>
            </a:r>
            <a:endParaRPr lang="ko-KR" sz="1300"/>
          </a:p>
          <a:p>
            <a:pPr algn="l">
              <a:lnSpc>
                <a:spcPts val="1690"/>
              </a:lnSpc>
            </a:pPr>
            <a:r>
              <a:rPr lang="ko-KR" sz="1300" b="0">
                <a:solidFill>
                  <a:srgbClr val="142536"/>
                </a:solidFill>
                <a:latin typeface="Arial"/>
                <a:ea typeface="Malgun Gothic"/>
                <a:cs typeface="Arial"/>
              </a:rPr>
              <a:t xml:space="preserve">own branch, Unknown commit이 있고, 초기화 전 안</a:t>
            </a:r>
            <a:endParaRPr lang="ko-KR" sz="1300"/>
          </a:p>
          <a:p>
            <a:pPr algn="l">
              <a:lnSpc>
                <a:spcPts val="1690"/>
              </a:lnSpc>
            </a:pPr>
            <a:r>
              <a:rPr lang="ko-KR" sz="1300" b="0">
                <a:solidFill>
                  <a:srgbClr val="142536"/>
                </a:solidFill>
                <a:latin typeface="Arial"/>
                <a:ea typeface="Malgun Gothic"/>
                <a:cs typeface="Arial"/>
              </a:rPr>
              <a:t xml:space="preserve">내는 별도 확장입니다. 재초기화는 저장 데이터를 없애</a:t>
            </a:r>
            <a:endParaRPr lang="ko-KR" sz="1300"/>
          </a:p>
          <a:p>
            <a:pPr algn="l">
              <a:lnSpc>
                <a:spcPts val="1690"/>
              </a:lnSpc>
            </a:pPr>
            <a:r>
              <a:rPr lang="ko-KR" sz="1300" b="0">
                <a:solidFill>
                  <a:srgbClr val="142536"/>
                </a:solidFill>
                <a:latin typeface="Arial"/>
                <a:ea typeface="Malgun Gothic"/>
                <a:cs typeface="Arial"/>
              </a:rPr>
              <a:t xml:space="preserve">므로 데모를 다시 시작할 때 사용합니다.</a:t>
            </a:r>
            <a:endParaRPr lang="ko-KR" sz="1300"/>
          </a:p>
        </p:txBody>
      </p:sp>
      <p:sp>
        <p:nvSpPr>
          <p:cNvPr id="24" name="Text 24"/>
          <p:cNvSpPr txBox="1"/>
          <p:nvPr/>
        </p:nvSpPr>
        <p:spPr>
          <a:xfrm>
            <a:off x="508000" y="6299200"/>
            <a:ext cx="11176000" cy="22860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상태를 바꾸는 정책과 출력용 정보를 구분해서 답합니다.</a:t>
            </a:r>
            <a:endParaRPr lang="ko-KR" sz="1250"/>
          </a:p>
        </p:txBody>
      </p:sp>
      <p:sp>
        <p:nvSpPr>
          <p:cNvPr id="25" name="Text 25"/>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mini_git/cli.py · repository.py · tests/test_mini_git.py · 평가질문_설명자료.md</a:t>
            </a:r>
            <a:endParaRPr lang="ko-KR" sz="1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평가 질문: 과제 제약을 지켰나요?">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Q&amp;A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24 / 26</a:t>
            </a:r>
            <a:endParaRPr lang="ko-KR" sz="1250"/>
          </a:p>
        </p:txBody>
      </p:sp>
      <p:sp>
        <p:nvSpPr>
          <p:cNvPr id="5" name="Text 5"/>
          <p:cNvSpPr txBox="1"/>
          <p:nvPr/>
        </p:nvSpPr>
        <p:spPr>
          <a:xfrm>
            <a:off x="508000" y="793750"/>
            <a:ext cx="11176000" cy="635000"/>
          </a:xfrm>
          <a:prstGeom prst="rect">
            <a:avLst/>
          </a:prstGeom>
          <a:noFill/>
          <a:ln>
            <a:noFill/>
          </a:ln>
        </p:spPr>
        <p:txBody>
          <a:bodyPr wrap="square" lIns="0" tIns="0" rIns="0" bIns="0" anchor="t">
            <a:noAutofit/>
          </a:bodyPr>
          <a:lstStyle/>
          <a:p>
            <a:pPr algn="l">
              <a:lnSpc>
                <a:spcPts val="3900"/>
              </a:lnSpc>
            </a:pPr>
            <a:r>
              <a:rPr lang="ko-KR" sz="3000" b="1">
                <a:solidFill>
                  <a:srgbClr val="142536"/>
                </a:solidFill>
                <a:latin typeface="Arial"/>
                <a:ea typeface="Malgun Gothic"/>
                <a:cs typeface="Arial"/>
              </a:rPr>
              <a:t xml:space="preserve">평가 질문: 과제 제약을 지켰나요?</a:t>
            </a:r>
            <a:endParaRPr lang="ko-KR" sz="3000"/>
          </a:p>
        </p:txBody>
      </p:sp>
      <p:sp>
        <p:nvSpPr>
          <p:cNvPr id="6" name="Text 6"/>
          <p:cNvSpPr txBox="1"/>
          <p:nvPr/>
        </p:nvSpPr>
        <p:spPr>
          <a:xfrm>
            <a:off x="571500" y="1492250"/>
            <a:ext cx="3683000" cy="24130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핵심 · 그림 · 실행</a:t>
            </a:r>
            <a:endParaRPr lang="ko-KR" sz="1300"/>
          </a:p>
        </p:txBody>
      </p:sp>
      <p:sp>
        <p:nvSpPr>
          <p:cNvPr id="7" name="Text 7"/>
          <p:cNvSpPr txBox="1"/>
          <p:nvPr/>
        </p:nvSpPr>
        <p:spPr>
          <a:xfrm>
            <a:off x="4508500" y="1492250"/>
            <a:ext cx="7175500" cy="24130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상세 설명 · 코드 · 문답 전체</a:t>
            </a:r>
            <a:endParaRPr lang="ko-KR" sz="1300"/>
          </a:p>
        </p:txBody>
      </p:sp>
      <p:sp>
        <p:nvSpPr>
          <p:cNvPr id="8" name="Shape 8"/>
          <p:cNvSpPr/>
          <p:nvPr/>
        </p:nvSpPr>
        <p:spPr>
          <a:xfrm>
            <a:off x="4349750" y="1778000"/>
            <a:ext cx="12700" cy="4381500"/>
          </a:xfrm>
          <a:prstGeom prst="rect">
            <a:avLst/>
          </a:prstGeom>
          <a:solidFill>
            <a:srgbClr val="D7DFDB"/>
          </a:solidFill>
          <a:ln>
            <a:noFill/>
          </a:ln>
        </p:spPr>
      </p:sp>
      <p:sp>
        <p:nvSpPr>
          <p:cNvPr id="9" name="Text 9"/>
          <p:cNvSpPr txBox="1"/>
          <p:nvPr/>
        </p:nvSpPr>
        <p:spPr>
          <a:xfrm>
            <a:off x="571500" y="1809750"/>
            <a:ext cx="3683000" cy="243840"/>
          </a:xfrm>
          <a:prstGeom prst="rect">
            <a:avLst/>
          </a:prstGeom>
          <a:noFill/>
          <a:ln>
            <a:noFill/>
          </a:ln>
        </p:spPr>
        <p:txBody>
          <a:bodyPr wrap="square" lIns="0" tIns="0" rIns="0" bIns="0" anchor="t">
            <a:noAutofit/>
          </a:bodyPr>
          <a:lstStyle/>
          <a:p>
            <a:pPr algn="l">
              <a:lnSpc>
                <a:spcPts val="1820"/>
              </a:lnSpc>
            </a:pPr>
            <a:r>
              <a:rPr lang="ko-KR" sz="1400" b="1">
                <a:solidFill>
                  <a:srgbClr val="168B82"/>
                </a:solidFill>
                <a:latin typeface="Arial"/>
                <a:ea typeface="Malgun Gothic"/>
                <a:cs typeface="Arial"/>
              </a:rPr>
              <a:t xml:space="preserve">사용한 것</a:t>
            </a:r>
            <a:endParaRPr lang="ko-KR" sz="1400"/>
          </a:p>
        </p:txBody>
      </p:sp>
      <p:sp>
        <p:nvSpPr>
          <p:cNvPr id="10" name="Text 10"/>
          <p:cNvSpPr txBox="1"/>
          <p:nvPr/>
        </p:nvSpPr>
        <p:spPr>
          <a:xfrm>
            <a:off x="571500" y="2104390"/>
            <a:ext cx="3683000" cy="47498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Arial"/>
                <a:ea typeface="Malgun Gothic"/>
                <a:cs typeface="Arial"/>
              </a:rPr>
              <a:t xml:space="preserve">dict: 커밋·브랜치·색인 list: 부모·큐·결과 set: 조상 방</a:t>
            </a:r>
            <a:endParaRPr lang="ko-KR" sz="1400"/>
          </a:p>
          <a:p>
            <a:pPr algn="l">
              <a:lnSpc>
                <a:spcPts val="1820"/>
              </a:lnSpc>
            </a:pPr>
            <a:r>
              <a:rPr lang="ko-KR" sz="1400" b="0">
                <a:solidFill>
                  <a:srgbClr val="142536"/>
                </a:solidFill>
                <a:latin typeface="Arial"/>
                <a:ea typeface="Malgun Gothic"/>
                <a:cs typeface="Arial"/>
              </a:rPr>
              <a:t xml:space="preserve">문 기록 표준 라이브러리만 사용</a:t>
            </a:r>
            <a:endParaRPr lang="ko-KR" sz="1400"/>
          </a:p>
        </p:txBody>
      </p:sp>
      <p:sp>
        <p:nvSpPr>
          <p:cNvPr id="11" name="Text 11"/>
          <p:cNvSpPr txBox="1"/>
          <p:nvPr/>
        </p:nvSpPr>
        <p:spPr>
          <a:xfrm>
            <a:off x="571500" y="2630170"/>
            <a:ext cx="3683000" cy="243840"/>
          </a:xfrm>
          <a:prstGeom prst="rect">
            <a:avLst/>
          </a:prstGeom>
          <a:noFill/>
          <a:ln>
            <a:noFill/>
          </a:ln>
        </p:spPr>
        <p:txBody>
          <a:bodyPr wrap="square" lIns="0" tIns="0" rIns="0" bIns="0" anchor="t">
            <a:noAutofit/>
          </a:bodyPr>
          <a:lstStyle/>
          <a:p>
            <a:pPr algn="l">
              <a:lnSpc>
                <a:spcPts val="1820"/>
              </a:lnSpc>
            </a:pPr>
            <a:r>
              <a:rPr lang="ko-KR" sz="1400" b="1">
                <a:solidFill>
                  <a:srgbClr val="168B82"/>
                </a:solidFill>
                <a:latin typeface="Arial"/>
                <a:ea typeface="Malgun Gothic"/>
                <a:cs typeface="Arial"/>
              </a:rPr>
              <a:t xml:space="preserve">사용하지 않은 것</a:t>
            </a:r>
            <a:endParaRPr lang="ko-KR" sz="1400"/>
          </a:p>
        </p:txBody>
      </p:sp>
      <p:sp>
        <p:nvSpPr>
          <p:cNvPr id="12" name="Text 12"/>
          <p:cNvSpPr txBox="1"/>
          <p:nvPr/>
        </p:nvSpPr>
        <p:spPr>
          <a:xfrm>
            <a:off x="571500" y="2924810"/>
            <a:ext cx="3683000" cy="47498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Arial"/>
                <a:ea typeface="Malgun Gothic"/>
                <a:cs typeface="Arial"/>
              </a:rPr>
              <a:t xml:space="preserve">sorted(), list.sort() 그래프 전용 라이브러리 네트워크</a:t>
            </a:r>
            <a:endParaRPr lang="ko-KR" sz="1400"/>
          </a:p>
          <a:p>
            <a:pPr algn="l">
              <a:lnSpc>
                <a:spcPts val="1820"/>
              </a:lnSpc>
            </a:pPr>
            <a:r>
              <a:rPr lang="ko-KR" sz="1400" b="0">
                <a:solidFill>
                  <a:srgbClr val="142536"/>
                </a:solidFill>
                <a:latin typeface="Arial"/>
                <a:ea typeface="Malgun Gothic"/>
                <a:cs typeface="Arial"/>
              </a:rPr>
              <a:t xml:space="preserve">통신·파일 내용 추적</a:t>
            </a:r>
            <a:endParaRPr lang="ko-KR" sz="1400"/>
          </a:p>
        </p:txBody>
      </p:sp>
      <p:sp>
        <p:nvSpPr>
          <p:cNvPr id="13" name="Text 13"/>
          <p:cNvSpPr txBox="1"/>
          <p:nvPr/>
        </p:nvSpPr>
        <p:spPr>
          <a:xfrm>
            <a:off x="571500" y="3450590"/>
            <a:ext cx="3683000" cy="243840"/>
          </a:xfrm>
          <a:prstGeom prst="rect">
            <a:avLst/>
          </a:prstGeom>
          <a:noFill/>
          <a:ln>
            <a:noFill/>
          </a:ln>
        </p:spPr>
        <p:txBody>
          <a:bodyPr wrap="square" lIns="0" tIns="0" rIns="0" bIns="0" anchor="t">
            <a:noAutofit/>
          </a:bodyPr>
          <a:lstStyle/>
          <a:p>
            <a:pPr algn="l">
              <a:lnSpc>
                <a:spcPts val="1820"/>
              </a:lnSpc>
            </a:pPr>
            <a:r>
              <a:rPr lang="ko-KR" sz="1400" b="1">
                <a:solidFill>
                  <a:srgbClr val="168B82"/>
                </a:solidFill>
                <a:latin typeface="Arial"/>
                <a:ea typeface="Malgun Gothic"/>
                <a:cs typeface="Arial"/>
              </a:rPr>
              <a:t xml:space="preserve">선택 과제</a:t>
            </a:r>
            <a:endParaRPr lang="ko-KR" sz="1400"/>
          </a:p>
        </p:txBody>
      </p:sp>
      <p:sp>
        <p:nvSpPr>
          <p:cNvPr id="14" name="Text 14"/>
          <p:cNvSpPr txBox="1"/>
          <p:nvPr/>
        </p:nvSpPr>
        <p:spPr>
          <a:xfrm>
            <a:off x="571500" y="3745230"/>
            <a:ext cx="3683000" cy="47498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Arial"/>
                <a:ea typeface="Malgun Gothic"/>
                <a:cs typeface="Arial"/>
              </a:rPr>
              <a:t xml:space="preserve">Diff·Merge 명령 미구현 복수 정렬 성능 비교 미구현</a:t>
            </a:r>
            <a:endParaRPr lang="ko-KR" sz="1400"/>
          </a:p>
          <a:p>
            <a:pPr algn="l">
              <a:lnSpc>
                <a:spcPts val="1820"/>
              </a:lnSpc>
            </a:pPr>
            <a:r>
              <a:rPr lang="ko-KR" sz="1400" b="0">
                <a:solidFill>
                  <a:srgbClr val="142536"/>
                </a:solidFill>
                <a:latin typeface="Arial"/>
                <a:ea typeface="Malgun Gothic"/>
                <a:cs typeface="Arial"/>
              </a:rPr>
              <a:t xml:space="preserve">메모리만 유지, 영속성은 선택</a:t>
            </a:r>
            <a:endParaRPr lang="ko-KR" sz="1400"/>
          </a:p>
        </p:txBody>
      </p:sp>
      <p:sp>
        <p:nvSpPr>
          <p:cNvPr id="15" name="Text 15"/>
          <p:cNvSpPr txBox="1"/>
          <p:nvPr/>
        </p:nvSpPr>
        <p:spPr>
          <a:xfrm>
            <a:off x="571500" y="4271010"/>
            <a:ext cx="3683000" cy="243840"/>
          </a:xfrm>
          <a:prstGeom prst="rect">
            <a:avLst/>
          </a:prstGeom>
          <a:noFill/>
          <a:ln>
            <a:noFill/>
          </a:ln>
        </p:spPr>
        <p:txBody>
          <a:bodyPr wrap="square" lIns="0" tIns="0" rIns="0" bIns="0" anchor="t">
            <a:noAutofit/>
          </a:bodyPr>
          <a:lstStyle/>
          <a:p>
            <a:pPr algn="l">
              <a:lnSpc>
                <a:spcPts val="1820"/>
              </a:lnSpc>
            </a:pPr>
            <a:r>
              <a:rPr lang="ko-KR" sz="1400" b="1">
                <a:solidFill>
                  <a:srgbClr val="168B82"/>
                </a:solidFill>
                <a:latin typeface="Arial"/>
                <a:ea typeface="Malgun Gothic"/>
                <a:cs typeface="Arial"/>
              </a:rPr>
              <a:t xml:space="preserve">실행 확인 · 일반 터미널 · b3-2 폴더</a:t>
            </a:r>
            <a:endParaRPr lang="ko-KR" sz="1400"/>
          </a:p>
        </p:txBody>
      </p:sp>
      <p:sp>
        <p:nvSpPr>
          <p:cNvPr id="16" name="Text 16"/>
          <p:cNvSpPr txBox="1"/>
          <p:nvPr/>
        </p:nvSpPr>
        <p:spPr>
          <a:xfrm>
            <a:off x="571500" y="4565650"/>
            <a:ext cx="3683000" cy="47498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Menlo"/>
                <a:ea typeface="Malgun Gothic"/>
                <a:cs typeface="Arial"/>
              </a:rPr>
              <a:t xml:space="preserve">python3 -B -m unittest discover -s</a:t>
            </a:r>
            <a:endParaRPr lang="ko-KR" sz="1400"/>
          </a:p>
          <a:p>
            <a:pPr algn="l">
              <a:lnSpc>
                <a:spcPts val="1820"/>
              </a:lnSpc>
            </a:pPr>
            <a:r>
              <a:rPr lang="ko-KR" sz="1400" b="0">
                <a:solidFill>
                  <a:srgbClr val="142536"/>
                </a:solidFill>
                <a:latin typeface="Menlo"/>
                <a:ea typeface="Malgun Gothic"/>
                <a:cs typeface="Arial"/>
              </a:rPr>
              <a:t xml:space="preserve">tests -v -k no_standard_sort</a:t>
            </a:r>
            <a:endParaRPr lang="ko-KR" sz="1400"/>
          </a:p>
        </p:txBody>
      </p:sp>
      <p:sp>
        <p:nvSpPr>
          <p:cNvPr id="17" name="Text 17"/>
          <p:cNvSpPr txBox="1"/>
          <p:nvPr/>
        </p:nvSpPr>
        <p:spPr>
          <a:xfrm>
            <a:off x="571500" y="5091430"/>
            <a:ext cx="3683000" cy="47498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Arial"/>
                <a:ea typeface="Malgun Gothic"/>
                <a:cs typeface="Arial"/>
              </a:rPr>
              <a:t xml:space="preserve">확인: 표준 정렬 호출·그래프 전용 라이브러리 사용 여</a:t>
            </a:r>
            <a:endParaRPr lang="ko-KR" sz="1400"/>
          </a:p>
          <a:p>
            <a:pPr algn="l">
              <a:lnSpc>
                <a:spcPts val="1820"/>
              </a:lnSpc>
            </a:pPr>
            <a:r>
              <a:rPr lang="ko-KR" sz="1400" b="0">
                <a:solidFill>
                  <a:srgbClr val="142536"/>
                </a:solidFill>
                <a:latin typeface="Arial"/>
                <a:ea typeface="Malgun Gothic"/>
                <a:cs typeface="Arial"/>
              </a:rPr>
              <a:t xml:space="preserve">부 검사 · 마지막 OK 확인</a:t>
            </a:r>
            <a:endParaRPr lang="ko-KR" sz="1400"/>
          </a:p>
        </p:txBody>
      </p:sp>
      <p:sp>
        <p:nvSpPr>
          <p:cNvPr id="18" name="Text 18"/>
          <p:cNvSpPr txBox="1"/>
          <p:nvPr/>
        </p:nvSpPr>
        <p:spPr>
          <a:xfrm>
            <a:off x="4508500" y="1809750"/>
            <a:ext cx="3498850" cy="144780"/>
          </a:xfrm>
          <a:prstGeom prst="rect">
            <a:avLst/>
          </a:prstGeom>
          <a:noFill/>
          <a:ln>
            <a:noFill/>
          </a:ln>
        </p:spPr>
        <p:txBody>
          <a:bodyPr wrap="square" lIns="0" tIns="0" rIns="0" bIns="0" anchor="t">
            <a:noAutofit/>
          </a:bodyPr>
          <a:lstStyle/>
          <a:p>
            <a:pPr algn="l">
              <a:lnSpc>
                <a:spcPts val="1040"/>
              </a:lnSpc>
            </a:pPr>
            <a:r>
              <a:rPr lang="ko-KR" sz="800" b="1">
                <a:solidFill>
                  <a:srgbClr val="168B82"/>
                </a:solidFill>
                <a:latin typeface="Arial"/>
                <a:ea typeface="Malgun Gothic"/>
                <a:cs typeface="Arial"/>
              </a:rPr>
              <a:t xml:space="preserve">Q1. sorted()/list.sort()를 정말 하나도 안 썼는가?</a:t>
            </a:r>
            <a:endParaRPr lang="ko-KR" sz="800"/>
          </a:p>
        </p:txBody>
      </p:sp>
      <p:sp>
        <p:nvSpPr>
          <p:cNvPr id="19" name="Text 19"/>
          <p:cNvSpPr txBox="1"/>
          <p:nvPr/>
        </p:nvSpPr>
        <p:spPr>
          <a:xfrm>
            <a:off x="4508500" y="2005330"/>
            <a:ext cx="3498850" cy="1597660"/>
          </a:xfrm>
          <a:prstGeom prst="rect">
            <a:avLst/>
          </a:prstGeom>
          <a:noFill/>
          <a:ln>
            <a:noFill/>
          </a:ln>
        </p:spPr>
        <p:txBody>
          <a:bodyPr wrap="square" lIns="0" tIns="0" rIns="0" bIns="0" anchor="t">
            <a:noAutofit/>
          </a:bodyPr>
          <a:lstStyle/>
          <a:p>
            <a:pPr algn="l">
              <a:lnSpc>
                <a:spcPts val="1040"/>
              </a:lnSpc>
            </a:pPr>
            <a:r>
              <a:rPr lang="ko-KR" sz="800" b="0">
                <a:solidFill>
                  <a:srgbClr val="142536"/>
                </a:solidFill>
                <a:latin typeface="Arial"/>
                <a:ea typeface="Malgun Gothic"/>
                <a:cs typeface="Arial"/>
              </a:rPr>
              <a:t xml:space="preserve">파이썬에는 sorted()와 list.sort()라는 기본 정렬 기능이 있습니다. 이 과제는 정렬 원리</a:t>
            </a:r>
            <a:endParaRPr lang="ko-KR" sz="800"/>
          </a:p>
          <a:p>
            <a:pPr algn="l">
              <a:lnSpc>
                <a:spcPts val="1040"/>
              </a:lnSpc>
            </a:pPr>
            <a:r>
              <a:rPr lang="ko-KR" sz="800" b="0">
                <a:solidFill>
                  <a:srgbClr val="142536"/>
                </a:solidFill>
                <a:latin typeface="Arial"/>
                <a:ea typeface="Malgun Gothic"/>
                <a:cs typeface="Arial"/>
              </a:rPr>
              <a:t xml:space="preserve">를 직접 구현하는 연습이므로, 기본 기능 대신 직접 만든 merge_sort()를 사용했습니다.</a:t>
            </a:r>
            <a:endParaRPr lang="ko-KR" sz="800"/>
          </a:p>
          <a:p>
            <a:pPr algn="l">
              <a:lnSpc>
                <a:spcPts val="1040"/>
              </a:lnSpc>
            </a:pPr>
            <a:r>
              <a:rPr lang="ko-KR" sz="800" b="0">
                <a:solidFill>
                  <a:srgbClr val="142536"/>
                </a:solidFill>
                <a:latin typeface="Arial"/>
                <a:ea typeface="Malgun Gothic"/>
                <a:cs typeface="Arial"/>
              </a:rPr>
              <a:t xml:space="preserve">코드에서 sorted()나 .sort()를 실제로 호출했는지 검사했습니다. 주석에 이름만 적힌 것</a:t>
            </a:r>
            <a:endParaRPr lang="ko-KR" sz="800"/>
          </a:p>
          <a:p>
            <a:pPr algn="l">
              <a:lnSpc>
                <a:spcPts val="1040"/>
              </a:lnSpc>
            </a:pPr>
            <a:r>
              <a:rPr lang="ko-KR" sz="800" b="0">
                <a:solidFill>
                  <a:srgbClr val="142536"/>
                </a:solidFill>
                <a:latin typeface="Arial"/>
                <a:ea typeface="Malgun Gothic"/>
                <a:cs typeface="Arial"/>
              </a:rPr>
              <a:t xml:space="preserve">은 사용한 것이 아닙니다. AST 검사는 코드를 문법 구조로 분석해 실제 함수 호출을 확인</a:t>
            </a:r>
            <a:endParaRPr lang="ko-KR" sz="800"/>
          </a:p>
          <a:p>
            <a:pPr algn="l">
              <a:lnSpc>
                <a:spcPts val="1040"/>
              </a:lnSpc>
            </a:pPr>
            <a:r>
              <a:rPr lang="ko-KR" sz="800" b="0">
                <a:solidFill>
                  <a:srgbClr val="142536"/>
                </a:solidFill>
                <a:latin typeface="Arial"/>
                <a:ea typeface="Malgun Gothic"/>
                <a:cs typeface="Arial"/>
              </a:rPr>
              <a:t xml:space="preserve">하는 방법입니다.</a:t>
            </a:r>
            <a:endParaRPr lang="ko-KR" sz="800"/>
          </a:p>
          <a:p>
            <a:pPr algn="l">
              <a:lnSpc>
                <a:spcPts val="1040"/>
              </a:lnSpc>
            </a:pPr>
            <a:r>
              <a:rPr lang="ko-KR" sz="800" b="0">
                <a:solidFill>
                  <a:srgbClr val="142536"/>
                </a:solidFill>
                <a:latin typeface="Arial"/>
                <a:ea typeface="Malgun Gothic"/>
                <a:cs typeface="Arial"/>
              </a:rPr>
              <a:t xml:space="preserve">정렬 결과도 확인했습니다.</a:t>
            </a:r>
            <a:endParaRPr lang="ko-KR" sz="800"/>
          </a:p>
          <a:p>
            <a:pPr algn="l">
              <a:lnSpc>
                <a:spcPts val="1040"/>
              </a:lnSpc>
            </a:pPr>
            <a:r>
              <a:rPr lang="ko-KR" sz="800" b="0">
                <a:solidFill>
                  <a:srgbClr val="142536"/>
                </a:solidFill>
                <a:latin typeface="Arial"/>
                <a:ea typeface="Malgun Gothic"/>
                <a:cs typeface="Arial"/>
              </a:rPr>
              <a:t xml:space="preserve">• 오름차순: 작은 값부터 나오는가?</a:t>
            </a:r>
            <a:endParaRPr lang="ko-KR" sz="800"/>
          </a:p>
          <a:p>
            <a:pPr algn="l">
              <a:lnSpc>
                <a:spcPts val="1040"/>
              </a:lnSpc>
            </a:pPr>
            <a:r>
              <a:rPr lang="ko-KR" sz="800" b="0">
                <a:solidFill>
                  <a:srgbClr val="142536"/>
                </a:solidFill>
                <a:latin typeface="Arial"/>
                <a:ea typeface="Malgun Gothic"/>
                <a:cs typeface="Arial"/>
              </a:rPr>
              <a:t xml:space="preserve">• 원소 보존: 데이터가 빠지거나 추가되지 않았는가?</a:t>
            </a:r>
            <a:endParaRPr lang="ko-KR" sz="800"/>
          </a:p>
          <a:p>
            <a:pPr algn="l">
              <a:lnSpc>
                <a:spcPts val="1040"/>
              </a:lnSpc>
            </a:pPr>
            <a:r>
              <a:rPr lang="ko-KR" sz="800" b="0">
                <a:solidFill>
                  <a:srgbClr val="142536"/>
                </a:solidFill>
                <a:latin typeface="Arial"/>
                <a:ea typeface="Malgun Gothic"/>
                <a:cs typeface="Arial"/>
              </a:rPr>
              <a:t xml:space="preserve">• 같은 값의 순서 유지: Alice①이 Alice②보다 앞에 남는가?</a:t>
            </a:r>
            <a:endParaRPr lang="ko-KR" sz="800"/>
          </a:p>
          <a:p>
            <a:pPr algn="l">
              <a:lnSpc>
                <a:spcPts val="1040"/>
              </a:lnSpc>
            </a:pPr>
            <a:r>
              <a:rPr lang="ko-KR" sz="800" b="0">
                <a:solidFill>
                  <a:srgbClr val="142536"/>
                </a:solidFill>
                <a:latin typeface="Arial"/>
                <a:ea typeface="Malgun Gothic"/>
                <a:cs typeface="Arial"/>
              </a:rPr>
              <a:t xml:space="preserve">• 원본 불변: 입력 데이터는 그대로인가?</a:t>
            </a:r>
            <a:endParaRPr lang="ko-KR" sz="800"/>
          </a:p>
          <a:p>
            <a:pPr algn="l">
              <a:lnSpc>
                <a:spcPts val="1040"/>
              </a:lnSpc>
            </a:pPr>
            <a:r>
              <a:rPr lang="ko-KR" sz="800" b="0">
                <a:solidFill>
                  <a:srgbClr val="142536"/>
                </a:solidFill>
                <a:latin typeface="Arial"/>
                <a:ea typeface="Malgun Gothic"/>
                <a:cs typeface="Arial"/>
              </a:rPr>
              <a:t xml:space="preserve">발표 답변: 기본 정렬 함수 대신 병합 정렬을 직접 구현했습니다. 금지된 함수 사용 여부와</a:t>
            </a:r>
            <a:endParaRPr lang="ko-KR" sz="800"/>
          </a:p>
          <a:p>
            <a:pPr algn="l">
              <a:lnSpc>
                <a:spcPts val="1040"/>
              </a:lnSpc>
            </a:pPr>
            <a:r>
              <a:rPr lang="ko-KR" sz="800" b="0">
                <a:solidFill>
                  <a:srgbClr val="142536"/>
                </a:solidFill>
                <a:latin typeface="Arial"/>
                <a:ea typeface="Malgun Gothic"/>
                <a:cs typeface="Arial"/>
              </a:rPr>
              <a:t xml:space="preserve">정렬 결과를 테스트했습니다.</a:t>
            </a:r>
            <a:endParaRPr lang="ko-KR" sz="800"/>
          </a:p>
        </p:txBody>
      </p:sp>
      <p:sp>
        <p:nvSpPr>
          <p:cNvPr id="20" name="Text 20"/>
          <p:cNvSpPr txBox="1"/>
          <p:nvPr/>
        </p:nvSpPr>
        <p:spPr>
          <a:xfrm>
            <a:off x="4508500" y="3653790"/>
            <a:ext cx="3498850" cy="144780"/>
          </a:xfrm>
          <a:prstGeom prst="rect">
            <a:avLst/>
          </a:prstGeom>
          <a:noFill/>
          <a:ln>
            <a:noFill/>
          </a:ln>
        </p:spPr>
        <p:txBody>
          <a:bodyPr wrap="square" lIns="0" tIns="0" rIns="0" bIns="0" anchor="t">
            <a:noAutofit/>
          </a:bodyPr>
          <a:lstStyle/>
          <a:p>
            <a:pPr algn="l">
              <a:lnSpc>
                <a:spcPts val="1040"/>
              </a:lnSpc>
            </a:pPr>
            <a:r>
              <a:rPr lang="ko-KR" sz="800" b="1">
                <a:solidFill>
                  <a:srgbClr val="168B82"/>
                </a:solidFill>
                <a:latin typeface="Arial"/>
                <a:ea typeface="Malgun Gothic"/>
                <a:cs typeface="Arial"/>
              </a:rPr>
              <a:t xml:space="preserve">Q2. 그래프 전용 라이브러리를 안 썼다는 건 어떻게 확인했는가?</a:t>
            </a:r>
            <a:endParaRPr lang="ko-KR" sz="800"/>
          </a:p>
        </p:txBody>
      </p:sp>
      <p:sp>
        <p:nvSpPr>
          <p:cNvPr id="21" name="Text 21"/>
          <p:cNvSpPr txBox="1"/>
          <p:nvPr/>
        </p:nvSpPr>
        <p:spPr>
          <a:xfrm>
            <a:off x="4508500" y="3849370"/>
            <a:ext cx="3498850" cy="1465580"/>
          </a:xfrm>
          <a:prstGeom prst="rect">
            <a:avLst/>
          </a:prstGeom>
          <a:noFill/>
          <a:ln>
            <a:noFill/>
          </a:ln>
        </p:spPr>
        <p:txBody>
          <a:bodyPr wrap="square" lIns="0" tIns="0" rIns="0" bIns="0" anchor="t">
            <a:noAutofit/>
          </a:bodyPr>
          <a:lstStyle/>
          <a:p>
            <a:pPr algn="l">
              <a:lnSpc>
                <a:spcPts val="1040"/>
              </a:lnSpc>
            </a:pPr>
            <a:r>
              <a:rPr lang="ko-KR" sz="800" b="0">
                <a:solidFill>
                  <a:srgbClr val="142536"/>
                </a:solidFill>
                <a:latin typeface="Arial"/>
                <a:ea typeface="Malgun Gothic"/>
                <a:cs typeface="Arial"/>
              </a:rPr>
              <a:t xml:space="preserve">import와 from은 다른 파일이나 도구의 기능을 가져오는 명령입니다. 이 명령들을 살펴</a:t>
            </a:r>
            <a:endParaRPr lang="ko-KR" sz="800"/>
          </a:p>
          <a:p>
            <a:pPr algn="l">
              <a:lnSpc>
                <a:spcPts val="1040"/>
              </a:lnSpc>
            </a:pPr>
            <a:r>
              <a:rPr lang="ko-KR" sz="800" b="0">
                <a:solidFill>
                  <a:srgbClr val="142536"/>
                </a:solidFill>
                <a:latin typeface="Arial"/>
                <a:ea typeface="Malgun Gothic"/>
                <a:cs typeface="Arial"/>
              </a:rPr>
              <a:t xml:space="preserve">보면 어떤 도구를 사용했는지 알 수 있습니다.</a:t>
            </a:r>
            <a:endParaRPr lang="ko-KR" sz="800"/>
          </a:p>
          <a:p>
            <a:pPr algn="l">
              <a:lnSpc>
                <a:spcPts val="1040"/>
              </a:lnSpc>
            </a:pPr>
            <a:r>
              <a:rPr lang="ko-KR" sz="800" b="0">
                <a:solidFill>
                  <a:srgbClr val="142536"/>
                </a:solidFill>
                <a:latin typeface="Arial"/>
                <a:ea typeface="Malgun Gothic"/>
                <a:cs typeface="Arial"/>
              </a:rPr>
              <a:t xml:space="preserve">가져온 도구와 용도는 다음과 같습니다.</a:t>
            </a:r>
            <a:endParaRPr lang="ko-KR" sz="800"/>
          </a:p>
          <a:p>
            <a:pPr algn="l">
              <a:lnSpc>
                <a:spcPts val="1040"/>
              </a:lnSpc>
            </a:pPr>
            <a:r>
              <a:rPr lang="ko-KR" sz="800" b="0">
                <a:solidFill>
                  <a:srgbClr val="142536"/>
                </a:solidFill>
                <a:latin typeface="Arial"/>
                <a:ea typeface="Malgun Gothic"/>
                <a:cs typeface="Arial"/>
              </a:rPr>
              <a:t xml:space="preserve">• hashlib: 커밋 hash 생성</a:t>
            </a:r>
            <a:endParaRPr lang="ko-KR" sz="800"/>
          </a:p>
          <a:p>
            <a:pPr algn="l">
              <a:lnSpc>
                <a:spcPts val="1040"/>
              </a:lnSpc>
            </a:pPr>
            <a:r>
              <a:rPr lang="ko-KR" sz="800" b="0">
                <a:solidFill>
                  <a:srgbClr val="142536"/>
                </a:solidFill>
                <a:latin typeface="Arial"/>
                <a:ea typeface="Malgun Gothic"/>
                <a:cs typeface="Arial"/>
              </a:rPr>
              <a:t xml:space="preserve">• itertools: 순번 생성</a:t>
            </a:r>
            <a:endParaRPr lang="ko-KR" sz="800"/>
          </a:p>
          <a:p>
            <a:pPr algn="l">
              <a:lnSpc>
                <a:spcPts val="1040"/>
              </a:lnSpc>
            </a:pPr>
            <a:r>
              <a:rPr lang="ko-KR" sz="800" b="0">
                <a:solidFill>
                  <a:srgbClr val="142536"/>
                </a:solidFill>
                <a:latin typeface="Arial"/>
                <a:ea typeface="Malgun Gothic"/>
                <a:cs typeface="Arial"/>
              </a:rPr>
              <a:t xml:space="preserve">• datetime: 날짜·시간 처리</a:t>
            </a:r>
            <a:endParaRPr lang="ko-KR" sz="800"/>
          </a:p>
          <a:p>
            <a:pPr algn="l">
              <a:lnSpc>
                <a:spcPts val="1040"/>
              </a:lnSpc>
            </a:pPr>
            <a:r>
              <a:rPr lang="ko-KR" sz="800" b="0">
                <a:solidFill>
                  <a:srgbClr val="142536"/>
                </a:solidFill>
                <a:latin typeface="Arial"/>
                <a:ea typeface="Malgun Gothic"/>
                <a:cs typeface="Arial"/>
              </a:rPr>
              <a:t xml:space="preserve">• shlex: 입력 명령과 따옴표 해석</a:t>
            </a:r>
            <a:endParaRPr lang="ko-KR" sz="800"/>
          </a:p>
          <a:p>
            <a:pPr algn="l">
              <a:lnSpc>
                <a:spcPts val="1040"/>
              </a:lnSpc>
            </a:pPr>
            <a:r>
              <a:rPr lang="ko-KR" sz="800" b="0">
                <a:solidFill>
                  <a:srgbClr val="142536"/>
                </a:solidFill>
                <a:latin typeface="Arial"/>
                <a:ea typeface="Malgun Gothic"/>
                <a:cs typeface="Arial"/>
              </a:rPr>
              <a:t xml:space="preserve">• mini_git 내부 모듈: 프로젝트에서 직접 작성한 코드</a:t>
            </a:r>
            <a:endParaRPr lang="ko-KR" sz="800"/>
          </a:p>
          <a:p>
            <a:pPr algn="l">
              <a:lnSpc>
                <a:spcPts val="1040"/>
              </a:lnSpc>
            </a:pPr>
            <a:r>
              <a:rPr lang="ko-KR" sz="800" b="0">
                <a:solidFill>
                  <a:srgbClr val="142536"/>
                </a:solidFill>
                <a:latin typeface="Arial"/>
                <a:ea typeface="Malgun Gothic"/>
                <a:cs typeface="Arial"/>
              </a:rPr>
              <a:t xml:space="preserve">그래프 탐색을 대신 해주는 networkx 같은 라이브러리는 사용하지 않았습니다.</a:t>
            </a:r>
            <a:endParaRPr lang="ko-KR" sz="800"/>
          </a:p>
          <a:p>
            <a:pPr algn="l">
              <a:lnSpc>
                <a:spcPts val="1040"/>
              </a:lnSpc>
            </a:pPr>
            <a:r>
              <a:rPr lang="ko-KR" sz="800" b="0">
                <a:solidFill>
                  <a:srgbClr val="142536"/>
                </a:solidFill>
                <a:latin typeface="Arial"/>
                <a:ea typeface="Malgun Gothic"/>
                <a:cs typeface="Arial"/>
              </a:rPr>
              <a:t xml:space="preserve">발표 답변: 코드의 import 문을 확인했습니다. 날짜나 hash 생성 도구와 직접 작성한 코</a:t>
            </a:r>
            <a:endParaRPr lang="ko-KR" sz="800"/>
          </a:p>
          <a:p>
            <a:pPr algn="l">
              <a:lnSpc>
                <a:spcPts val="1040"/>
              </a:lnSpc>
            </a:pPr>
            <a:r>
              <a:rPr lang="ko-KR" sz="800" b="0">
                <a:solidFill>
                  <a:srgbClr val="142536"/>
                </a:solidFill>
                <a:latin typeface="Arial"/>
                <a:ea typeface="Malgun Gothic"/>
                <a:cs typeface="Arial"/>
              </a:rPr>
              <a:t xml:space="preserve">드만 사용했고, 그래프 탐색은 직접 구현했습니다.</a:t>
            </a:r>
            <a:endParaRPr lang="ko-KR" sz="800"/>
          </a:p>
        </p:txBody>
      </p:sp>
      <p:sp>
        <p:nvSpPr>
          <p:cNvPr id="22" name="Text 22"/>
          <p:cNvSpPr txBox="1"/>
          <p:nvPr/>
        </p:nvSpPr>
        <p:spPr>
          <a:xfrm>
            <a:off x="4508500" y="5365750"/>
            <a:ext cx="3498850" cy="144780"/>
          </a:xfrm>
          <a:prstGeom prst="rect">
            <a:avLst/>
          </a:prstGeom>
          <a:noFill/>
          <a:ln>
            <a:noFill/>
          </a:ln>
        </p:spPr>
        <p:txBody>
          <a:bodyPr wrap="square" lIns="0" tIns="0" rIns="0" bIns="0" anchor="t">
            <a:noAutofit/>
          </a:bodyPr>
          <a:lstStyle/>
          <a:p>
            <a:pPr algn="l">
              <a:lnSpc>
                <a:spcPts val="1040"/>
              </a:lnSpc>
            </a:pPr>
            <a:r>
              <a:rPr lang="ko-KR" sz="800" b="1">
                <a:solidFill>
                  <a:srgbClr val="168B82"/>
                </a:solidFill>
                <a:latin typeface="Arial"/>
                <a:ea typeface="Malgun Gothic"/>
                <a:cs typeface="Arial"/>
              </a:rPr>
              <a:t xml:space="preserve">Q3. dict/list/set을 자유롭게 쓸 수 있다는 걸 어떻게 활용했는가?</a:t>
            </a:r>
            <a:endParaRPr lang="ko-KR" sz="800"/>
          </a:p>
        </p:txBody>
      </p:sp>
      <p:sp>
        <p:nvSpPr>
          <p:cNvPr id="23" name="Text 23"/>
          <p:cNvSpPr txBox="1"/>
          <p:nvPr/>
        </p:nvSpPr>
        <p:spPr>
          <a:xfrm>
            <a:off x="4508500" y="5561330"/>
            <a:ext cx="3498850" cy="541020"/>
          </a:xfrm>
          <a:prstGeom prst="rect">
            <a:avLst/>
          </a:prstGeom>
          <a:noFill/>
          <a:ln>
            <a:noFill/>
          </a:ln>
        </p:spPr>
        <p:txBody>
          <a:bodyPr wrap="square" lIns="0" tIns="0" rIns="0" bIns="0" anchor="t">
            <a:noAutofit/>
          </a:bodyPr>
          <a:lstStyle/>
          <a:p>
            <a:pPr algn="l">
              <a:lnSpc>
                <a:spcPts val="1040"/>
              </a:lnSpc>
            </a:pPr>
            <a:r>
              <a:rPr lang="ko-KR" sz="800" b="0">
                <a:solidFill>
                  <a:srgbClr val="142536"/>
                </a:solidFill>
                <a:latin typeface="Arial"/>
                <a:ea typeface="Malgun Gothic"/>
                <a:cs typeface="Arial"/>
              </a:rPr>
              <a:t xml:space="preserve">쉽게 말하면 “파이썬의 기본 보관함 세 가지를 용도에 맞게 사용했다”는 뜻입니다.</a:t>
            </a:r>
            <a:endParaRPr lang="ko-KR" sz="800"/>
          </a:p>
          <a:p>
            <a:pPr algn="l">
              <a:lnSpc>
                <a:spcPts val="1040"/>
              </a:lnSpc>
            </a:pPr>
            <a:r>
              <a:rPr lang="ko-KR" sz="800" b="0">
                <a:solidFill>
                  <a:srgbClr val="142536"/>
                </a:solidFill>
                <a:latin typeface="Arial"/>
                <a:ea typeface="Malgun Gothic"/>
                <a:cs typeface="Arial"/>
              </a:rPr>
              <a:t xml:space="preserve">dict: 이름표로 값을 찾는 보관함입니다. hash로 커밋을 찾고, 브랜치와 검색 색인을 관리</a:t>
            </a:r>
            <a:endParaRPr lang="ko-KR" sz="800"/>
          </a:p>
          <a:p>
            <a:pPr algn="l">
              <a:lnSpc>
                <a:spcPts val="1040"/>
              </a:lnSpc>
            </a:pPr>
            <a:r>
              <a:rPr lang="ko-KR" sz="800" b="0">
                <a:solidFill>
                  <a:srgbClr val="142536"/>
                </a:solidFill>
                <a:latin typeface="Arial"/>
                <a:ea typeface="Malgun Gothic"/>
                <a:cs typeface="Arial"/>
              </a:rPr>
              <a:t xml:space="preserve">합니다.</a:t>
            </a:r>
            <a:endParaRPr lang="ko-KR" sz="800"/>
          </a:p>
          <a:p>
            <a:pPr algn="l">
              <a:lnSpc>
                <a:spcPts val="1040"/>
              </a:lnSpc>
            </a:pPr>
            <a:r>
              <a:rPr lang="ko-KR" sz="800" b="0">
                <a:solidFill>
                  <a:srgbClr val="142536"/>
                </a:solidFill>
                <a:latin typeface="Arial"/>
                <a:ea typeface="Malgun Gothic"/>
                <a:cs typeface="Arial"/>
              </a:rPr>
              <a:t xml:space="preserve">  커밋 저장소: "5f8188" → 해당 커밋</a:t>
            </a:r>
            <a:endParaRPr lang="ko-KR" sz="800"/>
          </a:p>
        </p:txBody>
      </p:sp>
      <p:sp>
        <p:nvSpPr>
          <p:cNvPr id="24" name="Text 24"/>
          <p:cNvSpPr txBox="1"/>
          <p:nvPr/>
        </p:nvSpPr>
        <p:spPr>
          <a:xfrm>
            <a:off x="8185150" y="1809750"/>
            <a:ext cx="3498850" cy="1729740"/>
          </a:xfrm>
          <a:prstGeom prst="rect">
            <a:avLst/>
          </a:prstGeom>
          <a:noFill/>
          <a:ln>
            <a:noFill/>
          </a:ln>
        </p:spPr>
        <p:txBody>
          <a:bodyPr wrap="square" lIns="0" tIns="0" rIns="0" bIns="0" anchor="t">
            <a:noAutofit/>
          </a:bodyPr>
          <a:lstStyle/>
          <a:p>
            <a:pPr algn="l">
              <a:lnSpc>
                <a:spcPts val="1040"/>
              </a:lnSpc>
            </a:pPr>
            <a:r>
              <a:rPr lang="ko-KR" sz="800" b="0">
                <a:solidFill>
                  <a:srgbClr val="142536"/>
                </a:solidFill>
                <a:latin typeface="Arial"/>
                <a:ea typeface="Malgun Gothic"/>
                <a:cs typeface="Arial"/>
              </a:rPr>
              <a:t xml:space="preserve">  브랜치 관리: "main" → 마지막 커밋의 hash</a:t>
            </a:r>
            <a:endParaRPr lang="ko-KR" sz="800"/>
          </a:p>
          <a:p>
            <a:pPr algn="l">
              <a:lnSpc>
                <a:spcPts val="1040"/>
              </a:lnSpc>
            </a:pPr>
            <a:r>
              <a:rPr lang="ko-KR" sz="800" b="0">
                <a:solidFill>
                  <a:srgbClr val="142536"/>
                </a:solidFill>
                <a:latin typeface="Arial"/>
                <a:ea typeface="Malgun Gothic"/>
                <a:cs typeface="Arial"/>
              </a:rPr>
              <a:t xml:space="preserve">  검색 색인: "login" → 해당 커밋들의 hash 목록</a:t>
            </a:r>
            <a:endParaRPr lang="ko-KR" sz="800"/>
          </a:p>
          <a:p>
            <a:pPr algn="l">
              <a:lnSpc>
                <a:spcPts val="1040"/>
              </a:lnSpc>
            </a:pPr>
            <a:r>
              <a:rPr lang="ko-KR" sz="800" b="0">
                <a:solidFill>
                  <a:srgbClr val="142536"/>
                </a:solidFill>
                <a:latin typeface="Arial"/>
                <a:ea typeface="Malgun Gothic"/>
                <a:cs typeface="Arial"/>
              </a:rPr>
              <a:t xml:space="preserve">list: 여러 값을 순서대로 담는 목록입니다. 부모 커밋 목록, 탐색 대기 목록, 결과 목록에</a:t>
            </a:r>
            <a:endParaRPr lang="ko-KR" sz="800"/>
          </a:p>
          <a:p>
            <a:pPr algn="l">
              <a:lnSpc>
                <a:spcPts val="1040"/>
              </a:lnSpc>
            </a:pPr>
            <a:r>
              <a:rPr lang="ko-KR" sz="800" b="0">
                <a:solidFill>
                  <a:srgbClr val="142536"/>
                </a:solidFill>
                <a:latin typeface="Arial"/>
                <a:ea typeface="Malgun Gothic"/>
                <a:cs typeface="Arial"/>
              </a:rPr>
              <a:t xml:space="preserve">사용합니다.</a:t>
            </a:r>
            <a:endParaRPr lang="ko-KR" sz="800"/>
          </a:p>
          <a:p>
            <a:pPr algn="l">
              <a:lnSpc>
                <a:spcPts val="1040"/>
              </a:lnSpc>
            </a:pPr>
            <a:r>
              <a:rPr lang="ko-KR" sz="800" b="0">
                <a:solidFill>
                  <a:srgbClr val="142536"/>
                </a:solidFill>
                <a:latin typeface="Arial"/>
                <a:ea typeface="Malgun Gothic"/>
                <a:cs typeface="Arial"/>
              </a:rPr>
              <a:t xml:space="preserve">set: 같은 값이 중복되지 않는 모음입니다. 이미 방문한 커밋을 기록합니다.</a:t>
            </a:r>
            <a:endParaRPr lang="ko-KR" sz="800"/>
          </a:p>
          <a:p>
            <a:pPr algn="l">
              <a:lnSpc>
                <a:spcPts val="1040"/>
              </a:lnSpc>
            </a:pPr>
            <a:r>
              <a:rPr lang="ko-KR" sz="800" b="0">
                <a:solidFill>
                  <a:srgbClr val="142536"/>
                </a:solidFill>
                <a:latin typeface="Arial"/>
                <a:ea typeface="Malgun Gothic"/>
                <a:cs typeface="Arial"/>
              </a:rPr>
              <a:t xml:space="preserve">  A를 처음 발견 → 방문 기록에 넣기</a:t>
            </a:r>
            <a:endParaRPr lang="ko-KR" sz="800"/>
          </a:p>
          <a:p>
            <a:pPr algn="l">
              <a:lnSpc>
                <a:spcPts val="1040"/>
              </a:lnSpc>
            </a:pPr>
            <a:r>
              <a:rPr lang="ko-KR" sz="800" b="0">
                <a:solidFill>
                  <a:srgbClr val="142536"/>
                </a:solidFill>
                <a:latin typeface="Arial"/>
                <a:ea typeface="Malgun Gothic"/>
                <a:cs typeface="Arial"/>
              </a:rPr>
              <a:t xml:space="preserve">  A를 다시 발견 → 이미 방문했으므로 건너뛰기</a:t>
            </a:r>
            <a:endParaRPr lang="ko-KR" sz="800"/>
          </a:p>
          <a:p>
            <a:pPr algn="l">
              <a:lnSpc>
                <a:spcPts val="1040"/>
              </a:lnSpc>
            </a:pPr>
            <a:r>
              <a:rPr lang="ko-KR" sz="800" b="0">
                <a:solidFill>
                  <a:srgbClr val="142536"/>
                </a:solidFill>
                <a:latin typeface="Arial"/>
                <a:ea typeface="Malgun Gothic"/>
                <a:cs typeface="Arial"/>
              </a:rPr>
              <a:t xml:space="preserve">따라서 같은 조상 A를 결과에 여러 번 넣지 않습니다. 방문 여부 확인도 평균적으로 빠릅</a:t>
            </a:r>
            <a:endParaRPr lang="ko-KR" sz="800"/>
          </a:p>
          <a:p>
            <a:pPr algn="l">
              <a:lnSpc>
                <a:spcPts val="1040"/>
              </a:lnSpc>
            </a:pPr>
            <a:r>
              <a:rPr lang="ko-KR" sz="800" b="0">
                <a:solidFill>
                  <a:srgbClr val="142536"/>
                </a:solidFill>
                <a:latin typeface="Arial"/>
                <a:ea typeface="Malgun Gothic"/>
                <a:cs typeface="Arial"/>
              </a:rPr>
              <a:t xml:space="preserve">니다.</a:t>
            </a:r>
            <a:endParaRPr lang="ko-KR" sz="800"/>
          </a:p>
          <a:p>
            <a:pPr algn="l">
              <a:lnSpc>
                <a:spcPts val="1040"/>
              </a:lnSpc>
            </a:pPr>
            <a:r>
              <a:rPr lang="ko-KR" sz="800" b="0">
                <a:solidFill>
                  <a:srgbClr val="142536"/>
                </a:solidFill>
                <a:latin typeface="Arial"/>
                <a:ea typeface="Malgun Gothic"/>
                <a:cs typeface="Arial"/>
              </a:rPr>
              <a:t xml:space="preserve">과제에서 이 기본 자료형은 사용을 허용하므로 활용했습니다. 탐색과 정렬 알고리즘은 직</a:t>
            </a:r>
            <a:endParaRPr lang="ko-KR" sz="800"/>
          </a:p>
          <a:p>
            <a:pPr algn="l">
              <a:lnSpc>
                <a:spcPts val="1040"/>
              </a:lnSpc>
            </a:pPr>
            <a:r>
              <a:rPr lang="ko-KR" sz="800" b="0">
                <a:solidFill>
                  <a:srgbClr val="142536"/>
                </a:solidFill>
                <a:latin typeface="Arial"/>
                <a:ea typeface="Malgun Gothic"/>
                <a:cs typeface="Arial"/>
              </a:rPr>
              <a:t xml:space="preserve">접 구현했습니다.</a:t>
            </a:r>
            <a:endParaRPr lang="ko-KR" sz="800"/>
          </a:p>
          <a:p>
            <a:pPr algn="l">
              <a:lnSpc>
                <a:spcPts val="1040"/>
              </a:lnSpc>
            </a:pPr>
            <a:r>
              <a:rPr lang="ko-KR" sz="800" b="0">
                <a:solidFill>
                  <a:srgbClr val="142536"/>
                </a:solidFill>
                <a:latin typeface="Arial"/>
                <a:ea typeface="Malgun Gothic"/>
                <a:cs typeface="Arial"/>
              </a:rPr>
              <a:t xml:space="preserve">발표 답변: dict는 커밋과 검색 정보를 빠르게 찾는 데, list는 부모와 결과 목록을 담는 데,</a:t>
            </a:r>
            <a:endParaRPr lang="ko-KR" sz="800"/>
          </a:p>
          <a:p>
            <a:pPr algn="l">
              <a:lnSpc>
                <a:spcPts val="1040"/>
              </a:lnSpc>
            </a:pPr>
            <a:r>
              <a:rPr lang="ko-KR" sz="800" b="0">
                <a:solidFill>
                  <a:srgbClr val="142536"/>
                </a:solidFill>
                <a:latin typeface="Arial"/>
                <a:ea typeface="Malgun Gothic"/>
                <a:cs typeface="Arial"/>
              </a:rPr>
              <a:t xml:space="preserve">set은 중복 방문을 막는 데 사용했습니다.</a:t>
            </a:r>
            <a:endParaRPr lang="ko-KR" sz="800"/>
          </a:p>
        </p:txBody>
      </p:sp>
      <p:sp>
        <p:nvSpPr>
          <p:cNvPr id="25" name="Text 25"/>
          <p:cNvSpPr txBox="1"/>
          <p:nvPr/>
        </p:nvSpPr>
        <p:spPr>
          <a:xfrm>
            <a:off x="8185150" y="3590290"/>
            <a:ext cx="3498850" cy="144780"/>
          </a:xfrm>
          <a:prstGeom prst="rect">
            <a:avLst/>
          </a:prstGeom>
          <a:noFill/>
          <a:ln>
            <a:noFill/>
          </a:ln>
        </p:spPr>
        <p:txBody>
          <a:bodyPr wrap="square" lIns="0" tIns="0" rIns="0" bIns="0" anchor="t">
            <a:noAutofit/>
          </a:bodyPr>
          <a:lstStyle/>
          <a:p>
            <a:pPr algn="l">
              <a:lnSpc>
                <a:spcPts val="1040"/>
              </a:lnSpc>
            </a:pPr>
            <a:r>
              <a:rPr lang="ko-KR" sz="800" b="1">
                <a:solidFill>
                  <a:srgbClr val="168B82"/>
                </a:solidFill>
                <a:latin typeface="Arial"/>
                <a:ea typeface="Malgun Gothic"/>
                <a:cs typeface="Arial"/>
              </a:rPr>
              <a:t xml:space="preserve">Q4. 네트워크/파일 추적/영속성을 구현하지 않은 이유는?</a:t>
            </a:r>
            <a:endParaRPr lang="ko-KR" sz="800"/>
          </a:p>
        </p:txBody>
      </p:sp>
      <p:sp>
        <p:nvSpPr>
          <p:cNvPr id="26" name="Text 26"/>
          <p:cNvSpPr txBox="1"/>
          <p:nvPr/>
        </p:nvSpPr>
        <p:spPr>
          <a:xfrm>
            <a:off x="8185150" y="3785870"/>
            <a:ext cx="3498850" cy="1333500"/>
          </a:xfrm>
          <a:prstGeom prst="rect">
            <a:avLst/>
          </a:prstGeom>
          <a:noFill/>
          <a:ln>
            <a:noFill/>
          </a:ln>
        </p:spPr>
        <p:txBody>
          <a:bodyPr wrap="square" lIns="0" tIns="0" rIns="0" bIns="0" anchor="t">
            <a:noAutofit/>
          </a:bodyPr>
          <a:lstStyle/>
          <a:p>
            <a:pPr algn="l">
              <a:lnSpc>
                <a:spcPts val="1040"/>
              </a:lnSpc>
            </a:pPr>
            <a:r>
              <a:rPr lang="ko-KR" sz="800" b="0">
                <a:solidFill>
                  <a:srgbClr val="142536"/>
                </a:solidFill>
                <a:latin typeface="Arial"/>
                <a:ea typeface="Malgun Gothic"/>
                <a:cs typeface="Arial"/>
              </a:rPr>
              <a:t xml:space="preserve">과제에서 이 기능들을 만들 필요가 없다고 정했기 때문입니다. 이번 과제는 커밋 사이의</a:t>
            </a:r>
            <a:endParaRPr lang="ko-KR" sz="800"/>
          </a:p>
          <a:p>
            <a:pPr algn="l">
              <a:lnSpc>
                <a:spcPts val="1040"/>
              </a:lnSpc>
            </a:pPr>
            <a:r>
              <a:rPr lang="ko-KR" sz="800" b="0">
                <a:solidFill>
                  <a:srgbClr val="142536"/>
                </a:solidFill>
                <a:latin typeface="Arial"/>
                <a:ea typeface="Malgun Gothic"/>
                <a:cs typeface="Arial"/>
              </a:rPr>
              <a:t xml:space="preserve">관계와 탐색·정렬·검색 원리를 배우는 데 집중합니다.</a:t>
            </a:r>
            <a:endParaRPr lang="ko-KR" sz="800"/>
          </a:p>
          <a:p>
            <a:pPr algn="l">
              <a:lnSpc>
                <a:spcPts val="1040"/>
              </a:lnSpc>
            </a:pPr>
            <a:r>
              <a:rPr lang="ko-KR" sz="800" b="0">
                <a:solidFill>
                  <a:srgbClr val="142536"/>
                </a:solidFill>
                <a:latin typeface="Arial"/>
                <a:ea typeface="Malgun Gothic"/>
                <a:cs typeface="Arial"/>
              </a:rPr>
              <a:t xml:space="preserve">• 네트워크 통신: GitHub 같은 다른 서버로 데이터를 보내거나 받는 기능입니다. 이번에</a:t>
            </a:r>
            <a:endParaRPr lang="ko-KR" sz="800"/>
          </a:p>
          <a:p>
            <a:pPr algn="l">
              <a:lnSpc>
                <a:spcPts val="1040"/>
              </a:lnSpc>
            </a:pPr>
            <a:r>
              <a:rPr lang="ko-KR" sz="800" b="0">
                <a:solidFill>
                  <a:srgbClr val="142536"/>
                </a:solidFill>
                <a:latin typeface="Arial"/>
                <a:ea typeface="Malgun Gothic"/>
                <a:cs typeface="Arial"/>
              </a:rPr>
              <a:t xml:space="preserve">는 구현하지 않았습니다.</a:t>
            </a:r>
            <a:endParaRPr lang="ko-KR" sz="800"/>
          </a:p>
          <a:p>
            <a:pPr algn="l">
              <a:lnSpc>
                <a:spcPts val="1040"/>
              </a:lnSpc>
            </a:pPr>
            <a:r>
              <a:rPr lang="ko-KR" sz="800" b="0">
                <a:solidFill>
                  <a:srgbClr val="142536"/>
                </a:solidFill>
                <a:latin typeface="Arial"/>
                <a:ea typeface="Malgun Gothic"/>
                <a:cs typeface="Arial"/>
              </a:rPr>
              <a:t xml:space="preserve">• 파일 내용 추적: 실제 소스 파일의 내용과 변경 사항을 기록하는 기능입니다. 이번에는</a:t>
            </a:r>
            <a:endParaRPr lang="ko-KR" sz="800"/>
          </a:p>
          <a:p>
            <a:pPr algn="l">
              <a:lnSpc>
                <a:spcPts val="1040"/>
              </a:lnSpc>
            </a:pPr>
            <a:r>
              <a:rPr lang="ko-KR" sz="800" b="0">
                <a:solidFill>
                  <a:srgbClr val="142536"/>
                </a:solidFill>
                <a:latin typeface="Arial"/>
                <a:ea typeface="Malgun Gothic"/>
                <a:cs typeface="Arial"/>
              </a:rPr>
              <a:t xml:space="preserve">hash·메시지·작성자·시각·부모 관계 같은 커밋 정보만 관리합니다.</a:t>
            </a:r>
            <a:endParaRPr lang="ko-KR" sz="800"/>
          </a:p>
          <a:p>
            <a:pPr algn="l">
              <a:lnSpc>
                <a:spcPts val="1040"/>
              </a:lnSpc>
            </a:pPr>
            <a:r>
              <a:rPr lang="ko-KR" sz="800" b="0">
                <a:solidFill>
                  <a:srgbClr val="142536"/>
                </a:solidFill>
                <a:latin typeface="Arial"/>
                <a:ea typeface="Malgun Gothic"/>
                <a:cs typeface="Arial"/>
              </a:rPr>
              <a:t xml:space="preserve">• 영속성: 프로그램을 종료해도 데이터가 남도록 파일 등에 저장하는 기능입니다. 이번</a:t>
            </a:r>
            <a:endParaRPr lang="ko-KR" sz="800"/>
          </a:p>
          <a:p>
            <a:pPr algn="l">
              <a:lnSpc>
                <a:spcPts val="1040"/>
              </a:lnSpc>
            </a:pPr>
            <a:r>
              <a:rPr lang="ko-KR" sz="800" b="0">
                <a:solidFill>
                  <a:srgbClr val="142536"/>
                </a:solidFill>
                <a:latin typeface="Arial"/>
                <a:ea typeface="Malgun Gothic"/>
                <a:cs typeface="Arial"/>
              </a:rPr>
              <a:t xml:space="preserve">에는 메모리에만 보관하므로 종료 후 다시 실행하면 커밋과 브랜치가 사라집니다.</a:t>
            </a:r>
            <a:endParaRPr lang="ko-KR" sz="800"/>
          </a:p>
          <a:p>
            <a:pPr algn="l">
              <a:lnSpc>
                <a:spcPts val="1040"/>
              </a:lnSpc>
            </a:pPr>
            <a:r>
              <a:rPr lang="ko-KR" sz="800" b="0">
                <a:solidFill>
                  <a:srgbClr val="142536"/>
                </a:solidFill>
                <a:latin typeface="Arial"/>
                <a:ea typeface="Malgun Gothic"/>
                <a:cs typeface="Arial"/>
              </a:rPr>
              <a:t xml:space="preserve">발표 답변: 과제 범위에 따라 파일 내용과 네트워크 기능은 생략했고, 저장도 메모리에서</a:t>
            </a:r>
            <a:endParaRPr lang="ko-KR" sz="800"/>
          </a:p>
          <a:p>
            <a:pPr algn="l">
              <a:lnSpc>
                <a:spcPts val="1040"/>
              </a:lnSpc>
            </a:pPr>
            <a:r>
              <a:rPr lang="ko-KR" sz="800" b="0">
                <a:solidFill>
                  <a:srgbClr val="142536"/>
                </a:solidFill>
                <a:latin typeface="Arial"/>
                <a:ea typeface="Malgun Gothic"/>
                <a:cs typeface="Arial"/>
              </a:rPr>
              <a:t xml:space="preserve">만 합니다. 커밋 그래프의 탐색·정렬·검색을 직접 구현하는 데 집중했습니다.</a:t>
            </a:r>
            <a:endParaRPr lang="ko-KR" sz="800"/>
          </a:p>
        </p:txBody>
      </p:sp>
      <p:sp>
        <p:nvSpPr>
          <p:cNvPr id="27" name="Text 27"/>
          <p:cNvSpPr txBox="1"/>
          <p:nvPr/>
        </p:nvSpPr>
        <p:spPr>
          <a:xfrm>
            <a:off x="8185150" y="5170170"/>
            <a:ext cx="3498850" cy="673100"/>
          </a:xfrm>
          <a:prstGeom prst="rect">
            <a:avLst/>
          </a:prstGeom>
          <a:noFill/>
          <a:ln>
            <a:noFill/>
          </a:ln>
        </p:spPr>
        <p:txBody>
          <a:bodyPr wrap="square" lIns="0" tIns="0" rIns="0" bIns="0" anchor="t">
            <a:noAutofit/>
          </a:bodyPr>
          <a:lstStyle/>
          <a:p>
            <a:pPr algn="l">
              <a:lnSpc>
                <a:spcPts val="1040"/>
              </a:lnSpc>
            </a:pPr>
            <a:r>
              <a:rPr lang="ko-KR" sz="800" b="0">
                <a:solidFill>
                  <a:srgbClr val="142536"/>
                </a:solidFill>
                <a:latin typeface="Arial"/>
                <a:ea typeface="Malgun Gothic"/>
                <a:cs typeface="Arial"/>
              </a:rPr>
              <a:t xml:space="preserve">AST는 파이썬 코드를 문법 구조로 읽은 것입니다. 주석에 sorted라는 단어가 있어도 실</a:t>
            </a:r>
            <a:endParaRPr lang="ko-KR" sz="800"/>
          </a:p>
          <a:p>
            <a:pPr algn="l">
              <a:lnSpc>
                <a:spcPts val="1040"/>
              </a:lnSpc>
            </a:pPr>
            <a:r>
              <a:rPr lang="ko-KR" sz="800" b="0">
                <a:solidFill>
                  <a:srgbClr val="142536"/>
                </a:solidFill>
                <a:latin typeface="Arial"/>
                <a:ea typeface="Malgun Gothic"/>
                <a:cs typeface="Arial"/>
              </a:rPr>
              <a:t xml:space="preserve">제 호출인지 구분할 수 있습니다. 현재 구현의 호출 AST를 검사하고 import 문도 직접 확</a:t>
            </a:r>
            <a:endParaRPr lang="ko-KR" sz="800"/>
          </a:p>
          <a:p>
            <a:pPr algn="l">
              <a:lnSpc>
                <a:spcPts val="1040"/>
              </a:lnSpc>
            </a:pPr>
            <a:r>
              <a:rPr lang="ko-KR" sz="800" b="0">
                <a:solidFill>
                  <a:srgbClr val="142536"/>
                </a:solidFill>
                <a:latin typeface="Arial"/>
                <a:ea typeface="Malgun Gothic"/>
                <a:cs typeface="Arial"/>
              </a:rPr>
              <a:t xml:space="preserve">인했습니다. 테스트 자체의 무작위 정렬 검증도 표준 정렬 결과에 기대지 않고 오름차순,</a:t>
            </a:r>
            <a:endParaRPr lang="ko-KR" sz="800"/>
          </a:p>
          <a:p>
            <a:pPr algn="l">
              <a:lnSpc>
                <a:spcPts val="1040"/>
              </a:lnSpc>
            </a:pPr>
            <a:r>
              <a:rPr lang="ko-KR" sz="800" b="0">
                <a:solidFill>
                  <a:srgbClr val="142536"/>
                </a:solidFill>
                <a:latin typeface="Arial"/>
                <a:ea typeface="Malgun Gothic"/>
                <a:cs typeface="Arial"/>
              </a:rPr>
              <a:t xml:space="preserve">원소 보존, 안정성을 확인합니다. 기본 자료형은 허용되므로 dict를 직접 만들 필요는 없</a:t>
            </a:r>
            <a:endParaRPr lang="ko-KR" sz="800"/>
          </a:p>
          <a:p>
            <a:pPr algn="l">
              <a:lnSpc>
                <a:spcPts val="1040"/>
              </a:lnSpc>
            </a:pPr>
            <a:r>
              <a:rPr lang="ko-KR" sz="800" b="0">
                <a:solidFill>
                  <a:srgbClr val="142536"/>
                </a:solidFill>
                <a:latin typeface="Arial"/>
                <a:ea typeface="Malgun Gothic"/>
                <a:cs typeface="Arial"/>
              </a:rPr>
              <a:t xml:space="preserve">습니다.</a:t>
            </a:r>
            <a:endParaRPr lang="ko-KR" sz="800"/>
          </a:p>
        </p:txBody>
      </p:sp>
      <p:sp>
        <p:nvSpPr>
          <p:cNvPr id="28" name="Text 28"/>
          <p:cNvSpPr txBox="1"/>
          <p:nvPr/>
        </p:nvSpPr>
        <p:spPr>
          <a:xfrm>
            <a:off x="508000" y="6299200"/>
            <a:ext cx="11176000" cy="22860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과제의 목표는 커밋 그래프 알고리즘이며, 파일·네트워크 기능은 범위 밖입니다.</a:t>
            </a:r>
            <a:endParaRPr lang="ko-KR" sz="1250"/>
          </a:p>
        </p:txBody>
      </p:sp>
      <p:sp>
        <p:nvSpPr>
          <p:cNvPr id="29" name="Text 29"/>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과제: 제약 사항 · tests/test_mini_git.py: AST 검사 · 평가질문_설명자료.md</a:t>
            </a:r>
            <a:endParaRPr lang="ko-KR" sz="1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평가 질문: 알고리즘을 어떻게 믿을 수 있나요?">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Q&amp;A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25 / 26</a:t>
            </a:r>
            <a:endParaRPr lang="ko-KR" sz="1250"/>
          </a:p>
        </p:txBody>
      </p:sp>
      <p:sp>
        <p:nvSpPr>
          <p:cNvPr id="5" name="Text 5"/>
          <p:cNvSpPr txBox="1"/>
          <p:nvPr/>
        </p:nvSpPr>
        <p:spPr>
          <a:xfrm>
            <a:off x="508000" y="793750"/>
            <a:ext cx="11176000" cy="635000"/>
          </a:xfrm>
          <a:prstGeom prst="rect">
            <a:avLst/>
          </a:prstGeom>
          <a:noFill/>
          <a:ln>
            <a:noFill/>
          </a:ln>
        </p:spPr>
        <p:txBody>
          <a:bodyPr wrap="square" lIns="0" tIns="0" rIns="0" bIns="0" anchor="t">
            <a:noAutofit/>
          </a:bodyPr>
          <a:lstStyle/>
          <a:p>
            <a:pPr algn="l">
              <a:lnSpc>
                <a:spcPts val="3900"/>
              </a:lnSpc>
            </a:pPr>
            <a:r>
              <a:rPr lang="ko-KR" sz="3000" b="1">
                <a:solidFill>
                  <a:srgbClr val="142536"/>
                </a:solidFill>
                <a:latin typeface="Arial"/>
                <a:ea typeface="Malgun Gothic"/>
                <a:cs typeface="Arial"/>
              </a:rPr>
              <a:t xml:space="preserve">평가 질문: 알고리즘을 어떻게 믿을 수 있나요?</a:t>
            </a:r>
            <a:endParaRPr lang="ko-KR" sz="3000"/>
          </a:p>
        </p:txBody>
      </p:sp>
      <p:sp>
        <p:nvSpPr>
          <p:cNvPr id="6" name="Text 6"/>
          <p:cNvSpPr txBox="1"/>
          <p:nvPr/>
        </p:nvSpPr>
        <p:spPr>
          <a:xfrm>
            <a:off x="571500" y="1492250"/>
            <a:ext cx="3683000" cy="24130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핵심 · 그림 · 실행</a:t>
            </a:r>
            <a:endParaRPr lang="ko-KR" sz="1300"/>
          </a:p>
        </p:txBody>
      </p:sp>
      <p:sp>
        <p:nvSpPr>
          <p:cNvPr id="7" name="Text 7"/>
          <p:cNvSpPr txBox="1"/>
          <p:nvPr/>
        </p:nvSpPr>
        <p:spPr>
          <a:xfrm>
            <a:off x="4508500" y="1492250"/>
            <a:ext cx="7175500" cy="241300"/>
          </a:xfrm>
          <a:prstGeom prst="rect">
            <a:avLst/>
          </a:prstGeom>
          <a:noFill/>
          <a:ln>
            <a:noFill/>
          </a:ln>
        </p:spPr>
        <p:txBody>
          <a:bodyPr wrap="square" lIns="0" tIns="0" rIns="0" bIns="0" anchor="t">
            <a:noAutofit/>
          </a:bodyPr>
          <a:lstStyle/>
          <a:p>
            <a:pPr algn="l">
              <a:lnSpc>
                <a:spcPts val="1690"/>
              </a:lnSpc>
            </a:pPr>
            <a:r>
              <a:rPr lang="ko-KR" sz="1300" b="1">
                <a:solidFill>
                  <a:srgbClr val="168B82"/>
                </a:solidFill>
                <a:latin typeface="Arial"/>
                <a:ea typeface="Malgun Gothic"/>
                <a:cs typeface="Arial"/>
              </a:rPr>
              <a:t xml:space="preserve">상세 설명 · 코드 · 문답 전체</a:t>
            </a:r>
            <a:endParaRPr lang="ko-KR" sz="1300"/>
          </a:p>
        </p:txBody>
      </p:sp>
      <p:sp>
        <p:nvSpPr>
          <p:cNvPr id="8" name="Shape 8"/>
          <p:cNvSpPr/>
          <p:nvPr/>
        </p:nvSpPr>
        <p:spPr>
          <a:xfrm>
            <a:off x="4349750" y="1778000"/>
            <a:ext cx="12700" cy="4381500"/>
          </a:xfrm>
          <a:prstGeom prst="rect">
            <a:avLst/>
          </a:prstGeom>
          <a:solidFill>
            <a:srgbClr val="D7DFDB"/>
          </a:solidFill>
          <a:ln>
            <a:noFill/>
          </a:ln>
        </p:spPr>
      </p:sp>
      <p:sp>
        <p:nvSpPr>
          <p:cNvPr id="9" name="Text 9"/>
          <p:cNvSpPr txBox="1"/>
          <p:nvPr/>
        </p:nvSpPr>
        <p:spPr>
          <a:xfrm>
            <a:off x="571500" y="1809750"/>
            <a:ext cx="3683000" cy="243840"/>
          </a:xfrm>
          <a:prstGeom prst="rect">
            <a:avLst/>
          </a:prstGeom>
          <a:noFill/>
          <a:ln>
            <a:noFill/>
          </a:ln>
        </p:spPr>
        <p:txBody>
          <a:bodyPr wrap="square" lIns="0" tIns="0" rIns="0" bIns="0" anchor="t">
            <a:noAutofit/>
          </a:bodyPr>
          <a:lstStyle/>
          <a:p>
            <a:pPr algn="l">
              <a:lnSpc>
                <a:spcPts val="1820"/>
              </a:lnSpc>
            </a:pPr>
            <a:r>
              <a:rPr lang="ko-KR" sz="1400" b="1">
                <a:solidFill>
                  <a:srgbClr val="168B82"/>
                </a:solidFill>
                <a:latin typeface="Arial"/>
                <a:ea typeface="Malgun Gothic"/>
                <a:cs typeface="Arial"/>
              </a:rPr>
              <a:t xml:space="preserve">대상 / 독립적인 확인 방법</a:t>
            </a:r>
            <a:endParaRPr lang="ko-KR" sz="1400"/>
          </a:p>
        </p:txBody>
      </p:sp>
      <p:sp>
        <p:nvSpPr>
          <p:cNvPr id="10" name="Text 10"/>
          <p:cNvSpPr txBox="1"/>
          <p:nvPr/>
        </p:nvSpPr>
        <p:spPr>
          <a:xfrm>
            <a:off x="571500" y="2104390"/>
            <a:ext cx="3683000" cy="139954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Arial"/>
                <a:ea typeface="Malgun Gothic"/>
                <a:cs typeface="Arial"/>
              </a:rPr>
              <a:t xml:space="preserve">LOG / 모든 부모의 출력 위치 &lt; 자식 위치 PATH / 작</a:t>
            </a:r>
            <a:endParaRPr lang="ko-KR" sz="1400"/>
          </a:p>
          <a:p>
            <a:pPr algn="l">
              <a:lnSpc>
                <a:spcPts val="1820"/>
              </a:lnSpc>
            </a:pPr>
            <a:r>
              <a:rPr lang="ko-KR" sz="1400" b="0">
                <a:solidFill>
                  <a:srgbClr val="142536"/>
                </a:solidFill>
                <a:latin typeface="Arial"/>
                <a:ea typeface="Malgun Gothic"/>
                <a:cs typeface="Arial"/>
              </a:rPr>
              <a:t xml:space="preserve">은 그래프의 모든 단순 경로와 비교 ANCESTORS / 별</a:t>
            </a:r>
            <a:endParaRPr lang="ko-KR" sz="1400"/>
          </a:p>
          <a:p>
            <a:pPr algn="l">
              <a:lnSpc>
                <a:spcPts val="1820"/>
              </a:lnSpc>
            </a:pPr>
            <a:r>
              <a:rPr lang="ko-KR" sz="1400" b="0">
                <a:solidFill>
                  <a:srgbClr val="142536"/>
                </a:solidFill>
                <a:latin typeface="Arial"/>
                <a:ea typeface="Malgun Gothic"/>
                <a:cs typeface="Arial"/>
              </a:rPr>
              <a:t xml:space="preserve">도 스택 탐색의 조상 집합과 비교 정렬 / 오름차순·원소</a:t>
            </a:r>
            <a:endParaRPr lang="ko-KR" sz="1400"/>
          </a:p>
          <a:p>
            <a:pPr algn="l">
              <a:lnSpc>
                <a:spcPts val="1820"/>
              </a:lnSpc>
            </a:pPr>
            <a:r>
              <a:rPr lang="ko-KR" sz="1400" b="0">
                <a:solidFill>
                  <a:srgbClr val="142536"/>
                </a:solidFill>
                <a:latin typeface="Arial"/>
                <a:ea typeface="Malgun Gothic"/>
                <a:cs typeface="Arial"/>
              </a:rPr>
              <a:t xml:space="preserve">보존·같은 키의 순서·원본 불변 검색 / 반복 단어·연속</a:t>
            </a:r>
            <a:endParaRPr lang="ko-KR" sz="1400"/>
          </a:p>
          <a:p>
            <a:pPr algn="l">
              <a:lnSpc>
                <a:spcPts val="1820"/>
              </a:lnSpc>
            </a:pPr>
            <a:r>
              <a:rPr lang="ko-KR" sz="1400" b="0">
                <a:solidFill>
                  <a:srgbClr val="142536"/>
                </a:solidFill>
                <a:latin typeface="Arial"/>
                <a:ea typeface="Malgun Gothic"/>
                <a:cs typeface="Arial"/>
              </a:rPr>
              <a:t xml:space="preserve">구문·저장소 순회 금지 실제 CLI / main.py 실행, 프롬</a:t>
            </a:r>
            <a:endParaRPr lang="ko-KR" sz="1400"/>
          </a:p>
          <a:p>
            <a:pPr algn="l">
              <a:lnSpc>
                <a:spcPts val="1820"/>
              </a:lnSpc>
            </a:pPr>
            <a:r>
              <a:rPr lang="ko-KR" sz="1400" b="0">
                <a:solidFill>
                  <a:srgbClr val="142536"/>
                </a:solidFill>
                <a:latin typeface="Arial"/>
                <a:ea typeface="Malgun Gothic"/>
                <a:cs typeface="Arial"/>
              </a:rPr>
              <a:t xml:space="preserve">프트·exit/quit 확인</a:t>
            </a:r>
            <a:endParaRPr lang="ko-KR" sz="1400"/>
          </a:p>
        </p:txBody>
      </p:sp>
      <p:sp>
        <p:nvSpPr>
          <p:cNvPr id="11" name="Text 11"/>
          <p:cNvSpPr txBox="1"/>
          <p:nvPr/>
        </p:nvSpPr>
        <p:spPr>
          <a:xfrm>
            <a:off x="571500" y="3554730"/>
            <a:ext cx="3683000" cy="243840"/>
          </a:xfrm>
          <a:prstGeom prst="rect">
            <a:avLst/>
          </a:prstGeom>
          <a:noFill/>
          <a:ln>
            <a:noFill/>
          </a:ln>
        </p:spPr>
        <p:txBody>
          <a:bodyPr wrap="square" lIns="0" tIns="0" rIns="0" bIns="0" anchor="t">
            <a:noAutofit/>
          </a:bodyPr>
          <a:lstStyle/>
          <a:p>
            <a:pPr algn="l">
              <a:lnSpc>
                <a:spcPts val="1820"/>
              </a:lnSpc>
            </a:pPr>
            <a:r>
              <a:rPr lang="ko-KR" sz="1400" b="1">
                <a:solidFill>
                  <a:srgbClr val="168B82"/>
                </a:solidFill>
                <a:latin typeface="Arial"/>
                <a:ea typeface="Malgun Gothic"/>
                <a:cs typeface="Arial"/>
              </a:rPr>
              <a:t xml:space="preserve">실행 확인 · 일반 터미널 · b3-2 폴더</a:t>
            </a:r>
            <a:endParaRPr lang="ko-KR" sz="1400"/>
          </a:p>
        </p:txBody>
      </p:sp>
      <p:sp>
        <p:nvSpPr>
          <p:cNvPr id="12" name="Text 12"/>
          <p:cNvSpPr txBox="1"/>
          <p:nvPr/>
        </p:nvSpPr>
        <p:spPr>
          <a:xfrm>
            <a:off x="571500" y="3849370"/>
            <a:ext cx="3683000" cy="47498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Menlo"/>
                <a:ea typeface="Malgun Gothic"/>
                <a:cs typeface="Arial"/>
              </a:rPr>
              <a:t xml:space="preserve">python3 -B -m unittest discover -s</a:t>
            </a:r>
            <a:endParaRPr lang="ko-KR" sz="1400"/>
          </a:p>
          <a:p>
            <a:pPr algn="l">
              <a:lnSpc>
                <a:spcPts val="1820"/>
              </a:lnSpc>
            </a:pPr>
            <a:r>
              <a:rPr lang="ko-KR" sz="1400" b="0">
                <a:solidFill>
                  <a:srgbClr val="142536"/>
                </a:solidFill>
                <a:latin typeface="Menlo"/>
                <a:ea typeface="Malgun Gothic"/>
                <a:cs typeface="Arial"/>
              </a:rPr>
              <a:t xml:space="preserve">tests -v</a:t>
            </a:r>
            <a:endParaRPr lang="ko-KR" sz="1400"/>
          </a:p>
        </p:txBody>
      </p:sp>
      <p:sp>
        <p:nvSpPr>
          <p:cNvPr id="13" name="Text 13"/>
          <p:cNvSpPr txBox="1"/>
          <p:nvPr/>
        </p:nvSpPr>
        <p:spPr>
          <a:xfrm>
            <a:off x="571500" y="4375150"/>
            <a:ext cx="3683000" cy="474980"/>
          </a:xfrm>
          <a:prstGeom prst="rect">
            <a:avLst/>
          </a:prstGeom>
          <a:noFill/>
          <a:ln>
            <a:noFill/>
          </a:ln>
        </p:spPr>
        <p:txBody>
          <a:bodyPr wrap="square" lIns="0" tIns="0" rIns="0" bIns="0" anchor="t">
            <a:noAutofit/>
          </a:bodyPr>
          <a:lstStyle/>
          <a:p>
            <a:pPr algn="l">
              <a:lnSpc>
                <a:spcPts val="1820"/>
              </a:lnSpc>
            </a:pPr>
            <a:r>
              <a:rPr lang="ko-KR" sz="1400" b="0">
                <a:solidFill>
                  <a:srgbClr val="142536"/>
                </a:solidFill>
                <a:latin typeface="Arial"/>
                <a:ea typeface="Malgun Gothic"/>
                <a:cs typeface="Arial"/>
              </a:rPr>
              <a:t xml:space="preserve">확인: Ran 15 tests와 OK 확인. 각 테스트 이름으로 검</a:t>
            </a:r>
            <a:endParaRPr lang="ko-KR" sz="1400"/>
          </a:p>
          <a:p>
            <a:pPr algn="l">
              <a:lnSpc>
                <a:spcPts val="1820"/>
              </a:lnSpc>
            </a:pPr>
            <a:r>
              <a:rPr lang="ko-KR" sz="1400" b="0">
                <a:solidFill>
                  <a:srgbClr val="142536"/>
                </a:solidFill>
                <a:latin typeface="Arial"/>
                <a:ea typeface="Malgun Gothic"/>
                <a:cs typeface="Arial"/>
              </a:rPr>
              <a:t xml:space="preserve">사 대상 확인</a:t>
            </a:r>
            <a:endParaRPr lang="ko-KR" sz="1400"/>
          </a:p>
        </p:txBody>
      </p:sp>
      <p:sp>
        <p:nvSpPr>
          <p:cNvPr id="14" name="Text 14"/>
          <p:cNvSpPr txBox="1"/>
          <p:nvPr/>
        </p:nvSpPr>
        <p:spPr>
          <a:xfrm>
            <a:off x="4508500" y="1809750"/>
            <a:ext cx="7175500" cy="235585"/>
          </a:xfrm>
          <a:prstGeom prst="rect">
            <a:avLst/>
          </a:prstGeom>
          <a:noFill/>
          <a:ln>
            <a:noFill/>
          </a:ln>
        </p:spPr>
        <p:txBody>
          <a:bodyPr wrap="square" lIns="0" tIns="0" rIns="0" bIns="0" anchor="t">
            <a:noAutofit/>
          </a:bodyPr>
          <a:lstStyle/>
          <a:p>
            <a:pPr algn="l">
              <a:lnSpc>
                <a:spcPts val="1755"/>
              </a:lnSpc>
            </a:pPr>
            <a:r>
              <a:rPr lang="ko-KR" sz="1350" b="1">
                <a:solidFill>
                  <a:srgbClr val="168B82"/>
                </a:solidFill>
                <a:latin typeface="Arial"/>
                <a:ea typeface="Malgun Gothic"/>
                <a:cs typeface="Arial"/>
              </a:rPr>
              <a:t xml:space="preserve">Q1. 각 알고리즘이 올바르게 동작하는지 어떻게 검증했는가?</a:t>
            </a:r>
            <a:endParaRPr lang="ko-KR" sz="1350"/>
          </a:p>
        </p:txBody>
      </p:sp>
      <p:sp>
        <p:nvSpPr>
          <p:cNvPr id="15" name="Text 15"/>
          <p:cNvSpPr txBox="1"/>
          <p:nvPr/>
        </p:nvSpPr>
        <p:spPr>
          <a:xfrm>
            <a:off x="4508500" y="2096135"/>
            <a:ext cx="7175500" cy="904240"/>
          </a:xfrm>
          <a:prstGeom prst="rect">
            <a:avLst/>
          </a:prstGeom>
          <a:noFill/>
          <a:ln>
            <a:noFill/>
          </a:ln>
        </p:spPr>
        <p:txBody>
          <a:bodyPr wrap="square" lIns="0" tIns="0" rIns="0" bIns="0" anchor="t">
            <a:noAutofit/>
          </a:bodyPr>
          <a:lstStyle/>
          <a:p>
            <a:pPr algn="l">
              <a:lnSpc>
                <a:spcPts val="1755"/>
              </a:lnSpc>
            </a:pPr>
            <a:r>
              <a:rPr lang="ko-KR" sz="1350" b="0">
                <a:solidFill>
                  <a:srgbClr val="142536"/>
                </a:solidFill>
                <a:latin typeface="Arial"/>
                <a:ea typeface="Malgun Gothic"/>
                <a:cs typeface="Arial"/>
              </a:rPr>
              <a:t xml:space="preserve">REPL을 통한 통합 테스트 외에, sorting.py/traversal.py/index.py를 직접 import해서 모듈 단위로도 검증했</a:t>
            </a:r>
            <a:endParaRPr lang="ko-KR" sz="1350"/>
          </a:p>
          <a:p>
            <a:pPr algn="l">
              <a:lnSpc>
                <a:spcPts val="1755"/>
              </a:lnSpc>
            </a:pPr>
            <a:r>
              <a:rPr lang="ko-KR" sz="1350" b="0">
                <a:solidFill>
                  <a:srgbClr val="142536"/>
                </a:solidFill>
                <a:latin typeface="Arial"/>
                <a:ea typeface="Malgun Gothic"/>
                <a:cs typeface="Arial"/>
              </a:rPr>
              <a:t xml:space="preserve">습니다. 병합 정렬 은 서로 다른 작성자·시각을 가진 가짜 커밋과 무작위 정수 1,000개로, 그래프 탐색은 병합</a:t>
            </a:r>
            <a:endParaRPr lang="ko-KR" sz="1350"/>
          </a:p>
          <a:p>
            <a:pPr algn="l">
              <a:lnSpc>
                <a:spcPts val="1755"/>
              </a:lnSpc>
            </a:pPr>
            <a:r>
              <a:rPr lang="ko-KR" sz="1350" b="0">
                <a:solidFill>
                  <a:srgbClr val="142536"/>
                </a:solidFill>
                <a:latin typeface="Arial"/>
                <a:ea typeface="Malgun Gothic"/>
                <a:cs typeface="Arial"/>
              </a:rPr>
              <a:t xml:space="preserve">커밋이 있는 다이아몬드형 구조를 직 접 만들어 위상 정렬 순서·최단 경로의 사전순 타이브레이크·조상 집합을</a:t>
            </a:r>
            <a:endParaRPr lang="ko-KR" sz="1350"/>
          </a:p>
          <a:p>
            <a:pPr algn="l">
              <a:lnSpc>
                <a:spcPts val="1755"/>
              </a:lnSpc>
            </a:pPr>
            <a:r>
              <a:rPr lang="ko-KR" sz="1350" b="0">
                <a:solidFill>
                  <a:srgbClr val="142536"/>
                </a:solidFill>
                <a:latin typeface="Arial"/>
                <a:ea typeface="Malgun Gothic"/>
                <a:cs typeface="Arial"/>
              </a:rPr>
              <a:t xml:space="preserve">모두 정밀 검증했습니다 (제출/실행결과.md의 "알고리 즘 검증" 및 tests/test_mini_git.py 참고).</a:t>
            </a:r>
            <a:endParaRPr lang="ko-KR" sz="1350"/>
          </a:p>
        </p:txBody>
      </p:sp>
      <p:sp>
        <p:nvSpPr>
          <p:cNvPr id="16" name="Text 16"/>
          <p:cNvSpPr txBox="1"/>
          <p:nvPr/>
        </p:nvSpPr>
        <p:spPr>
          <a:xfrm>
            <a:off x="4508500" y="3051175"/>
            <a:ext cx="7175500" cy="235585"/>
          </a:xfrm>
          <a:prstGeom prst="rect">
            <a:avLst/>
          </a:prstGeom>
          <a:noFill/>
          <a:ln>
            <a:noFill/>
          </a:ln>
        </p:spPr>
        <p:txBody>
          <a:bodyPr wrap="square" lIns="0" tIns="0" rIns="0" bIns="0" anchor="t">
            <a:noAutofit/>
          </a:bodyPr>
          <a:lstStyle/>
          <a:p>
            <a:pPr algn="l">
              <a:lnSpc>
                <a:spcPts val="1755"/>
              </a:lnSpc>
            </a:pPr>
            <a:r>
              <a:rPr lang="ko-KR" sz="1350" b="1">
                <a:solidFill>
                  <a:srgbClr val="168B82"/>
                </a:solidFill>
                <a:latin typeface="Arial"/>
                <a:ea typeface="Malgun Gothic"/>
                <a:cs typeface="Arial"/>
              </a:rPr>
              <a:t xml:space="preserve">Q2. 과제의 "8. 결과 예시"와 실제 실행 결과가 일치하는가?</a:t>
            </a:r>
            <a:endParaRPr lang="ko-KR" sz="1350"/>
          </a:p>
        </p:txBody>
      </p:sp>
      <p:sp>
        <p:nvSpPr>
          <p:cNvPr id="17" name="Text 17"/>
          <p:cNvSpPr txBox="1"/>
          <p:nvPr/>
        </p:nvSpPr>
        <p:spPr>
          <a:xfrm>
            <a:off x="4508500" y="3337560"/>
            <a:ext cx="7175500" cy="1127125"/>
          </a:xfrm>
          <a:prstGeom prst="rect">
            <a:avLst/>
          </a:prstGeom>
          <a:noFill/>
          <a:ln>
            <a:noFill/>
          </a:ln>
        </p:spPr>
        <p:txBody>
          <a:bodyPr wrap="square" lIns="0" tIns="0" rIns="0" bIns="0" anchor="t">
            <a:noAutofit/>
          </a:bodyPr>
          <a:lstStyle/>
          <a:p>
            <a:pPr algn="l">
              <a:lnSpc>
                <a:spcPts val="1755"/>
              </a:lnSpc>
            </a:pPr>
            <a:r>
              <a:rPr lang="ko-KR" sz="1350" b="0">
                <a:solidFill>
                  <a:srgbClr val="142536"/>
                </a:solidFill>
                <a:latin typeface="Arial"/>
                <a:ea typeface="Malgun Gothic"/>
                <a:cs typeface="Arial"/>
              </a:rPr>
              <a:t xml:space="preserve">명령의 구조(초기화→커밋→브랜치→전환→커밋→LOG→PATH→SEARCH)와 각 명령의 출력 형식(Initialized r</a:t>
            </a:r>
            <a:endParaRPr lang="ko-KR" sz="1350"/>
          </a:p>
          <a:p>
            <a:pPr algn="l">
              <a:lnSpc>
                <a:spcPts val="1755"/>
              </a:lnSpc>
            </a:pPr>
            <a:r>
              <a:rPr lang="ko-KR" sz="1350" b="0">
                <a:solidFill>
                  <a:srgbClr val="142536"/>
                </a:solidFill>
                <a:latin typeface="Arial"/>
                <a:ea typeface="Malgun Gothic"/>
                <a:cs typeface="Arial"/>
              </a:rPr>
              <a:t xml:space="preserve">epository. / [bra nch hash] message / commit hash (author, timestamp) [branch] / Path: h1 -&gt; h2 / F</a:t>
            </a:r>
            <a:endParaRPr lang="ko-KR" sz="1350"/>
          </a:p>
          <a:p>
            <a:pPr algn="l">
              <a:lnSpc>
                <a:spcPts val="1755"/>
              </a:lnSpc>
            </a:pPr>
            <a:r>
              <a:rPr lang="ko-KR" sz="1350" b="0">
                <a:solidFill>
                  <a:srgbClr val="142536"/>
                </a:solidFill>
                <a:latin typeface="Arial"/>
                <a:ea typeface="Malgun Gothic"/>
                <a:cs typeface="Arial"/>
              </a:rPr>
              <a:t xml:space="preserve">ound N commit(s):)이 모두 예시와 동일하게 재현됩니다. 실제 hash 값은 SHA-1 기반으로 매 실행마다 새로</a:t>
            </a:r>
            <a:endParaRPr lang="ko-KR" sz="1350"/>
          </a:p>
          <a:p>
            <a:pPr algn="l">
              <a:lnSpc>
                <a:spcPts val="1755"/>
              </a:lnSpc>
            </a:pPr>
            <a:r>
              <a:rPr lang="ko-KR" sz="1350" b="0">
                <a:solidFill>
                  <a:srgbClr val="142536"/>
                </a:solidFill>
                <a:latin typeface="Arial"/>
                <a:ea typeface="Malgun Gothic"/>
                <a:cs typeface="Arial"/>
              </a:rPr>
              <a:t xml:space="preserve">생성되므로 예시의 a1b2c3과는 다르지만, 과제 원문도 "실제 문구와 디자인은 달라도 된다"고 명시하고 있어</a:t>
            </a:r>
            <a:endParaRPr lang="ko-KR" sz="1350"/>
          </a:p>
          <a:p>
            <a:pPr algn="l">
              <a:lnSpc>
                <a:spcPts val="1755"/>
              </a:lnSpc>
            </a:pPr>
            <a:r>
              <a:rPr lang="ko-KR" sz="1350" b="0">
                <a:solidFill>
                  <a:srgbClr val="142536"/>
                </a:solidFill>
                <a:latin typeface="Arial"/>
                <a:ea typeface="Malgun Gothic"/>
                <a:cs typeface="Arial"/>
              </a:rPr>
              <a:t xml:space="preserve">문제가 되지 않습니다.</a:t>
            </a:r>
            <a:endParaRPr lang="ko-KR" sz="1350"/>
          </a:p>
        </p:txBody>
      </p:sp>
      <p:sp>
        <p:nvSpPr>
          <p:cNvPr id="18" name="Text 18"/>
          <p:cNvSpPr txBox="1"/>
          <p:nvPr/>
        </p:nvSpPr>
        <p:spPr>
          <a:xfrm>
            <a:off x="4508500" y="4515485"/>
            <a:ext cx="7175500" cy="681355"/>
          </a:xfrm>
          <a:prstGeom prst="rect">
            <a:avLst/>
          </a:prstGeom>
          <a:noFill/>
          <a:ln>
            <a:noFill/>
          </a:ln>
        </p:spPr>
        <p:txBody>
          <a:bodyPr wrap="square" lIns="0" tIns="0" rIns="0" bIns="0" anchor="t">
            <a:noAutofit/>
          </a:bodyPr>
          <a:lstStyle/>
          <a:p>
            <a:pPr algn="l">
              <a:lnSpc>
                <a:spcPts val="1755"/>
              </a:lnSpc>
            </a:pPr>
            <a:r>
              <a:rPr lang="ko-KR" sz="1350" b="0">
                <a:solidFill>
                  <a:srgbClr val="142536"/>
                </a:solidFill>
                <a:latin typeface="Arial"/>
                <a:ea typeface="Malgun Gothic"/>
                <a:cs typeface="Arial"/>
              </a:rPr>
              <a:t xml:space="preserve">막히는 질문이 나오면 README.md, 실제 코드(cli.py → repository.py → traversal.py/sorting.py/index.py</a:t>
            </a:r>
            <a:endParaRPr lang="ko-KR" sz="1350"/>
          </a:p>
          <a:p>
            <a:pPr algn="l">
              <a:lnSpc>
                <a:spcPts val="1755"/>
              </a:lnSpc>
            </a:pPr>
            <a:r>
              <a:rPr lang="ko-KR" sz="1350" b="0">
                <a:solidFill>
                  <a:srgbClr val="142536"/>
                </a:solidFill>
                <a:latin typeface="Arial"/>
                <a:ea typeface="Malgun Gothic"/>
                <a:cs typeface="Arial"/>
              </a:rPr>
              <a:t xml:space="preserve">순서), 그리고 제 출/실행결과.md와 제출/results/의 실제 실행 결과를 같이 보여주면서 설명하는 것이 가장 확</a:t>
            </a:r>
            <a:endParaRPr lang="ko-KR" sz="1350"/>
          </a:p>
          <a:p>
            <a:pPr algn="l">
              <a:lnSpc>
                <a:spcPts val="1755"/>
              </a:lnSpc>
            </a:pPr>
            <a:r>
              <a:rPr lang="ko-KR" sz="1350" b="0">
                <a:solidFill>
                  <a:srgbClr val="142536"/>
                </a:solidFill>
                <a:latin typeface="Arial"/>
                <a:ea typeface="Malgun Gothic"/>
                <a:cs typeface="Arial"/>
              </a:rPr>
              <a:t xml:space="preserve">실합니다.</a:t>
            </a:r>
            <a:endParaRPr lang="ko-KR" sz="1350"/>
          </a:p>
        </p:txBody>
      </p:sp>
      <p:sp>
        <p:nvSpPr>
          <p:cNvPr id="19" name="Text 19"/>
          <p:cNvSpPr txBox="1"/>
          <p:nvPr/>
        </p:nvSpPr>
        <p:spPr>
          <a:xfrm>
            <a:off x="4508500" y="5247640"/>
            <a:ext cx="7175500" cy="904240"/>
          </a:xfrm>
          <a:prstGeom prst="rect">
            <a:avLst/>
          </a:prstGeom>
          <a:noFill/>
          <a:ln>
            <a:noFill/>
          </a:ln>
        </p:spPr>
        <p:txBody>
          <a:bodyPr wrap="square" lIns="0" tIns="0" rIns="0" bIns="0" anchor="t">
            <a:noAutofit/>
          </a:bodyPr>
          <a:lstStyle/>
          <a:p>
            <a:pPr algn="l">
              <a:lnSpc>
                <a:spcPts val="1755"/>
              </a:lnSpc>
            </a:pPr>
            <a:r>
              <a:rPr lang="ko-KR" sz="1350" b="0">
                <a:solidFill>
                  <a:srgbClr val="142536"/>
                </a:solidFill>
                <a:latin typeface="Arial"/>
                <a:ea typeface="Malgun Gothic"/>
                <a:cs typeface="Arial"/>
              </a:rPr>
              <a:t xml:space="preserve">정답 검증용 방식은 제품 알고리즘과 다른 것이 좋습니다. PATH 구현은 BFS를 쓰고, 작은 그래프의 검증은 모</a:t>
            </a:r>
            <a:endParaRPr lang="ko-KR" sz="1350"/>
          </a:p>
          <a:p>
            <a:pPr algn="l">
              <a:lnSpc>
                <a:spcPts val="1755"/>
              </a:lnSpc>
            </a:pPr>
            <a:r>
              <a:rPr lang="ko-KR" sz="1350" b="0">
                <a:solidFill>
                  <a:srgbClr val="142536"/>
                </a:solidFill>
                <a:latin typeface="Arial"/>
                <a:ea typeface="Malgun Gothic"/>
                <a:cs typeface="Arial"/>
              </a:rPr>
              <a:t xml:space="preserve">든 단순 경로를 열거하여 길이와 문자열을 비교합니다. 이 느린 방식은 작은 테스트에만 사용합니다. 무작위 D</a:t>
            </a:r>
            <a:endParaRPr lang="ko-KR" sz="1350"/>
          </a:p>
          <a:p>
            <a:pPr algn="l">
              <a:lnSpc>
                <a:spcPts val="1755"/>
              </a:lnSpc>
            </a:pPr>
            <a:r>
              <a:rPr lang="ko-KR" sz="1350" b="0">
                <a:solidFill>
                  <a:srgbClr val="142536"/>
                </a:solidFill>
                <a:latin typeface="Arial"/>
                <a:ea typeface="Malgun Gothic"/>
                <a:cs typeface="Arial"/>
              </a:rPr>
              <a:t xml:space="preserve">AG는 고정 seed를 사용해 다시 같은 입력을 만들 수 있습니다. 과제 예시와는 hash 값이 아니라 흐름과 조건</a:t>
            </a:r>
            <a:endParaRPr lang="ko-KR" sz="1350"/>
          </a:p>
          <a:p>
            <a:pPr algn="l">
              <a:lnSpc>
                <a:spcPts val="1755"/>
              </a:lnSpc>
            </a:pPr>
            <a:r>
              <a:rPr lang="ko-KR" sz="1350" b="0">
                <a:solidFill>
                  <a:srgbClr val="142536"/>
                </a:solidFill>
                <a:latin typeface="Arial"/>
                <a:ea typeface="Malgun Gothic"/>
                <a:cs typeface="Arial"/>
              </a:rPr>
              <a:t xml:space="preserve">을 비교합니다. 15개 통과가 모든 가능한 입력의 무결함을 증명하는 것은 아닙니다.</a:t>
            </a:r>
            <a:endParaRPr lang="ko-KR" sz="1350"/>
          </a:p>
        </p:txBody>
      </p:sp>
      <p:sp>
        <p:nvSpPr>
          <p:cNvPr id="20" name="Text 20"/>
          <p:cNvSpPr txBox="1"/>
          <p:nvPr/>
        </p:nvSpPr>
        <p:spPr>
          <a:xfrm>
            <a:off x="508000" y="6299200"/>
            <a:ext cx="11176000" cy="22860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구현과 다른 방법으로 기대 결과를 만들고, 같은 결과인지 비교했습니다.</a:t>
            </a:r>
            <a:endParaRPr lang="ko-KR" sz="1250"/>
          </a:p>
        </p:txBody>
      </p:sp>
      <p:sp>
        <p:nvSpPr>
          <p:cNvPr id="21" name="Text 21"/>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tests/test_mini_git.py · 제출/results/11_자동검증.txt · 평가질문_설명자료.md</a:t>
            </a:r>
            <a:endParaRPr lang="ko-KR" sz="1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이제 내 말로 1분 동안 설명해 보세요">
    <p:bg>
      <p:bgPr>
        <a:solidFill>
          <a:srgbClr val="142536"/>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E9B55B"/>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E9B55B"/>
                </a:solidFill>
                <a:latin typeface="Arial"/>
                <a:ea typeface="Malgun Gothic"/>
                <a:cs typeface="Arial"/>
              </a:rPr>
              <a:t xml:space="preserve">FINISH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FFFFFF"/>
                </a:solidFill>
                <a:latin typeface="Arial"/>
                <a:ea typeface="Malgun Gothic"/>
                <a:cs typeface="Arial"/>
              </a:rPr>
              <a:t xml:space="preserve">26 / 26</a:t>
            </a:r>
            <a:endParaRPr lang="ko-KR" sz="1250"/>
          </a:p>
        </p:txBody>
      </p:sp>
      <p:sp>
        <p:nvSpPr>
          <p:cNvPr id="5" name="Text 5"/>
          <p:cNvSpPr txBox="1"/>
          <p:nvPr/>
        </p:nvSpPr>
        <p:spPr>
          <a:xfrm>
            <a:off x="508000" y="793750"/>
            <a:ext cx="11176000" cy="635000"/>
          </a:xfrm>
          <a:prstGeom prst="rect">
            <a:avLst/>
          </a:prstGeom>
          <a:noFill/>
          <a:ln>
            <a:noFill/>
          </a:ln>
        </p:spPr>
        <p:txBody>
          <a:bodyPr wrap="square" lIns="0" tIns="0" rIns="0" bIns="0" anchor="t">
            <a:noAutofit/>
          </a:bodyPr>
          <a:lstStyle/>
          <a:p>
            <a:pPr algn="l">
              <a:lnSpc>
                <a:spcPts val="3900"/>
              </a:lnSpc>
            </a:pPr>
            <a:r>
              <a:rPr lang="ko-KR" sz="3000" b="1">
                <a:solidFill>
                  <a:srgbClr val="FFFFFF"/>
                </a:solidFill>
                <a:latin typeface="Arial"/>
                <a:ea typeface="Malgun Gothic"/>
                <a:cs typeface="Arial"/>
              </a:rPr>
              <a:t xml:space="preserve">이제 내 말로 1분 동안 설명해 보세요</a:t>
            </a:r>
            <a:endParaRPr lang="ko-KR" sz="3000"/>
          </a:p>
        </p:txBody>
      </p:sp>
      <p:sp>
        <p:nvSpPr>
          <p:cNvPr id="6" name="Text 6"/>
          <p:cNvSpPr txBox="1"/>
          <p:nvPr/>
        </p:nvSpPr>
        <p:spPr>
          <a:xfrm>
            <a:off x="571500" y="1492250"/>
            <a:ext cx="3683000" cy="241300"/>
          </a:xfrm>
          <a:prstGeom prst="rect">
            <a:avLst/>
          </a:prstGeom>
          <a:noFill/>
          <a:ln>
            <a:noFill/>
          </a:ln>
        </p:spPr>
        <p:txBody>
          <a:bodyPr wrap="square" lIns="0" tIns="0" rIns="0" bIns="0" anchor="t">
            <a:noAutofit/>
          </a:bodyPr>
          <a:lstStyle/>
          <a:p>
            <a:pPr algn="l">
              <a:lnSpc>
                <a:spcPts val="1690"/>
              </a:lnSpc>
            </a:pPr>
            <a:r>
              <a:rPr lang="ko-KR" sz="1300" b="1">
                <a:solidFill>
                  <a:srgbClr val="E9B55B"/>
                </a:solidFill>
                <a:latin typeface="Arial"/>
                <a:ea typeface="Malgun Gothic"/>
                <a:cs typeface="Arial"/>
              </a:rPr>
              <a:t xml:space="preserve">핵심 · 그림 · 실행</a:t>
            </a:r>
            <a:endParaRPr lang="ko-KR" sz="1300"/>
          </a:p>
        </p:txBody>
      </p:sp>
      <p:sp>
        <p:nvSpPr>
          <p:cNvPr id="7" name="Text 7"/>
          <p:cNvSpPr txBox="1"/>
          <p:nvPr/>
        </p:nvSpPr>
        <p:spPr>
          <a:xfrm>
            <a:off x="4508500" y="1492250"/>
            <a:ext cx="7175500" cy="241300"/>
          </a:xfrm>
          <a:prstGeom prst="rect">
            <a:avLst/>
          </a:prstGeom>
          <a:noFill/>
          <a:ln>
            <a:noFill/>
          </a:ln>
        </p:spPr>
        <p:txBody>
          <a:bodyPr wrap="square" lIns="0" tIns="0" rIns="0" bIns="0" anchor="t">
            <a:noAutofit/>
          </a:bodyPr>
          <a:lstStyle/>
          <a:p>
            <a:pPr algn="l">
              <a:lnSpc>
                <a:spcPts val="1690"/>
              </a:lnSpc>
            </a:pPr>
            <a:r>
              <a:rPr lang="ko-KR" sz="1300" b="1">
                <a:solidFill>
                  <a:srgbClr val="E9B55B"/>
                </a:solidFill>
                <a:latin typeface="Arial"/>
                <a:ea typeface="Malgun Gothic"/>
                <a:cs typeface="Arial"/>
              </a:rPr>
              <a:t xml:space="preserve">상세 설명 · 코드 · 문답 전체</a:t>
            </a:r>
            <a:endParaRPr lang="ko-KR" sz="1300"/>
          </a:p>
        </p:txBody>
      </p:sp>
      <p:sp>
        <p:nvSpPr>
          <p:cNvPr id="8" name="Shape 8"/>
          <p:cNvSpPr/>
          <p:nvPr/>
        </p:nvSpPr>
        <p:spPr>
          <a:xfrm>
            <a:off x="4349750" y="1778000"/>
            <a:ext cx="12700" cy="4381500"/>
          </a:xfrm>
          <a:prstGeom prst="rect">
            <a:avLst/>
          </a:prstGeom>
          <a:solidFill>
            <a:srgbClr val="D7DFDB"/>
          </a:solidFill>
          <a:ln>
            <a:noFill/>
          </a:ln>
        </p:spPr>
      </p:sp>
      <p:sp>
        <p:nvSpPr>
          <p:cNvPr id="9" name="Text 9"/>
          <p:cNvSpPr txBox="1"/>
          <p:nvPr/>
        </p:nvSpPr>
        <p:spPr>
          <a:xfrm>
            <a:off x="571500" y="1809750"/>
            <a:ext cx="3683000" cy="243840"/>
          </a:xfrm>
          <a:prstGeom prst="rect">
            <a:avLst/>
          </a:prstGeom>
          <a:noFill/>
          <a:ln>
            <a:noFill/>
          </a:ln>
        </p:spPr>
        <p:txBody>
          <a:bodyPr wrap="square" lIns="0" tIns="0" rIns="0" bIns="0" anchor="t">
            <a:noAutofit/>
          </a:bodyPr>
          <a:lstStyle/>
          <a:p>
            <a:pPr algn="l">
              <a:lnSpc>
                <a:spcPts val="1820"/>
              </a:lnSpc>
            </a:pPr>
            <a:r>
              <a:rPr lang="ko-KR" sz="1400" b="1">
                <a:solidFill>
                  <a:srgbClr val="E9B55B"/>
                </a:solidFill>
                <a:latin typeface="Arial"/>
                <a:ea typeface="Malgun Gothic"/>
                <a:cs typeface="Arial"/>
              </a:rPr>
              <a:t xml:space="preserve">발표 순서</a:t>
            </a:r>
            <a:endParaRPr lang="ko-KR" sz="1400"/>
          </a:p>
        </p:txBody>
      </p:sp>
      <p:sp>
        <p:nvSpPr>
          <p:cNvPr id="10" name="Text 10"/>
          <p:cNvSpPr txBox="1"/>
          <p:nvPr/>
        </p:nvSpPr>
        <p:spPr>
          <a:xfrm>
            <a:off x="571500" y="2104390"/>
            <a:ext cx="3683000" cy="1399540"/>
          </a:xfrm>
          <a:prstGeom prst="rect">
            <a:avLst/>
          </a:prstGeom>
          <a:noFill/>
          <a:ln>
            <a:noFill/>
          </a:ln>
        </p:spPr>
        <p:txBody>
          <a:bodyPr wrap="square" lIns="0" tIns="0" rIns="0" bIns="0" anchor="t">
            <a:noAutofit/>
          </a:bodyPr>
          <a:lstStyle/>
          <a:p>
            <a:pPr algn="l">
              <a:lnSpc>
                <a:spcPts val="1820"/>
              </a:lnSpc>
            </a:pPr>
            <a:r>
              <a:rPr lang="ko-KR" sz="1400" b="0">
                <a:solidFill>
                  <a:srgbClr val="FFFFFF"/>
                </a:solidFill>
                <a:latin typeface="Arial"/>
                <a:ea typeface="Malgun Gothic"/>
                <a:cs typeface="Arial"/>
              </a:rPr>
              <a:t xml:space="preserve">① b3-2에서 python3 main.py로 실행했습니다. ②</a:t>
            </a:r>
            <a:endParaRPr lang="ko-KR" sz="1400"/>
          </a:p>
          <a:p>
            <a:pPr algn="l">
              <a:lnSpc>
                <a:spcPts val="1820"/>
              </a:lnSpc>
            </a:pPr>
            <a:r>
              <a:rPr lang="ko-KR" sz="1400" b="0">
                <a:solidFill>
                  <a:srgbClr val="FFFFFF"/>
                </a:solidFill>
                <a:latin typeface="Arial"/>
                <a:ea typeface="Malgun Gothic"/>
                <a:cs typeface="Arial"/>
              </a:rPr>
              <a:t xml:space="preserve">커밋을 분기하고 LOG·PATH·SEARCH를 확인했습니</a:t>
            </a:r>
            <a:endParaRPr lang="ko-KR" sz="1400"/>
          </a:p>
          <a:p>
            <a:pPr algn="l">
              <a:lnSpc>
                <a:spcPts val="1820"/>
              </a:lnSpc>
            </a:pPr>
            <a:r>
              <a:rPr lang="ko-KR" sz="1400" b="0">
                <a:solidFill>
                  <a:srgbClr val="FFFFFF"/>
                </a:solidFill>
                <a:latin typeface="Arial"/>
                <a:ea typeface="Malgun Gothic"/>
                <a:cs typeface="Arial"/>
              </a:rPr>
              <a:t xml:space="preserve">다. ③ 자동 테스트 15개가 통과했고 기록은 제출/resul</a:t>
            </a:r>
            <a:endParaRPr lang="ko-KR" sz="1400"/>
          </a:p>
          <a:p>
            <a:pPr algn="l">
              <a:lnSpc>
                <a:spcPts val="1820"/>
              </a:lnSpc>
            </a:pPr>
            <a:r>
              <a:rPr lang="ko-KR" sz="1400" b="0">
                <a:solidFill>
                  <a:srgbClr val="FFFFFF"/>
                </a:solidFill>
                <a:latin typeface="Arial"/>
                <a:ea typeface="Malgun Gothic"/>
                <a:cs typeface="Arial"/>
              </a:rPr>
              <a:t xml:space="preserve">ts에 있습니다. ④ LOG는 부모 우선, PATH는 BFS, 조</a:t>
            </a:r>
            <a:endParaRPr lang="ko-KR" sz="1400"/>
          </a:p>
          <a:p>
            <a:pPr algn="l">
              <a:lnSpc>
                <a:spcPts val="1820"/>
              </a:lnSpc>
            </a:pPr>
            <a:r>
              <a:rPr lang="ko-KR" sz="1400" b="0">
                <a:solidFill>
                  <a:srgbClr val="FFFFFF"/>
                </a:solidFill>
                <a:latin typeface="Arial"/>
                <a:ea typeface="Malgun Gothic"/>
                <a:cs typeface="Arial"/>
              </a:rPr>
              <a:t xml:space="preserve">상은 부모 탐색입니다. ⑤ 정렬은 안정 병합 정렬, 검색</a:t>
            </a:r>
            <a:endParaRPr lang="ko-KR" sz="1400"/>
          </a:p>
          <a:p>
            <a:pPr algn="l">
              <a:lnSpc>
                <a:spcPts val="1820"/>
              </a:lnSpc>
            </a:pPr>
            <a:r>
              <a:rPr lang="ko-KR" sz="1400" b="0">
                <a:solidFill>
                  <a:srgbClr val="FFFFFF"/>
                </a:solidFill>
                <a:latin typeface="Arial"/>
                <a:ea typeface="Malgun Gothic"/>
                <a:cs typeface="Arial"/>
              </a:rPr>
              <a:t xml:space="preserve">은 역색인을 직접 구현했습니다.</a:t>
            </a:r>
            <a:endParaRPr lang="ko-KR" sz="1400"/>
          </a:p>
        </p:txBody>
      </p:sp>
      <p:sp>
        <p:nvSpPr>
          <p:cNvPr id="11" name="Text 11"/>
          <p:cNvSpPr txBox="1"/>
          <p:nvPr/>
        </p:nvSpPr>
        <p:spPr>
          <a:xfrm>
            <a:off x="571500" y="3554730"/>
            <a:ext cx="3683000" cy="243840"/>
          </a:xfrm>
          <a:prstGeom prst="rect">
            <a:avLst/>
          </a:prstGeom>
          <a:noFill/>
          <a:ln>
            <a:noFill/>
          </a:ln>
        </p:spPr>
        <p:txBody>
          <a:bodyPr wrap="square" lIns="0" tIns="0" rIns="0" bIns="0" anchor="t">
            <a:noAutofit/>
          </a:bodyPr>
          <a:lstStyle/>
          <a:p>
            <a:pPr algn="l">
              <a:lnSpc>
                <a:spcPts val="1820"/>
              </a:lnSpc>
            </a:pPr>
            <a:r>
              <a:rPr lang="ko-KR" sz="1400" b="1">
                <a:solidFill>
                  <a:srgbClr val="E9B55B"/>
                </a:solidFill>
                <a:latin typeface="Arial"/>
                <a:ea typeface="Malgun Gothic"/>
                <a:cs typeface="Arial"/>
              </a:rPr>
              <a:t xml:space="preserve">발표 전 체크</a:t>
            </a:r>
            <a:endParaRPr lang="ko-KR" sz="1400"/>
          </a:p>
        </p:txBody>
      </p:sp>
      <p:sp>
        <p:nvSpPr>
          <p:cNvPr id="12" name="Text 12"/>
          <p:cNvSpPr txBox="1"/>
          <p:nvPr/>
        </p:nvSpPr>
        <p:spPr>
          <a:xfrm>
            <a:off x="571500" y="3849370"/>
            <a:ext cx="3683000" cy="706120"/>
          </a:xfrm>
          <a:prstGeom prst="rect">
            <a:avLst/>
          </a:prstGeom>
          <a:noFill/>
          <a:ln>
            <a:noFill/>
          </a:ln>
        </p:spPr>
        <p:txBody>
          <a:bodyPr wrap="square" lIns="0" tIns="0" rIns="0" bIns="0" anchor="t">
            <a:noAutofit/>
          </a:bodyPr>
          <a:lstStyle/>
          <a:p>
            <a:pPr algn="l">
              <a:lnSpc>
                <a:spcPts val="1820"/>
              </a:lnSpc>
            </a:pPr>
            <a:r>
              <a:rPr lang="ko-KR" sz="1400" b="0">
                <a:solidFill>
                  <a:srgbClr val="FFFFFF"/>
                </a:solidFill>
                <a:latin typeface="Arial"/>
                <a:ea typeface="Malgun Gothic"/>
                <a:cs typeface="Arial"/>
              </a:rPr>
              <a:t xml:space="preserve">실제 hash로 PATH 입력하기 검증 파일 11과 테스트</a:t>
            </a:r>
            <a:endParaRPr lang="ko-KR" sz="1400"/>
          </a:p>
          <a:p>
            <a:pPr algn="l">
              <a:lnSpc>
                <a:spcPts val="1820"/>
              </a:lnSpc>
            </a:pPr>
            <a:r>
              <a:rPr lang="ko-KR" sz="1400" b="0">
                <a:solidFill>
                  <a:srgbClr val="FFFFFF"/>
                </a:solidFill>
                <a:latin typeface="Arial"/>
                <a:ea typeface="Malgun Gothic"/>
                <a:cs typeface="Arial"/>
              </a:rPr>
              <a:t xml:space="preserve">소스 열어 두기 Merge 명령과 테스트용 병합 그래프</a:t>
            </a:r>
            <a:endParaRPr lang="ko-KR" sz="1400"/>
          </a:p>
          <a:p>
            <a:pPr algn="l">
              <a:lnSpc>
                <a:spcPts val="1820"/>
              </a:lnSpc>
            </a:pPr>
            <a:r>
              <a:rPr lang="ko-KR" sz="1400" b="0">
                <a:solidFill>
                  <a:srgbClr val="FFFFFF"/>
                </a:solidFill>
                <a:latin typeface="Arial"/>
                <a:ea typeface="Malgun Gothic"/>
                <a:cs typeface="Arial"/>
              </a:rPr>
              <a:t xml:space="preserve">구분하기</a:t>
            </a:r>
            <a:endParaRPr lang="ko-KR" sz="1400"/>
          </a:p>
        </p:txBody>
      </p:sp>
      <p:sp>
        <p:nvSpPr>
          <p:cNvPr id="13" name="Text 13"/>
          <p:cNvSpPr txBox="1"/>
          <p:nvPr/>
        </p:nvSpPr>
        <p:spPr>
          <a:xfrm>
            <a:off x="4508500" y="1809750"/>
            <a:ext cx="7175500" cy="2125980"/>
          </a:xfrm>
          <a:prstGeom prst="rect">
            <a:avLst/>
          </a:prstGeom>
          <a:noFill/>
          <a:ln>
            <a:noFill/>
          </a:ln>
        </p:spPr>
        <p:txBody>
          <a:bodyPr wrap="square" lIns="0" tIns="0" rIns="0" bIns="0" anchor="t">
            <a:noAutofit/>
          </a:bodyPr>
          <a:lstStyle/>
          <a:p>
            <a:pPr algn="l">
              <a:lnSpc>
                <a:spcPts val="2080"/>
              </a:lnSpc>
            </a:pPr>
            <a:r>
              <a:rPr lang="ko-KR" sz="1600" b="0">
                <a:solidFill>
                  <a:srgbClr val="FFFFFF"/>
                </a:solidFill>
                <a:latin typeface="Arial"/>
                <a:ea typeface="Malgun Gothic"/>
                <a:cs typeface="Arial"/>
              </a:rPr>
              <a:t xml:space="preserve">&gt; "커밋은 부모 hash 목록만 들고 있는 노드이고, 이 참조들이 모여 DAG를 &gt; 이룹니다. LO</a:t>
            </a:r>
            <a:endParaRPr lang="ko-KR" sz="1600"/>
          </a:p>
          <a:p>
            <a:pPr algn="l">
              <a:lnSpc>
                <a:spcPts val="2080"/>
              </a:lnSpc>
            </a:pPr>
            <a:r>
              <a:rPr lang="ko-KR" sz="1600" b="0">
                <a:solidFill>
                  <a:srgbClr val="FFFFFF"/>
                </a:solidFill>
                <a:latin typeface="Arial"/>
                <a:ea typeface="Malgun Gothic"/>
                <a:cs typeface="Arial"/>
              </a:rPr>
              <a:t xml:space="preserve">G는 Kahn의 위상 정렬로 부모가 항 상 자식보다 먼저 나오게 &gt; 했고, PATH는 부모-자식 연</a:t>
            </a:r>
            <a:endParaRPr lang="ko-KR" sz="1600"/>
          </a:p>
          <a:p>
            <a:pPr algn="l">
              <a:lnSpc>
                <a:spcPts val="2080"/>
              </a:lnSpc>
            </a:pPr>
            <a:r>
              <a:rPr lang="ko-KR" sz="1600" b="0">
                <a:solidFill>
                  <a:srgbClr val="FFFFFF"/>
                </a:solidFill>
                <a:latin typeface="Arial"/>
                <a:ea typeface="Malgun Gothic"/>
                <a:cs typeface="Arial"/>
              </a:rPr>
              <a:t xml:space="preserve">결을 무방향 간선으로 보고 양쪽에서 BFS 거리를 &gt; 구해 사전순으로 가 장 작은 최단 경로</a:t>
            </a:r>
            <a:endParaRPr lang="ko-KR" sz="1600"/>
          </a:p>
          <a:p>
            <a:pPr algn="l">
              <a:lnSpc>
                <a:spcPts val="2080"/>
              </a:lnSpc>
            </a:pPr>
            <a:r>
              <a:rPr lang="ko-KR" sz="1600" b="0">
                <a:solidFill>
                  <a:srgbClr val="FFFFFF"/>
                </a:solidFill>
                <a:latin typeface="Arial"/>
                <a:ea typeface="Malgun Gothic"/>
                <a:cs typeface="Arial"/>
              </a:rPr>
              <a:t xml:space="preserve">를 탐욕적으로 재구성했습니다. &gt; ANCESTORS는 부모 방향 BFS로 도달 가능한 모든 조상</a:t>
            </a:r>
            <a:endParaRPr lang="ko-KR" sz="1600"/>
          </a:p>
          <a:p>
            <a:pPr algn="l">
              <a:lnSpc>
                <a:spcPts val="2080"/>
              </a:lnSpc>
            </a:pPr>
            <a:r>
              <a:rPr lang="ko-KR" sz="1600" b="0">
                <a:solidFill>
                  <a:srgbClr val="FFFFFF"/>
                </a:solidFill>
                <a:latin typeface="Arial"/>
                <a:ea typeface="Malgun Gothic"/>
                <a:cs typeface="Arial"/>
              </a:rPr>
              <a:t xml:space="preserve">을 찾습니다. 정렬은 &gt; sorted() 없이 병합 정렬을 직접 구현해 O(n log n)을 항상 보장하고</a:t>
            </a:r>
            <a:endParaRPr lang="ko-KR" sz="1600"/>
          </a:p>
          <a:p>
            <a:pPr algn="l">
              <a:lnSpc>
                <a:spcPts val="2080"/>
              </a:lnSpc>
            </a:pPr>
            <a:r>
              <a:rPr lang="ko-KR" sz="1600" b="0">
                <a:solidFill>
                  <a:srgbClr val="FFFFFF"/>
                </a:solidFill>
                <a:latin typeface="Arial"/>
                <a:ea typeface="Malgun Gothic"/>
                <a:cs typeface="Arial"/>
              </a:rPr>
              <a:t xml:space="preserve">&gt; 안정 정렬 성질로 동률 처리를 자연스럽게 해결했습니 다. 검색은 커밋 &gt; 생성 시점에 미</a:t>
            </a:r>
            <a:endParaRPr lang="ko-KR" sz="1600"/>
          </a:p>
          <a:p>
            <a:pPr algn="l">
              <a:lnSpc>
                <a:spcPts val="2080"/>
              </a:lnSpc>
            </a:pPr>
            <a:r>
              <a:rPr lang="ko-KR" sz="1600" b="0">
                <a:solidFill>
                  <a:srgbClr val="FFFFFF"/>
                </a:solidFill>
                <a:latin typeface="Arial"/>
                <a:ea typeface="Malgun Gothic"/>
                <a:cs typeface="Arial"/>
              </a:rPr>
              <a:t xml:space="preserve">리 만들어두는 역색인으로 후보를 가져옵니다. 단어·작성자 조회는 &gt; 평균 O(1)에 결과 처리</a:t>
            </a:r>
            <a:endParaRPr lang="ko-KR" sz="1600"/>
          </a:p>
          <a:p>
            <a:pPr algn="l">
              <a:lnSpc>
                <a:spcPts val="2080"/>
              </a:lnSpc>
            </a:pPr>
            <a:r>
              <a:rPr lang="ko-KR" sz="1600" b="0">
                <a:solidFill>
                  <a:srgbClr val="FFFFFF"/>
                </a:solidFill>
                <a:latin typeface="Arial"/>
                <a:ea typeface="Malgun Gothic"/>
                <a:cs typeface="Arial"/>
              </a:rPr>
              <a:t xml:space="preserve">O( k)가 추가되고, 구문 검색은 후보 메시지를 확인합니다."</a:t>
            </a:r>
            <a:endParaRPr lang="ko-KR" sz="1600"/>
          </a:p>
        </p:txBody>
      </p:sp>
      <p:sp>
        <p:nvSpPr>
          <p:cNvPr id="14" name="Text 14"/>
          <p:cNvSpPr txBox="1"/>
          <p:nvPr/>
        </p:nvSpPr>
        <p:spPr>
          <a:xfrm>
            <a:off x="4508500" y="3986530"/>
            <a:ext cx="7175500" cy="1597660"/>
          </a:xfrm>
          <a:prstGeom prst="rect">
            <a:avLst/>
          </a:prstGeom>
          <a:noFill/>
          <a:ln>
            <a:noFill/>
          </a:ln>
        </p:spPr>
        <p:txBody>
          <a:bodyPr wrap="square" lIns="0" tIns="0" rIns="0" bIns="0" anchor="t">
            <a:noAutofit/>
          </a:bodyPr>
          <a:lstStyle/>
          <a:p>
            <a:pPr algn="l">
              <a:lnSpc>
                <a:spcPts val="2080"/>
              </a:lnSpc>
            </a:pPr>
            <a:r>
              <a:rPr lang="ko-KR" sz="1600" b="0">
                <a:solidFill>
                  <a:srgbClr val="FFFFFF"/>
                </a:solidFill>
                <a:latin typeface="Arial"/>
                <a:ea typeface="Malgun Gothic"/>
                <a:cs typeface="Arial"/>
              </a:rPr>
              <a:t xml:space="preserve">연습 답변: 저는 커밋 메타데이터를 관리하는 Mini Git을 만들었습니다. b3-2에서 실행하고</a:t>
            </a:r>
            <a:endParaRPr lang="ko-KR" sz="1600"/>
          </a:p>
          <a:p>
            <a:pPr algn="l">
              <a:lnSpc>
                <a:spcPts val="2080"/>
              </a:lnSpc>
            </a:pPr>
            <a:r>
              <a:rPr lang="ko-KR" sz="1600" b="0">
                <a:solidFill>
                  <a:srgbClr val="FFFFFF"/>
                </a:solidFill>
                <a:latin typeface="Arial"/>
                <a:ea typeface="Malgun Gothic"/>
                <a:cs typeface="Arial"/>
              </a:rPr>
              <a:t xml:space="preserve">브랜치를 나누어 부모 관계를 확인했습니다. LOG는 부모가 먼저 나오도록 위상 정렬하고, P</a:t>
            </a:r>
            <a:endParaRPr lang="ko-KR" sz="1600"/>
          </a:p>
          <a:p>
            <a:pPr algn="l">
              <a:lnSpc>
                <a:spcPts val="2080"/>
              </a:lnSpc>
            </a:pPr>
            <a:r>
              <a:rPr lang="ko-KR" sz="1600" b="0">
                <a:solidFill>
                  <a:srgbClr val="FFFFFF"/>
                </a:solidFill>
                <a:latin typeface="Arial"/>
                <a:ea typeface="Malgun Gothic"/>
                <a:cs typeface="Arial"/>
              </a:rPr>
              <a:t xml:space="preserve">ATH는 연결을 양방향으로 보아 BFS로 최단 거리를 구합니다. 조상은 부모 방향으로 찾고,</a:t>
            </a:r>
            <a:endParaRPr lang="ko-KR" sz="1600"/>
          </a:p>
          <a:p>
            <a:pPr algn="l">
              <a:lnSpc>
                <a:spcPts val="2080"/>
              </a:lnSpc>
            </a:pPr>
            <a:r>
              <a:rPr lang="ko-KR" sz="1600" b="0">
                <a:solidFill>
                  <a:srgbClr val="FFFFFF"/>
                </a:solidFill>
                <a:latin typeface="Arial"/>
                <a:ea typeface="Malgun Gothic"/>
                <a:cs typeface="Arial"/>
              </a:rPr>
              <a:t xml:space="preserve">정렬은 병합 정렬, 검색은 역색인으로 구현했습니다. Python 3.12.13에서 테스트 15개가 통</a:t>
            </a:r>
            <a:endParaRPr lang="ko-KR" sz="1600"/>
          </a:p>
          <a:p>
            <a:pPr algn="l">
              <a:lnSpc>
                <a:spcPts val="2080"/>
              </a:lnSpc>
            </a:pPr>
            <a:r>
              <a:rPr lang="ko-KR" sz="1600" b="0">
                <a:solidFill>
                  <a:srgbClr val="FFFFFF"/>
                </a:solidFill>
                <a:latin typeface="Arial"/>
                <a:ea typeface="Malgun Gothic"/>
                <a:cs typeface="Arial"/>
              </a:rPr>
              <a:t xml:space="preserve">과했으며 결과와 코드는 제출/results와 tests 폴더에 있습니다. 질문을 받으면 해당 소스 파</a:t>
            </a:r>
            <a:endParaRPr lang="ko-KR" sz="1600"/>
          </a:p>
          <a:p>
            <a:pPr algn="l">
              <a:lnSpc>
                <a:spcPts val="2080"/>
              </a:lnSpc>
            </a:pPr>
            <a:r>
              <a:rPr lang="ko-KR" sz="1600" b="0">
                <a:solidFill>
                  <a:srgbClr val="FFFFFF"/>
                </a:solidFill>
                <a:latin typeface="Arial"/>
                <a:ea typeface="Malgun Gothic"/>
                <a:cs typeface="Arial"/>
              </a:rPr>
              <a:t xml:space="preserve">일과 결과를 함께 보여 주세요.</a:t>
            </a:r>
            <a:endParaRPr lang="ko-KR" sz="1600"/>
          </a:p>
        </p:txBody>
      </p:sp>
      <p:sp>
        <p:nvSpPr>
          <p:cNvPr id="15" name="Text 15"/>
          <p:cNvSpPr txBox="1"/>
          <p:nvPr/>
        </p:nvSpPr>
        <p:spPr>
          <a:xfrm>
            <a:off x="508000" y="6299200"/>
            <a:ext cx="11176000" cy="228600"/>
          </a:xfrm>
          <a:prstGeom prst="rect">
            <a:avLst/>
          </a:prstGeom>
          <a:noFill/>
          <a:ln>
            <a:noFill/>
          </a:ln>
        </p:spPr>
        <p:txBody>
          <a:bodyPr wrap="square" lIns="0" tIns="0" rIns="0" bIns="0" anchor="t">
            <a:noAutofit/>
          </a:bodyPr>
          <a:lstStyle/>
          <a:p>
            <a:pPr algn="l">
              <a:lnSpc>
                <a:spcPts val="1625"/>
              </a:lnSpc>
            </a:pPr>
            <a:r>
              <a:rPr lang="ko-KR" sz="1250" b="1">
                <a:solidFill>
                  <a:srgbClr val="E9B55B"/>
                </a:solidFill>
                <a:latin typeface="Arial"/>
                <a:ea typeface="Malgun Gothic"/>
                <a:cs typeface="Arial"/>
              </a:rPr>
              <a:t xml:space="preserve">실행 명령 하나, 검증 근거 하나, 알고리즘 이유 하나를 꼭 말하세요.</a:t>
            </a:r>
            <a:endParaRPr lang="ko-KR" sz="1250"/>
          </a:p>
        </p:txBody>
      </p:sp>
      <p:sp>
        <p:nvSpPr>
          <p:cNvPr id="16" name="Text 16"/>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D7DFDB"/>
                </a:solidFill>
                <a:latin typeface="Arial"/>
                <a:ea typeface="Malgun Gothic"/>
                <a:cs typeface="Arial"/>
              </a:rPr>
              <a:t xml:space="preserve">근거: README.md · 최종검수결과.md · 제출/실행결과.md · 평가질문_설명자료.md</a:t>
            </a:r>
            <a:endParaRPr lang="ko-KR" sz="1000"/>
          </a:p>
        </p:txBody>
      </p:sp>
    </p:spTree>
  </p:cSld>
  <p:clrMapOvr>
    <a:masterClrMapping/>
  </p:clrMapOvr>
</p:sld>
</file>

<file path=ppt/theme/theme1.xml><?xml version="1.0" encoding="utf-8"?>
<a:theme xmlns:a="http://schemas.openxmlformats.org/drawingml/2006/main" name="Mini Git">
  <a:themeElements>
    <a:clrScheme name="Mini Git">
      <a:dk1>
        <a:srgbClr val="142536"/>
      </a:dk1>
      <a:lt1>
        <a:srgbClr val="FFFFFF"/>
      </a:lt1>
      <a:dk2>
        <a:srgbClr val="566979"/>
      </a:dk2>
      <a:lt2>
        <a:srgbClr val="F5F2EA"/>
      </a:lt2>
      <a:accent1>
        <a:srgbClr val="168B82"/>
      </a:accent1>
      <a:accent2>
        <a:srgbClr val="E9B55B"/>
      </a:accent2>
      <a:accent3>
        <a:srgbClr val="42677E"/>
      </a:accent3>
      <a:accent4>
        <a:srgbClr val="85A99C"/>
      </a:accent4>
      <a:accent5>
        <a:srgbClr val="CCA66F"/>
      </a:accent5>
      <a:accent6>
        <a:srgbClr val="77919C"/>
      </a:accent6>
      <a:hlink>
        <a:srgbClr val="168B82"/>
      </a:hlink>
      <a:folHlink>
        <a:srgbClr val="765A91"/>
      </a:folHlink>
    </a:clrScheme>
    <a:fontScheme name="Korean Learning">
      <a:majorFont>
        <a:latin typeface="Arial"/>
        <a:ea typeface="Malgun Gothic"/>
        <a:cs typeface="Arial"/>
      </a:majorFont>
      <a:minorFont>
        <a:latin typeface="Arial"/>
        <a:ea typeface="Malgun Gothic"/>
        <a:cs typeface="Arial"/>
      </a:minorFont>
    </a:fontScheme>
    <a:fmtScheme name="Simple">
      <a:fillStyleLst>
        <a:solidFill>
          <a:schemeClr val="phClr"/>
        </a:solidFill>
        <a:solidFill>
          <a:schemeClr val="phClr"/>
        </a:solidFill>
        <a:solidFill>
          <a:schemeClr val="phClr"/>
        </a:solidFill>
      </a:fillStyleLst>
      <a:lnStyleLst>
        <a:ln w="12700">
          <a:solidFill>
            <a:schemeClr val="phClr"/>
          </a:solidFill>
          <a:prstDash val="solid"/>
        </a:ln>
        <a:ln w="12700">
          <a:solidFill>
            <a:schemeClr val="phClr"/>
          </a:solidFill>
          <a:prstDash val="solid"/>
        </a:ln>
        <a:ln w="127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Mini Git presentation builder</Application>
  <PresentationFormat>Widescreen</PresentationFormat>
  <Slides>26</Slides>
  <Notes>26</Notes>
</Properties>
</file>

<file path=docProps/core.xml><?xml version="1.0" encoding="utf-8"?>
<cp:coreProperties xmlns:cp="http://schemas.openxmlformats.org/package/2006/metadata/core-properties" xmlns:dc="http://purl.org/dc/elements/1.1/" xmlns:dcterms="http://purl.org/dc/terms/" xmlns:xsi="http://www.w3.org/2001/XMLSchema-instance">
  <dc:title>B3-2 Mini Git 실행·검증·평가 설명</dc:title>
  <dc:subject>Mini Git 초보자 실행·검증·평가 발표</dc:subject>
  <dc:creator>Mini Git Project</dc:creator>
  <dc:description>26장, 편집 가능한 도형·텍스트와 발표자 노트</dc:description>
  <dcterms:created xsi:type="dcterms:W3CDTF">2026-10-09T00:00:00Z</dcterms:created>
</cp:coreProperties>
</file>