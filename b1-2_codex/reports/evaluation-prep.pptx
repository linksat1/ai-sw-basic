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bin" ContentType="application/vnd.openxmlformats-officedocument.presentationml.printerSettings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3333500" cy="7500000" type="wide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70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B1-2 평가 대비 발표자료</a:t>
            </a:r>
          </a:p>
          <a:p>
            <a:pPr/>
            <a:r>
              <a:rPr lang="ko-KR" sz="1500" dirty="0">
                <a:solidFill>
                  <a:srgbClr val="111827"/>
                </a:solidFill>
                <a:latin typeface="Apple SD Gothic Neo"/>
                <a:ea typeface="Apple SD Gothic Neo"/>
              </a:rPr>
              <a:t>OOM / CPU Spike / Deadlock 결과와 평가 질문 답변</a:t>
            </a:r>
          </a:p>
        </p:txBody>
      </p:sp>
      <p:sp>
        <p:nvSpPr>
          <p:cNvPr id="10" name="Bullets"/>
          <p:cNvSpPr txBox="1"/>
          <p:nvPr/>
        </p:nvSpPr>
        <p:spPr>
          <a:xfrm>
            <a:off x="800000" y="1450000"/>
            <a:ext cx="11700000" cy="20000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주제: Linux 프로세스 및 시스템 리소스 트러블슈팅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대상: 원본 agent-leak-app-x86 실행 결과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증거: 앱 로그, monitor.sh, ps, top, /proc, ps -L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핵심 태도: 재현 결과와 미재현 결과를 모두 증거 기반으로 설명</a:t>
            </a:r>
          </a:p>
        </p:txBody>
      </p:sp>
      <p:sp>
        <p:nvSpPr>
          <p:cNvPr id="901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미션 요구사항과 제출물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650000" y="1230000"/>
            <a:ext cx="12000000" cy="2850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3개 장애 유형별 GitHub Issue 형식 리포트 작성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각 리포트: 현상, 증거, 원인, 조치 및 검증 포함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객관 증거: monitor.sh, 앱 로그, ps/top, 스레드/프로세스 상태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제출물: oom.md, cpu-spike.md, deadlock.md, evidence/logs/*</a:t>
            </a:r>
          </a:p>
        </p:txBody>
      </p:sp>
      <p:sp>
        <p:nvSpPr>
          <p:cNvPr id="12" name="Evidence"/>
          <p:cNvSpPr txBox="1"/>
          <p:nvPr/>
        </p:nvSpPr>
        <p:spPr>
          <a:xfrm>
            <a:off x="800000" y="4420000"/>
            <a:ext cx="11650000" cy="11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lIns="127000" tIns="91440" rIns="127000" bIns="91440"/>
          <a:lstStyle/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b1-2_codex/reports/oom.md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b1-2_codex/reports/cpu-spike.md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b1-2_codex/reports/deadlock.md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b1-2_codex/evidence/logs/</a:t>
            </a:r>
          </a:p>
        </p:txBody>
      </p:sp>
      <p:sp>
        <p:nvSpPr>
          <p:cNvPr id="902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오늘 실행 환경</a:t>
            </a:r>
          </a:p>
        </p:txBody>
      </p:sp>
      <p:sp>
        <p:nvSpPr>
          <p:cNvPr id="13" name="Bullets"/>
          <p:cNvSpPr txBox="1"/>
          <p:nvPr/>
        </p:nvSpPr>
        <p:spPr>
          <a:xfrm>
            <a:off x="650000" y="1230000"/>
            <a:ext cx="5900000" cy="3520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OrbStack Ubuntu b1-lab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실행 계정: agent-admin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앱 홈: /home/agent-admin/agent-app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포트: 15034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키 경로: api_keys/secret.key</a:t>
            </a:r>
          </a:p>
        </p:txBody>
      </p:sp>
      <p:sp>
        <p:nvSpPr>
          <p:cNvPr id="14" name="Evidence"/>
          <p:cNvSpPr txBox="1"/>
          <p:nvPr/>
        </p:nvSpPr>
        <p:spPr>
          <a:xfrm>
            <a:off x="6850000" y="1230000"/>
            <a:ext cx="5800000" cy="352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lIns="127000" tIns="91440" rIns="127000" bIns="91440"/>
          <a:lstStyle/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원본 파일 동일성 확인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VM agent-leak-app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local agent-leak-app-x86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zip 내부 agent-leak-app-x86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/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SHA-256: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7e0a19cfa80ece6b547a5008273661f0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d4d71e526e96b51e0d0f341dd1bb3e40</a:t>
            </a:r>
          </a:p>
        </p:txBody>
      </p:sp>
      <p:sp>
        <p:nvSpPr>
          <p:cNvPr id="903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전체 결과 요약</a:t>
            </a:r>
          </a:p>
        </p:txBody>
      </p:sp>
      <p:sp>
        <p:nvSpPr>
          <p:cNvPr id="15" name="Bullets"/>
          <p:cNvSpPr txBox="1"/>
          <p:nvPr/>
        </p:nvSpPr>
        <p:spPr>
          <a:xfrm>
            <a:off x="650000" y="1160000"/>
            <a:ext cx="12050000" cy="4450000"/>
          </a:xfrm>
          <a:prstGeom prst="round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OOM: MEMORY_LIMIT=50에서 MemoryGuard 자기 종료 재현 성공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CPU: CPU_MAX_OCCUPY 값에 따라 cooldown 동작 변화 확인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CPU: Watchdog/SIGTERM 종료 로그는 원본 앱에서 미관찰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Deadlock: 경고 문구는 출력됐지만 Threads=1, WAITING/BLOCKED 로그 없음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결론: OOM은 재현, CPU/Deadlock은 교재 기대와 다른 실제 동작을 보고</a:t>
            </a:r>
          </a:p>
        </p:txBody>
      </p:sp>
      <p:sp>
        <p:nvSpPr>
          <p:cNvPr id="904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Case 1 - OOM 관찰 결과</a:t>
            </a:r>
          </a:p>
        </p:txBody>
      </p:sp>
      <p:sp>
        <p:nvSpPr>
          <p:cNvPr id="16" name="Bullets"/>
          <p:cNvSpPr txBox="1"/>
          <p:nvPr/>
        </p:nvSpPr>
        <p:spPr>
          <a:xfrm>
            <a:off x="650000" y="1150000"/>
            <a:ext cx="5900000" cy="2550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Before: MEMORY_LIMIT=50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Heap 25MB -&gt; 50MB 증가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50MB 도달 즉시 MemoryGuard 발동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프로세스 종료 후 포트도 닫힘</a:t>
            </a:r>
          </a:p>
        </p:txBody>
      </p:sp>
      <p:sp>
        <p:nvSpPr>
          <p:cNvPr id="17" name="Evidence"/>
          <p:cNvSpPr txBox="1"/>
          <p:nvPr/>
        </p:nvSpPr>
        <p:spPr>
          <a:xfrm>
            <a:off x="6850000" y="1150000"/>
            <a:ext cx="5850000" cy="295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lIns="127000" tIns="91440" rIns="127000" bIns="91440"/>
          <a:lstStyle/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17:18:00 Current Heap: 25MB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17:18:03 Current Heap: 50MB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Memory limit exceeded (50MB &gt;= 50MB)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Self-terminating process 3114</a:t>
            </a:r>
          </a:p>
        </p:txBody>
      </p:sp>
      <p:sp>
        <p:nvSpPr>
          <p:cNvPr id="18" name="Evidence"/>
          <p:cNvSpPr txBox="1"/>
          <p:nvPr/>
        </p:nvSpPr>
        <p:spPr>
          <a:xfrm>
            <a:off x="900000" y="4330000"/>
            <a:ext cx="11350000" cy="110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lIns="127000" tIns="91440" rIns="127000" bIns="91440"/>
          <a:lstStyle/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monitor.sh: PID 3114 RSS 44232KB -&gt; next snapshot PROCESS FAIL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After MEMORY_LIMIT=512: 관찰 시간 내 종료 로그 없음</a:t>
            </a:r>
          </a:p>
        </p:txBody>
      </p:sp>
      <p:sp>
        <p:nvSpPr>
          <p:cNvPr id="905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OOM 원인과 답변 포인트</a:t>
            </a:r>
          </a:p>
        </p:txBody>
      </p:sp>
      <p:sp>
        <p:nvSpPr>
          <p:cNvPr id="19" name="Bullets"/>
          <p:cNvSpPr txBox="1"/>
          <p:nvPr/>
        </p:nvSpPr>
        <p:spPr>
          <a:xfrm>
            <a:off x="650000" y="1200000"/>
            <a:ext cx="12050000" cy="4200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메모리 누수: 힙에 쌓인 데이터가 해제되지 않아 사용량 증가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앱 내부 Heap 카운터와 OS RSS를 함께 관찰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MemoryGuard는 시스템 전체 불안정 방지를 위해 자기 프로세스를 종료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임시 조치: MEMORY_LIMIT 상향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근본 조치: 객체 해제, 캐시 크기 제한, 스트리밍 처리</a:t>
            </a:r>
          </a:p>
        </p:txBody>
      </p:sp>
      <p:sp>
        <p:nvSpPr>
          <p:cNvPr id="906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Case 2 - CPU Spike 관찰 결과</a:t>
            </a:r>
          </a:p>
        </p:txBody>
      </p:sp>
      <p:sp>
        <p:nvSpPr>
          <p:cNvPr id="20" name="Bullets"/>
          <p:cNvSpPr txBox="1"/>
          <p:nvPr/>
        </p:nvSpPr>
        <p:spPr>
          <a:xfrm>
            <a:off x="650000" y="1150000"/>
            <a:ext cx="5900000" cy="28000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Before: CPU_MAX_OCCUPY=10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10% 도달 후 Peak reached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Watchdog 종료 대신 cooldown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After: CPU_MAX_OCCUPY=50, 24.78%까지 상승</a:t>
            </a:r>
          </a:p>
        </p:txBody>
      </p:sp>
      <p:sp>
        <p:nvSpPr>
          <p:cNvPr id="21" name="Evidence"/>
          <p:cNvSpPr txBox="1"/>
          <p:nvPr/>
        </p:nvSpPr>
        <p:spPr>
          <a:xfrm>
            <a:off x="6850000" y="1150000"/>
            <a:ext cx="5850000" cy="330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lIns="127000" tIns="91440" rIns="127000" bIns="91440"/>
          <a:lstStyle/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CpuWorker Started. Maximum CPU Limit: 10%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Current Load: 5.00%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Peak reached (10.00%). Starting cooldown...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Cooldown complete (5.00%). Resuming load increase...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/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After Current Load: 24.78%</a:t>
            </a:r>
          </a:p>
        </p:txBody>
      </p:sp>
      <p:sp>
        <p:nvSpPr>
          <p:cNvPr id="907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CPU 해석과 교재 예시와의 차이</a:t>
            </a:r>
          </a:p>
        </p:txBody>
      </p:sp>
      <p:sp>
        <p:nvSpPr>
          <p:cNvPr id="22" name="Bullets"/>
          <p:cNvSpPr txBox="1"/>
          <p:nvPr/>
        </p:nvSpPr>
        <p:spPr>
          <a:xfrm>
            <a:off x="650000" y="1150000"/>
            <a:ext cx="12050000" cy="4500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교재 기대: CPU 임계치 초과 -&gt; Watchdog/SIGTERM 종료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오늘 원본 앱 결과: WATCHDOG, SIGTERM, CPU Threshold Violated 로그 미관찰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확인된 사실: CPU_MAX_OCCUPY는 cooldown 임계치로 반영됨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평가 답변: CPU Spike와 환경변수 영향은 확인, 종료 재현은 실패로 정직하게 보고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도구: ps -C, top -bn1 -p, ps -L -p</a:t>
            </a:r>
          </a:p>
        </p:txBody>
      </p:sp>
      <p:sp>
        <p:nvSpPr>
          <p:cNvPr id="908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Case 3 - Deadlock 관찰 결과</a:t>
            </a:r>
          </a:p>
        </p:txBody>
      </p:sp>
      <p:sp>
        <p:nvSpPr>
          <p:cNvPr id="23" name="Bullets"/>
          <p:cNvSpPr txBox="1"/>
          <p:nvPr/>
        </p:nvSpPr>
        <p:spPr>
          <a:xfrm>
            <a:off x="650000" y="1150000"/>
            <a:ext cx="5900000" cy="2800000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Before: MULTI_THREAD_ENABLE=true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POTENTIAL DEADLOCK 경고 출력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하지만 실제 작업 프로세스 Threads=1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WAITING/BLOCKED/lock 로그 없음</a:t>
            </a:r>
          </a:p>
        </p:txBody>
      </p:sp>
      <p:sp>
        <p:nvSpPr>
          <p:cNvPr id="24" name="Evidence"/>
          <p:cNvSpPr txBox="1"/>
          <p:nvPr/>
        </p:nvSpPr>
        <p:spPr>
          <a:xfrm>
            <a:off x="6850000" y="1150000"/>
            <a:ext cx="5850000" cy="330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lIns="127000" tIns="91440" rIns="127000" bIns="91440"/>
          <a:lstStyle/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SYSTEM WARNING: POTENTIAL DEADLOCK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Current Load: 5.00%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Current Load: 10.27%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Current Load: 21.62%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/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/proc status: Threads: 1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ps -L: one TID only</a:t>
            </a:r>
          </a:p>
        </p:txBody>
      </p:sp>
      <p:sp>
        <p:nvSpPr>
          <p:cNvPr id="909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Deadlock 판단 기준</a:t>
            </a:r>
          </a:p>
        </p:txBody>
      </p:sp>
      <p:sp>
        <p:nvSpPr>
          <p:cNvPr id="25" name="Bullets"/>
          <p:cNvSpPr txBox="1"/>
          <p:nvPr/>
        </p:nvSpPr>
        <p:spPr>
          <a:xfrm>
            <a:off x="650000" y="1150000"/>
            <a:ext cx="12050000" cy="4500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Deadlock은 PID 생존만으로 판단하지 않음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필요 증거: 여러 스레드, 로그 정지, WAITING/BLOCKED, lock 순환 대기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오늘 결과: PID는 있었지만 로그 진행, Threads=1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따라서 원본 앱 기준 Deadlock 미재현으로 판단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평가 답변: 경고 문구와 실제 OS 관측값을 분리해서 설명</a:t>
            </a:r>
          </a:p>
        </p:txBody>
      </p:sp>
      <p:sp>
        <p:nvSpPr>
          <p:cNvPr id="910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진단 도구와 판단 흐름</a:t>
            </a:r>
          </a:p>
        </p:txBody>
      </p:sp>
      <p:sp>
        <p:nvSpPr>
          <p:cNvPr id="26" name="Evidence"/>
          <p:cNvSpPr txBox="1"/>
          <p:nvPr/>
        </p:nvSpPr>
        <p:spPr>
          <a:xfrm>
            <a:off x="700000" y="1150000"/>
            <a:ext cx="12000000" cy="170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lIns="127000" tIns="91440" rIns="127000" bIns="91440"/>
          <a:lstStyle/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monitor.sh: pgrep -x agent-leak-app; ps -p PID -o pid,ppid,user,%cpu,%mem,rss,stat,cmd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CPU: ps -C agent-leak-app; top -bn1 -p PID</a:t>
            </a:r>
          </a:p>
          <a:p>
            <a:pPr/>
            <a:r>
              <a:rPr lang="ko-KR" sz="1050" dirty="0">
                <a:solidFill>
                  <a:srgbClr val="E5E7EB"/>
                </a:solidFill>
                <a:latin typeface="Apple SD Gothic Neo"/>
                <a:ea typeface="Apple SD Gothic Neo"/>
              </a:rPr>
              <a:t>Thread: ps -L -p PID; top -H -bn1 -p PID; /proc/PID/status</a:t>
            </a:r>
          </a:p>
        </p:txBody>
      </p:sp>
      <p:sp>
        <p:nvSpPr>
          <p:cNvPr id="27" name="Bullets"/>
          <p:cNvSpPr txBox="1"/>
          <p:nvPr/>
        </p:nvSpPr>
        <p:spPr>
          <a:xfrm>
            <a:off x="700000" y="3180000"/>
            <a:ext cx="12000000" cy="2150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1. PID 존재 확인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2. CPU/RSS 변화 확인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3. 앱 로그 마지막 지점 확인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4. 스레드 수와 상태 확인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5. 환경변수 변경 전후 비교</a:t>
            </a:r>
          </a:p>
        </p:txBody>
      </p:sp>
      <p:sp>
        <p:nvSpPr>
          <p:cNvPr id="911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예상 질문 답변 1</a:t>
            </a:r>
          </a:p>
        </p:txBody>
      </p:sp>
      <p:sp>
        <p:nvSpPr>
          <p:cNvPr id="28" name="Bullets"/>
          <p:cNvSpPr txBox="1"/>
          <p:nvPr/>
        </p:nvSpPr>
        <p:spPr>
          <a:xfrm>
            <a:off x="650000" y="1150000"/>
            <a:ext cx="12050000" cy="4700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Q. monitor.sh는 무엇을 봤나? A. PID별 %CPU, %MEM, RSS, STAT, CMD를 2초마다 기록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Q. RSS란? A. 실제 물리 메모리에 올라온 프로세스 resident set 크기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Q. 앱 Heap과 RSS가 왜 다른가? A. 내부 카운터와 OS 실측값은 기준이 다름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Q. CPU 도구 선택 이유? A. ps는 스냅샷, top은 실시간/순간 부하, ps -L은 스레드</a:t>
            </a:r>
          </a:p>
        </p:txBody>
      </p:sp>
      <p:sp>
        <p:nvSpPr>
          <p:cNvPr id="912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예상 질문 답변 2</a:t>
            </a:r>
          </a:p>
        </p:txBody>
      </p:sp>
      <p:sp>
        <p:nvSpPr>
          <p:cNvPr id="29" name="Bullets"/>
          <p:cNvSpPr txBox="1"/>
          <p:nvPr/>
        </p:nvSpPr>
        <p:spPr>
          <a:xfrm>
            <a:off x="650000" y="1150000"/>
            <a:ext cx="12050000" cy="4700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Q. CPU Watchdog은 발동했나? A. 오늘 원본 앱에서는 발동 로그가 없었고 cooldown만 확인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Q. Deadlock은 발생했나? A. 아니다. Threads=1이라 순환 대기 증거가 없음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Q. 실제 서버라면 monitor.sh 개선은? A. RSS 증가율, 임계치 알림, PID 계층 추적, 로그 로테이션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Q. 가장 치명적인 장애는? A. Deadlock은 생존 체크를 통과할 수 있어 탐지가 까다로움</a:t>
            </a:r>
          </a:p>
        </p:txBody>
      </p:sp>
      <p:sp>
        <p:nvSpPr>
          <p:cNvPr id="913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520000" y="285000"/>
            <a:ext cx="12280000" cy="52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3000" dirty="0">
                <a:solidFill>
                  <a:srgbClr val="111827"/>
                </a:solidFill>
                <a:latin typeface="Apple SD Gothic Neo"/>
                <a:ea typeface="Apple SD Gothic Neo"/>
              </a:rPr>
              <a:t>마무리 멘트</a:t>
            </a:r>
          </a:p>
        </p:txBody>
      </p:sp>
      <p:sp>
        <p:nvSpPr>
          <p:cNvPr id="30" name="Bullets"/>
          <p:cNvSpPr txBox="1"/>
          <p:nvPr/>
        </p:nvSpPr>
        <p:spPr>
          <a:xfrm>
            <a:off x="900000" y="1350000"/>
            <a:ext cx="11450000" cy="3700000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D1D5DB"/>
            </a:solidFill>
          </a:ln>
        </p:spPr>
        <p:txBody>
          <a:bodyPr wrap="square" lIns="127000" tIns="91440" rIns="127000" bIns="91440"/>
          <a:lstStyle/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OOM은 MemoryGuard 자기 종료가 명확히 재현됨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CPU는 임계치에 따른 cooldown은 확인, Watchdog 종료는 미재현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Deadlock은 경고만 확인, 스레드/락 대기 증거가 없어 미재현</a:t>
            </a:r>
          </a:p>
          <a:p>
            <a:pPr marL="285750" indent="-171450">
              <a:buChar char="•"/>
            </a:pPr>
            <a:r>
              <a:rPr lang="ko-KR" sz="1420" dirty="0">
                <a:solidFill>
                  <a:srgbClr val="1F2937"/>
                </a:solidFill>
                <a:latin typeface="Apple SD Gothic Neo"/>
                <a:ea typeface="Apple SD Gothic Neo"/>
              </a:rPr>
              <a:t>핵심 역량: 로그와 OS 관제 데이터로 관찰 사실과 추론을 분리해 보고</a:t>
            </a:r>
          </a:p>
        </p:txBody>
      </p:sp>
      <p:sp>
        <p:nvSpPr>
          <p:cNvPr id="914" name="Footer"/>
          <p:cNvSpPr txBox="1"/>
          <p:nvPr/>
        </p:nvSpPr>
        <p:spPr>
          <a:xfrm>
            <a:off x="520000" y="7060000"/>
            <a:ext cx="12280000" cy="230000"/>
          </a:xfrm>
          <a:prstGeom prst="roundRect">
            <a:avLst/>
          </a:prstGeom>
          <a:noFill/>
          <a:ln>
            <a:noFill/>
          </a:ln>
        </p:spPr>
        <p:txBody>
          <a:bodyPr wrap="square" lIns="127000" tIns="91440" rIns="127000" bIns="91440"/>
          <a:lstStyle/>
          <a:p>
            <a:pPr/>
            <a:r>
              <a:rPr lang="ko-KR" sz="900" dirty="0">
                <a:solidFill>
                  <a:srgbClr val="6B7280"/>
                </a:solidFill>
                <a:latin typeface="Apple SD Gothic Neo"/>
                <a:ea typeface="Apple SD Gothic Neo"/>
              </a:rPr>
              <a:t>B1-2 평가 대비 | 원본 agent-leak-app-x86 실행 결과 |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