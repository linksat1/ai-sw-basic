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123462"/>
                </a:solidFill>
              </a:defRPr>
            </a:pPr>
            <a:r>
              <a:t>파일 기반 가계부 콘솔 프로그램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5C6673"/>
                </a:solidFill>
              </a:defRPr>
            </a:pPr>
            <a:r>
              <a:t>Python CLI 과제 실행 설명 | budget_app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500" b="1">
                <a:solidFill>
                  <a:srgbClr val="123462"/>
                </a:solidFill>
              </a:defRPr>
            </a:pPr>
            <a:r>
              <a:t>1. 과제 소개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Python 표준 라이브러리만으로 구현한 CLI 가계부 프로그램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수입/지출 내역을 파일로 저장하고 관리하는 과제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터미널 환경에서 직접 명령을 입력하여 동작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데이터 검증, 검색, 예산 관리, CSV 파일 처리 포함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500" b="1">
                <a:solidFill>
                  <a:srgbClr val="123462"/>
                </a:solidFill>
              </a:defRPr>
            </a:pPr>
            <a:r>
              <a:t>2. 주요 기능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869B6"/>
                </a:solidFill>
              </a:defRPr>
            </a:pPr>
            <a:r>
              <a:t>핵심 기능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거래 추가: add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거래 목록 조회: list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조건 검색: search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월별 요약: summary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예산 설정: budget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55448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869B6"/>
                </a:solidFill>
              </a:defRPr>
            </a:pPr>
            <a:r>
              <a:t>추가 기능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카테고리 관리: category add/list/remove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거래 수정: update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거래 삭제: delete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CSV 내보내기 / 가져오기: export / import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기본 카테고리 자동 생성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500" b="1">
                <a:solidFill>
                  <a:srgbClr val="123462"/>
                </a:solidFill>
              </a:defRPr>
            </a:pPr>
            <a:r>
              <a:t>3. 실행 방법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800"/>
              </a:spcAft>
              <a:defRPr sz="1800">
                <a:solidFill>
                  <a:srgbClr val="1869B6"/>
                </a:solidFill>
                <a:latin typeface="Consolas"/>
              </a:defRPr>
            </a:pPr>
            <a:r>
              <a:t>cd /Users/cspag5955/AI-SW-Basic/b2-1</a:t>
            </a:r>
          </a:p>
          <a:p>
            <a:pPr>
              <a:spcAft>
                <a:spcPts val="800"/>
              </a:spcAft>
              <a:defRPr sz="1800">
                <a:solidFill>
                  <a:srgbClr val="1869B6"/>
                </a:solidFill>
                <a:latin typeface="Consolas"/>
              </a:defRPr>
            </a:pPr>
            <a:r>
              <a:t>python3 -m budget_app --help</a:t>
            </a:r>
          </a:p>
          <a:p>
            <a:pPr>
              <a:spcAft>
                <a:spcPts val="800"/>
              </a:spcAft>
              <a:defRPr sz="1800">
                <a:solidFill>
                  <a:srgbClr val="1869B6"/>
                </a:solidFill>
                <a:latin typeface="Consolas"/>
              </a:defRPr>
            </a:pPr>
            <a:r>
              <a:t>python3 -m budget_app add</a:t>
            </a:r>
          </a:p>
          <a:p>
            <a:pPr>
              <a:spcAft>
                <a:spcPts val="800"/>
              </a:spcAft>
              <a:defRPr sz="1800">
                <a:solidFill>
                  <a:srgbClr val="1869B6"/>
                </a:solidFill>
                <a:latin typeface="Consolas"/>
              </a:defRPr>
            </a:pPr>
            <a:r>
              <a:t>python3 -m budget_app list --limit 10</a:t>
            </a:r>
          </a:p>
          <a:p>
            <a:pPr>
              <a:spcAft>
                <a:spcPts val="800"/>
              </a:spcAft>
              <a:defRPr sz="1800">
                <a:solidFill>
                  <a:srgbClr val="1869B6"/>
                </a:solidFill>
                <a:latin typeface="Consolas"/>
              </a:defRPr>
            </a:pPr>
            <a:r>
              <a:t>python3 -m budget_app summary --month 2026-09 --top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500" b="1">
                <a:solidFill>
                  <a:srgbClr val="123462"/>
                </a:solidFill>
              </a:defRPr>
            </a:pPr>
            <a:r>
              <a:t>3. 실행 방법 | 각 명령어의 의미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98448"/>
            <a:ext cx="108356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380744"/>
            <a:ext cx="3977639" cy="557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69B6"/>
                </a:solidFill>
                <a:latin typeface="Consolas"/>
              </a:defRPr>
            </a:pPr>
            <a:r>
              <a:t>cd .../b2-1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83480" y="1371600"/>
            <a:ext cx="6263640" cy="5760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22222"/>
                </a:solidFill>
              </a:defRPr>
            </a:pPr>
            <a:r>
              <a:t>프로젝트 폴더로 이동합니다. 이 위치에서 패키지를 실행합니다.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108356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39696"/>
            <a:ext cx="3977639" cy="557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69B6"/>
                </a:solidFill>
                <a:latin typeface="Consolas"/>
              </a:defRPr>
            </a:pPr>
            <a:r>
              <a:t>python3 -m budget_app --help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2130552"/>
            <a:ext cx="6263640" cy="5760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22222"/>
                </a:solidFill>
              </a:defRPr>
            </a:pPr>
            <a:r>
              <a:t>budget_app을 모듈로 실행하고 전체 명령 도움말을 표시합니다.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816352"/>
            <a:ext cx="108356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898648"/>
            <a:ext cx="3977639" cy="557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69B6"/>
                </a:solidFill>
                <a:latin typeface="Consolas"/>
              </a:defRPr>
            </a:pPr>
            <a:r>
              <a:t>python3 -m budget_app add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2889504"/>
            <a:ext cx="6263640" cy="5760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22222"/>
                </a:solidFill>
              </a:defRPr>
            </a:pPr>
            <a:r>
              <a:t>새 거래를 추가합니다. 날짜·종류·금액 등을 대화형으로 입력합니다.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575304"/>
            <a:ext cx="108356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657600"/>
            <a:ext cx="3977639" cy="557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69B6"/>
                </a:solidFill>
                <a:latin typeface="Consolas"/>
              </a:defRPr>
            </a:pPr>
            <a:r>
              <a:t>... list --limit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3648456"/>
            <a:ext cx="6263640" cy="5760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22222"/>
                </a:solidFill>
              </a:defRPr>
            </a:pPr>
            <a:r>
              <a:t>거래 목록을 조회하고 표시 건수를 최대 10건으로 제한합니다.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334256"/>
            <a:ext cx="108356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416552"/>
            <a:ext cx="3977639" cy="557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69B6"/>
                </a:solidFill>
                <a:latin typeface="Consolas"/>
              </a:defRPr>
            </a:pPr>
            <a:r>
              <a:t>... summary --month 2026-09 --top 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4407408"/>
            <a:ext cx="6263640" cy="5760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22222"/>
                </a:solidFill>
              </a:defRPr>
            </a:pPr>
            <a:r>
              <a:t>2026년 9월을 요약하고 지출 상위 항목 3개를 표시합니다.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500" b="1">
                <a:solidFill>
                  <a:srgbClr val="123462"/>
                </a:solidFill>
              </a:defRPr>
            </a:pPr>
            <a:r>
              <a:t>3. 실행 방법 | __main__.py 한 줄씩 읽기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298448"/>
            <a:ext cx="10789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1869B6"/>
                </a:solidFill>
                <a:latin typeface="Consolas"/>
              </a:defRPr>
            </a:pPr>
            <a:r>
              <a:t>실제 코드: __main__.py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737360"/>
            <a:ext cx="108356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96112" y="1819656"/>
            <a:ext cx="3977639" cy="557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69B6"/>
                </a:solidFill>
                <a:latin typeface="Consolas"/>
              </a:defRPr>
            </a:pPr>
            <a:r>
              <a:t>"""... 진입점."""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83480" y="1810512"/>
            <a:ext cx="6263640" cy="5760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22222"/>
                </a:solidFill>
              </a:defRPr>
            </a:pPr>
            <a:r>
              <a:t>파일의 역할을 설명하는 문서 문자열입니다. python -m 실행의 진입점임을 알립니다.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2496312"/>
            <a:ext cx="108356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2578608"/>
            <a:ext cx="3977639" cy="557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69B6"/>
                </a:solidFill>
                <a:latin typeface="Consolas"/>
              </a:defRPr>
            </a:pPr>
            <a:r>
              <a:t>import sys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83480" y="2569464"/>
            <a:ext cx="6263640" cy="5760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22222"/>
                </a:solidFill>
              </a:defRPr>
            </a:pPr>
            <a:r>
              <a:t>파이썬 시스템 기능을 가져옵니다. 여기서는 종료 코드 전달에 사용합니다.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3255264"/>
            <a:ext cx="108356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3337560"/>
            <a:ext cx="3977639" cy="557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69B6"/>
                </a:solidFill>
                <a:latin typeface="Consolas"/>
              </a:defRPr>
            </a:pPr>
            <a:r>
              <a:t>from budget_app.cli import main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3328416"/>
            <a:ext cx="6263640" cy="5760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22222"/>
                </a:solidFill>
              </a:defRPr>
            </a:pPr>
            <a:r>
              <a:t>CLI 모듈에서 명령을 처리하는 main 함수를 가져옵니다.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4014215"/>
            <a:ext cx="108356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4096511"/>
            <a:ext cx="3977639" cy="557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69B6"/>
                </a:solidFill>
                <a:latin typeface="Consolas"/>
              </a:defRPr>
            </a:pPr>
            <a:r>
              <a:t>if __name__ == "__main__":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83480" y="4087368"/>
            <a:ext cx="6263640" cy="5760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22222"/>
                </a:solidFill>
              </a:defRPr>
            </a:pPr>
            <a:r>
              <a:t>이 파일이 직접 실행될 때만 아래 코드를 실행합니다.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773168"/>
            <a:ext cx="108356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855464"/>
            <a:ext cx="3977639" cy="557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69B6"/>
                </a:solidFill>
                <a:latin typeface="Consolas"/>
              </a:defRPr>
            </a:pPr>
            <a:r>
              <a:t>sys.exit(main())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83480" y="4846320"/>
            <a:ext cx="6263640" cy="5760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22222"/>
                </a:solidFill>
              </a:defRPr>
            </a:pPr>
            <a:r>
              <a:t>main()을 실행하고 반환된 결과를 프로세스 종료 코드로 돌려줍니다.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500" b="1">
                <a:solidFill>
                  <a:srgbClr val="123462"/>
                </a:solidFill>
              </a:defRPr>
            </a:pPr>
            <a:r>
              <a:t>3. 실행 방법 | 5줄이 기능을 수행하는 방식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85800" y="1298448"/>
            <a:ext cx="108356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96112" y="1380744"/>
            <a:ext cx="3977639" cy="557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69B6"/>
                </a:solidFill>
                <a:latin typeface="Consolas"/>
              </a:defRPr>
            </a:pPr>
            <a:r>
              <a:t>터미널 명령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83480" y="1371600"/>
            <a:ext cx="6263640" cy="5760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22222"/>
                </a:solidFill>
              </a:defRPr>
            </a:pPr>
            <a:r>
              <a:t>python3 -m budget_app add처럼 실행하면 Python이 budget_app/__main__.py를 시작합니다.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2057400"/>
            <a:ext cx="108356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139696"/>
            <a:ext cx="3977639" cy="557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69B6"/>
                </a:solidFill>
                <a:latin typeface="Consolas"/>
              </a:defRPr>
            </a:pPr>
            <a:r>
              <a:t>__main__.py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83480" y="2130552"/>
            <a:ext cx="6263640" cy="5760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22222"/>
                </a:solidFill>
              </a:defRPr>
            </a:pPr>
            <a:r>
              <a:t>시작 파일은 cli.main()을 호출해 명령 처리에 넘깁니다. 직접 저장 로직을 담지는 않습니다.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816352"/>
            <a:ext cx="108356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898648"/>
            <a:ext cx="3977639" cy="557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69B6"/>
                </a:solidFill>
                <a:latin typeface="Consolas"/>
              </a:defRPr>
            </a:pPr>
            <a:r>
              <a:t>cli.py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2889504"/>
            <a:ext cx="6263640" cy="5760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22222"/>
                </a:solidFill>
              </a:defRPr>
            </a:pPr>
            <a:r>
              <a:t>명령과 옵션을 해석하고, 필요한 입력을 받아 사용자에게 결과를 출력합니다.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3575304"/>
            <a:ext cx="108356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657600"/>
            <a:ext cx="3977639" cy="557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69B6"/>
                </a:solidFill>
                <a:latin typeface="Consolas"/>
              </a:defRPr>
            </a:pPr>
            <a:r>
              <a:t>service.py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83480" y="3648456"/>
            <a:ext cx="6263640" cy="5760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22222"/>
                </a:solidFill>
              </a:defRPr>
            </a:pPr>
            <a:r>
              <a:t>입력값을 검증하고 거래 추가·수정·요약 같은 가계부 규칙을 처리합니다.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4334256"/>
            <a:ext cx="1083564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DA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4416552"/>
            <a:ext cx="3977639" cy="55778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869B6"/>
                </a:solidFill>
                <a:latin typeface="Consolas"/>
              </a:defRPr>
            </a:pPr>
            <a:r>
              <a:t>repository.py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83480" y="4407408"/>
            <a:ext cx="6263640" cy="57607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222222"/>
                </a:solidFill>
              </a:defRPr>
            </a:pPr>
            <a:r>
              <a:t>서비스의 요청에 따라 JSONL 파일에서 데이터를 읽고 저장합니다.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500" b="1">
                <a:solidFill>
                  <a:srgbClr val="123462"/>
                </a:solidFill>
              </a:defRPr>
            </a:pPr>
            <a:r>
              <a:t>4. 입력 흐름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869B6"/>
                </a:solidFill>
              </a:defRPr>
            </a:pPr>
            <a:r>
              <a:t>대화형 입력 예시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날짜(YYYY-MM-DD)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타입(income/expense)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카테고리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금액(양수)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메모(선택)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태그(선택)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554480"/>
            <a:ext cx="52120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800">
                <a:solidFill>
                  <a:srgbClr val="1869B6"/>
                </a:solidFill>
              </a:defRPr>
            </a:pPr>
            <a:r>
              <a:t>예시 입력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2026-09-26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expense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food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15000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점심 식사</a:t>
            </a:r>
          </a:p>
          <a:p>
            <a:pPr>
              <a:spcAft>
                <a:spcPts val="800"/>
              </a:spcAft>
              <a:defRPr sz="1700">
                <a:solidFill>
                  <a:srgbClr val="222222"/>
                </a:solidFill>
              </a:defRPr>
            </a:pPr>
            <a:r>
              <a:t>meal, workday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500" b="1">
                <a:solidFill>
                  <a:srgbClr val="123462"/>
                </a:solidFill>
              </a:defRPr>
            </a:pPr>
            <a:r>
              <a:t>5. 데이터 저장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transactions.jsonl: 거래 내역 저장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categories.jsonl: 카테고리 목록 저장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budgets.jsonl: 월별 예산 저장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JSONL 형식: 한 줄에 JSON 객체 하나씩 기록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기본 카테고리: food, transport, rent, salary, etc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500" b="1">
                <a:solidFill>
                  <a:srgbClr val="123462"/>
                </a:solidFill>
              </a:defRPr>
            </a:pPr>
            <a:r>
              <a:t>6. 코드 구조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__main__.py: 프로그램 진입점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cli.py: argparse 인자 처리 및 대화형 입력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service.py: 검증, 비즈니스 로직, 월별 요약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repository.py: 파일 I/O 및 JSONL 읽기/쓰기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models.py: Transaction 데이터 모델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decorators.py / errors.py: 로그, 예외 처리, 공통 관심사 분리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500" b="1">
                <a:solidFill>
                  <a:srgbClr val="123462"/>
                </a:solidFill>
              </a:defRPr>
            </a:pPr>
            <a:r>
              <a:t>7. 안정성과 핵심 포인트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CLI 기반 프로그램으로 사용자가 터미널에서 쉽게 관리 가능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파일 기반 저장으로 프로그램 재시작 후에도 데이터 유지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입력값 검증으로 잘못된 데이터 방지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원자적 쓰기와 예외 처리를 통해 안정성 확보</a:t>
            </a:r>
          </a:p>
          <a:p>
            <a:pPr>
              <a:spcAft>
                <a:spcPts val="1000"/>
              </a:spcAft>
              <a:defRPr sz="2000">
                <a:solidFill>
                  <a:srgbClr val="222222"/>
                </a:solidFill>
              </a:defRPr>
            </a:pPr>
            <a:r>
              <a:t>실무형 설계: 계층 분리와 유지보수성 고려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500" b="1">
                <a:solidFill>
                  <a:srgbClr val="123462"/>
                </a:solidFill>
              </a:defRPr>
            </a:pPr>
            <a:r>
              <a:t>8. 원자적 쓰기란?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5074920" cy="2057400"/>
          </a:xfrm>
          <a:prstGeom prst="roundRect">
            <a:avLst/>
          </a:prstGeom>
          <a:solidFill>
            <a:srgbClr val="FFFFFF"/>
          </a:solidFill>
          <a:ln>
            <a:solidFill>
              <a:srgbClr val="186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2103120"/>
            <a:ext cx="45720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869B6"/>
                </a:solidFill>
              </a:defRPr>
            </a:pPr>
            <a:r>
              <a:t>1  임시 파일에 완성본 작성</a:t>
            </a:r>
          </a:p>
          <a:p>
            <a:pPr>
              <a:spcBef>
                <a:spcPts val="1200"/>
              </a:spcBef>
              <a:defRPr sz="1600">
                <a:solidFill>
                  <a:srgbClr val="222222"/>
                </a:solidFill>
              </a:defRPr>
            </a:pPr>
            <a:r>
              <a:t>기존 파일은 그대로 둔 채</a:t>
            </a:r>
            <a:br/>
            <a:r>
              <a:t>새 내용을 임시 파일에 모두 기록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828800"/>
            <a:ext cx="5074920" cy="2057400"/>
          </a:xfrm>
          <a:prstGeom prst="roundRect">
            <a:avLst/>
          </a:prstGeom>
          <a:solidFill>
            <a:srgbClr val="ECFDF5"/>
          </a:solidFill>
          <a:ln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0" y="2103120"/>
            <a:ext cx="457200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900">
                <a:solidFill>
                  <a:srgbClr val="16A34A"/>
                </a:solidFill>
              </a:defRPr>
            </a:pPr>
            <a:r>
              <a:t>2  파일 교체</a:t>
            </a:r>
          </a:p>
          <a:p>
            <a:pPr>
              <a:spcBef>
                <a:spcPts val="1200"/>
              </a:spcBef>
              <a:defRPr sz="1600">
                <a:solidFill>
                  <a:srgbClr val="222222"/>
                </a:solidFill>
              </a:defRPr>
            </a:pPr>
            <a:r>
              <a:t>기록이 끝나면 os.replace로</a:t>
            </a:r>
            <a:br/>
            <a:r>
              <a:t>새 파일을 한 번에 교체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50992" y="2587752"/>
            <a:ext cx="594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5C6673"/>
                </a:solidFill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25880" y="4434840"/>
            <a:ext cx="955548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AE5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4645152"/>
            <a:ext cx="9052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222222"/>
                </a:solidFill>
              </a:defRPr>
            </a:pPr>
            <a:r>
              <a:t>중간에 프로그램이 종료되어도 원본이 반쯤 기록된 상태로 남는 일을 막습니다.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0" y="6473952"/>
            <a:ext cx="73152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C6673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6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2800" b="1">
                <a:solidFill>
                  <a:srgbClr val="123462"/>
                </a:solidFill>
              </a:defRPr>
            </a:pPr>
            <a:r>
              <a:t>마무리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5C6673"/>
                </a:solidFill>
              </a:defRPr>
            </a:pPr>
            <a:r>
              <a:t>이 과제는 파일 저장, CLI 설계, 데이터 검증, 예산 관리까지 포함한 실전형 Python 프로그램 구현 경험을 다룹니다.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