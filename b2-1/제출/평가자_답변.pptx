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1234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50000" y="1900000"/>
            <a:ext cx="10600000" cy="9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3400" b="1">
                <a:solidFill>
                  <a:srgbClr val="FFFFFF"/>
                </a:solidFill>
                <a:latin typeface="Aptos"/>
                <a:ea typeface="Noto Sans CJK KR"/>
              </a:defRPr>
            </a:pPr>
            <a:r>
              <a:rPr lang="ko-KR" sz="3400" b="1">
                <a:solidFill>
                  <a:srgbClr val="FFFFFF"/>
                </a:solidFill>
                <a:latin typeface="Aptos"/>
                <a:ea typeface="Noto Sans CJK KR"/>
              </a:rPr>
              <a:t>B2-1 가계부 콘솔 프로그램</a:t>
            </a:r>
            <a:endParaRPr lang="ko-KR" sz="3400"/>
          </a:p>
        </p:txBody>
      </p:sp>
      <p:sp>
        <p:nvSpPr>
          <p:cNvPr id="3" name="Subtitle"/>
          <p:cNvSpPr txBox="1"/>
          <p:nvPr/>
        </p:nvSpPr>
        <p:spPr>
          <a:xfrm>
            <a:off x="900000" y="3000000"/>
            <a:ext cx="10500000" cy="6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900" b="0">
                <a:solidFill>
                  <a:srgbClr val="CDE0F7"/>
                </a:solidFill>
                <a:latin typeface="Aptos"/>
                <a:ea typeface="Noto Sans CJK KR"/>
              </a:defRPr>
            </a:pPr>
            <a:r>
              <a:rPr lang="ko-KR" sz="1900" b="0">
                <a:solidFill>
                  <a:srgbClr val="CDE0F7"/>
                </a:solidFill>
                <a:latin typeface="Aptos"/>
                <a:ea typeface="Noto Sans CJK KR"/>
              </a:rPr>
              <a:t>평가자 항목별 답변 · 코드 위치 · 실제 인용</a:t>
            </a:r>
            <a:endParaRPr lang="ko-KR" sz="1900"/>
          </a:p>
        </p:txBody>
      </p:sp>
      <p:sp>
        <p:nvSpPr>
          <p:cNvPr id="4" name="Tagline"/>
          <p:cNvSpPr txBox="1"/>
          <p:nvPr/>
        </p:nvSpPr>
        <p:spPr>
          <a:xfrm>
            <a:off x="900000" y="4300000"/>
            <a:ext cx="10500000" cy="7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500" b="0">
                <a:solidFill>
                  <a:srgbClr val="FFFFFF"/>
                </a:solidFill>
                <a:latin typeface="Aptos"/>
                <a:ea typeface="Noto Sans CJK KR"/>
              </a:defRPr>
            </a:pPr>
            <a:r>
              <a:rPr lang="ko-KR" sz="1500" b="0">
                <a:solidFill>
                  <a:srgbClr val="FFFFFF"/>
                </a:solidFill>
                <a:latin typeface="Aptos"/>
                <a:ea typeface="Noto Sans CJK KR"/>
              </a:rPr>
              <a:t>항목 1–4 · 구현 근거 · 인용 코드 · 개선 답변</a:t>
            </a:r>
            <a:endParaRPr lang="ko-KR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2500" b="1">
                <a:solidFill>
                  <a:srgbClr val="123462"/>
                </a:solidFill>
                <a:latin typeface="Aptos"/>
                <a:ea typeface="Noto Sans CJK KR"/>
              </a:defRPr>
            </a:pPr>
            <a:r>
              <a:rPr lang="ko-KR" sz="2500" b="1">
                <a:solidFill>
                  <a:srgbClr val="123462"/>
                </a:solidFill>
                <a:latin typeface="Aptos"/>
                <a:ea typeface="Noto Sans CJK KR"/>
              </a:rPr>
              <a:t>항목 1 | 기능과 데이터 영속성</a:t>
            </a:r>
            <a:endParaRPr lang="ko-KR" sz="2500"/>
          </a:p>
        </p:txBody>
      </p:sp>
      <p:sp>
        <p:nvSpPr>
          <p:cNvPr id="3" name="Subtitle"/>
          <p:cNvSpPr txBox="1"/>
          <p:nvPr/>
        </p:nvSpPr>
        <p:spPr>
          <a:xfrm>
            <a:off x="680000" y="850000"/>
            <a:ext cx="110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20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1200" b="0">
                <a:solidFill>
                  <a:srgbClr val="5C6673"/>
                </a:solidFill>
                <a:latin typeface="Aptos"/>
                <a:ea typeface="Noto Sans CJK KR"/>
              </a:rPr>
              <a:t>PASS 근거: 구현 코드와 제출 실행 기록을 함께 확인</a:t>
            </a:r>
            <a:endParaRPr lang="ko-KR" sz="1200"/>
          </a:p>
        </p:txBody>
      </p:sp>
      <p:sp>
        <p:nvSpPr>
          <p:cNvPr id="4" name="Content"/>
          <p:cNvSpPr txBox="1"/>
          <p:nvPr/>
        </p:nvSpPr>
        <p:spPr>
          <a:xfrm>
            <a:off x="720000" y="1350000"/>
            <a:ext cx="11000000" cy="50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명령 기능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add/list/search/summary/export/import/update/delete 및 budget/category 명령 구현. 각 CLI 핸들러: budget_app/cli.py:43–211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3종 데이터 저장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transactions.jsonl, categories.jsonl, budgets.jsonl을 저장소별로 관리. 경로 구성: cli.py:16–21. JSONL 쓰기: repository.py:40–43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카테고리 보호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사용 중인 카테고리는 삭제 거부: service.py:88–96. 실행 근거: 제출/results/09_category_remove_blocked.txt:10–13 (종료 코드 1)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예산 반영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저장: service.py:218–222. 요약 계산: service.py:224–258. 실제 사용률 185%·초과 경고: 제출/02_실행결과.md:75–90</a:t>
            </a:r>
            <a:endParaRPr lang="ko-KR" sz="1420"/>
          </a:p>
        </p:txBody>
      </p:sp>
      <p:sp>
        <p:nvSpPr>
          <p:cNvPr id="5" name="Footer"/>
          <p:cNvSpPr txBox="1"/>
          <p:nvPr/>
        </p:nvSpPr>
        <p:spPr>
          <a:xfrm>
            <a:off x="720000" y="6500000"/>
            <a:ext cx="10500000" cy="25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85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850" b="0">
                <a:solidFill>
                  <a:srgbClr val="5C6673"/>
                </a:solidFill>
                <a:latin typeface="Aptos"/>
                <a:ea typeface="Noto Sans CJK KR"/>
              </a:rPr>
              <a:t>코드 인용 형식: 파일 경로:행 번호  |  평가자 답변 자료</a:t>
            </a:r>
            <a:endParaRPr lang="ko-KR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2500" b="1">
                <a:solidFill>
                  <a:srgbClr val="123462"/>
                </a:solidFill>
                <a:latin typeface="Aptos"/>
                <a:ea typeface="Noto Sans CJK KR"/>
              </a:defRPr>
            </a:pPr>
            <a:r>
              <a:rPr lang="ko-KR" sz="2500" b="1">
                <a:solidFill>
                  <a:srgbClr val="123462"/>
                </a:solidFill>
                <a:latin typeface="Aptos"/>
                <a:ea typeface="Noto Sans CJK KR"/>
              </a:rPr>
              <a:t>항목 1 | CSV · 오류 메시지 · 종료 코드</a:t>
            </a:r>
            <a:endParaRPr lang="ko-KR" sz="2500"/>
          </a:p>
        </p:txBody>
      </p:sp>
      <p:sp>
        <p:nvSpPr>
          <p:cNvPr id="3" name="Subtitle"/>
          <p:cNvSpPr txBox="1"/>
          <p:nvPr/>
        </p:nvSpPr>
        <p:spPr>
          <a:xfrm>
            <a:off x="680000" y="850000"/>
            <a:ext cx="110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20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1200" b="0">
                <a:solidFill>
                  <a:srgbClr val="5C6673"/>
                </a:solidFill>
                <a:latin typeface="Aptos"/>
                <a:ea typeface="Noto Sans CJK KR"/>
              </a:rPr>
              <a:t>구현의 CSV 스키마와 실패 동작</a:t>
            </a:r>
            <a:endParaRPr lang="ko-KR" sz="1200"/>
          </a:p>
        </p:txBody>
      </p:sp>
      <p:sp>
        <p:nvSpPr>
          <p:cNvPr id="4" name="Content"/>
          <p:cNvSpPr txBox="1"/>
          <p:nvPr/>
        </p:nvSpPr>
        <p:spPr>
          <a:xfrm>
            <a:off x="720000" y="1350000"/>
            <a:ext cx="11000000" cy="50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CSV 스키마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필드: date,type,category,amount,memo,tags (service.py:18). UTF-8 + DictReader: service.py:268–279. UTF-8 + 헤더 + writerow: service.py:307–322. 문서: budget_app/00_README.md:97–110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오류 표시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AppError는 오류 원인과 힌트를 stderr로 쓰고 1 반환: decorators.py:26–34. 진입점은 sys.exit(main())으로 OS 종료 코드에 반영: __main__.py:6–7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실행으로 확인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없는 ID update 실패 종료 코드 1: 제출/results/10_update_not_found.txt:7–10. export 조건 오류 코드 1: 제출/results/11_export_missing_condition.txt:7–10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실행 자료의 범위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파일 내 예시와 코드로 동작을 확인할 수 있습니다. 재실행 후 지속 여부는 JSONL 파일을 읽고 쓰는 구조로 설명할 수 있습니다.</a:t>
            </a:r>
            <a:endParaRPr lang="ko-KR" sz="1420"/>
          </a:p>
        </p:txBody>
      </p:sp>
      <p:sp>
        <p:nvSpPr>
          <p:cNvPr id="5" name="Footer"/>
          <p:cNvSpPr txBox="1"/>
          <p:nvPr/>
        </p:nvSpPr>
        <p:spPr>
          <a:xfrm>
            <a:off x="720000" y="6500000"/>
            <a:ext cx="10500000" cy="25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85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850" b="0">
                <a:solidFill>
                  <a:srgbClr val="5C6673"/>
                </a:solidFill>
                <a:latin typeface="Aptos"/>
                <a:ea typeface="Noto Sans CJK KR"/>
              </a:rPr>
              <a:t>코드 인용 형식: 파일 경로:행 번호  |  평가자 답변 자료</a:t>
            </a:r>
            <a:endParaRPr lang="ko-KR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2500" b="1">
                <a:solidFill>
                  <a:srgbClr val="123462"/>
                </a:solidFill>
                <a:latin typeface="Aptos"/>
                <a:ea typeface="Noto Sans CJK KR"/>
              </a:defRPr>
            </a:pPr>
            <a:r>
              <a:rPr lang="ko-KR" sz="2500" b="1">
                <a:solidFill>
                  <a:srgbClr val="123462"/>
                </a:solidFill>
                <a:latin typeface="Aptos"/>
                <a:ea typeface="Noto Sans CJK KR"/>
              </a:rPr>
              <a:t>항목 2 | 모듈과 클래스 책임 경계</a:t>
            </a:r>
            <a:endParaRPr lang="ko-KR" sz="2500"/>
          </a:p>
        </p:txBody>
      </p:sp>
      <p:sp>
        <p:nvSpPr>
          <p:cNvPr id="3" name="Subtitle"/>
          <p:cNvSpPr txBox="1"/>
          <p:nvPr/>
        </p:nvSpPr>
        <p:spPr>
          <a:xfrm>
            <a:off x="680000" y="850000"/>
            <a:ext cx="110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20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1200" b="0">
                <a:solidFill>
                  <a:srgbClr val="5C6673"/>
                </a:solidFill>
                <a:latin typeface="Aptos"/>
                <a:ea typeface="Noto Sans CJK KR"/>
              </a:rPr>
              <a:t>각 모듈은 변경 이유가 다른 책임을 맡음</a:t>
            </a:r>
            <a:endParaRPr lang="ko-KR" sz="1200"/>
          </a:p>
        </p:txBody>
      </p:sp>
      <p:sp>
        <p:nvSpPr>
          <p:cNvPr id="4" name="Content"/>
          <p:cNvSpPr txBox="1"/>
          <p:nvPr/>
        </p:nvSpPr>
        <p:spPr>
          <a:xfrm>
            <a:off x="720000" y="1350000"/>
            <a:ext cx="11000000" cy="50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모듈 분리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CLI 입력/출력: cli.py:1–4. 업무 규칙/검증: service.py:1–5. JSONL 읽기·쓰기: repository.py:1–5. 거래 필드: models.py:9–19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클래스 경계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Transaction은 거래 1건의 데이터 표현: models.py:9–19. TransactionRepository는 거래 파일 저장·검색: repository.py:46–55. BudgetService는 거래·카테고리·예산 규칙을 조율: service.py:68–78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왜 이 경계인가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화면 출력 변경은 CLI, 규칙 변경은 Service, 저장 형식 변경은 Repository, 데이터 필드 변경은 Model 중심으로 수정할 수 있어 변경 영향이 줄어듭니다.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코드 인용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“실제 검증/저장 로직은 service.py / repository.py에 위임한다.” — cli.py:1–4</a:t>
            </a:r>
            <a:endParaRPr lang="ko-KR" sz="1420"/>
          </a:p>
        </p:txBody>
      </p:sp>
      <p:sp>
        <p:nvSpPr>
          <p:cNvPr id="5" name="Footer"/>
          <p:cNvSpPr txBox="1"/>
          <p:nvPr/>
        </p:nvSpPr>
        <p:spPr>
          <a:xfrm>
            <a:off x="720000" y="6500000"/>
            <a:ext cx="10500000" cy="25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85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850" b="0">
                <a:solidFill>
                  <a:srgbClr val="5C6673"/>
                </a:solidFill>
                <a:latin typeface="Aptos"/>
                <a:ea typeface="Noto Sans CJK KR"/>
              </a:rPr>
              <a:t>코드 인용 형식: 파일 경로:행 번호  |  평가자 답변 자료</a:t>
            </a:r>
            <a:endParaRPr lang="ko-KR" sz="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2500" b="1">
                <a:solidFill>
                  <a:srgbClr val="123462"/>
                </a:solidFill>
                <a:latin typeface="Aptos"/>
                <a:ea typeface="Noto Sans CJK KR"/>
              </a:defRPr>
            </a:pPr>
            <a:r>
              <a:rPr lang="ko-KR" sz="2500" b="1">
                <a:solidFill>
                  <a:srgbClr val="123462"/>
                </a:solidFill>
                <a:latin typeface="Aptos"/>
                <a:ea typeface="Noto Sans CJK KR"/>
              </a:rPr>
              <a:t>항목 2 | update/delete 안전성</a:t>
            </a:r>
            <a:endParaRPr lang="ko-KR" sz="2500"/>
          </a:p>
        </p:txBody>
      </p:sp>
      <p:sp>
        <p:nvSpPr>
          <p:cNvPr id="3" name="Subtitle"/>
          <p:cNvSpPr txBox="1"/>
          <p:nvPr/>
        </p:nvSpPr>
        <p:spPr>
          <a:xfrm>
            <a:off x="680000" y="850000"/>
            <a:ext cx="110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20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1200" b="0">
                <a:solidFill>
                  <a:srgbClr val="5C6673"/>
                </a:solidFill>
                <a:latin typeface="Aptos"/>
                <a:ea typeface="Noto Sans CJK KR"/>
              </a:rPr>
              <a:t>임시 파일 작성 후 원자적으로 교체</a:t>
            </a:r>
            <a:endParaRPr lang="ko-KR" sz="1200"/>
          </a:p>
        </p:txBody>
      </p:sp>
      <p:sp>
        <p:nvSpPr>
          <p:cNvPr id="4" name="Content"/>
          <p:cNvSpPr txBox="1"/>
          <p:nvPr/>
        </p:nvSpPr>
        <p:spPr>
          <a:xfrm>
            <a:off x="720000" y="1350000"/>
            <a:ext cx="11000000" cy="50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처리 순서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update/delete가 기존 거래를 읽어 변경된 행을 모은 뒤 _atomic_write_jsonl을 호출: repository.py:94–116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핵심 코드 인용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“임시 파일에 먼저 쓰고 os.replace로 교체” — repository.py:30–37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왜 안전한가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새 파일 기록이 완료된 다음 교체하므로 기록 도중 실패했을 때 원본 파일을 부분 기록 상태로 덮어쓸 가능성을 줄입니다.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정확한 표현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원자적 교체는 파일 교체 단계를 단일 전환처럼 처리한다는 뜻입니다. 모든 저장장치 장애에서 무조건 안전하다는 뜻은 아닙니다.</a:t>
            </a:r>
            <a:endParaRPr lang="ko-KR" sz="1420"/>
          </a:p>
        </p:txBody>
      </p:sp>
      <p:sp>
        <p:nvSpPr>
          <p:cNvPr id="5" name="Footer"/>
          <p:cNvSpPr txBox="1"/>
          <p:nvPr/>
        </p:nvSpPr>
        <p:spPr>
          <a:xfrm>
            <a:off x="720000" y="6500000"/>
            <a:ext cx="10500000" cy="25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85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850" b="0">
                <a:solidFill>
                  <a:srgbClr val="5C6673"/>
                </a:solidFill>
                <a:latin typeface="Aptos"/>
                <a:ea typeface="Noto Sans CJK KR"/>
              </a:rPr>
              <a:t>코드 인용 형식: 파일 경로:행 번호  |  평가자 답변 자료</a:t>
            </a:r>
            <a:endParaRPr lang="ko-KR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2500" b="1">
                <a:solidFill>
                  <a:srgbClr val="123462"/>
                </a:solidFill>
                <a:latin typeface="Aptos"/>
                <a:ea typeface="Noto Sans CJK KR"/>
              </a:defRPr>
            </a:pPr>
            <a:r>
              <a:rPr lang="ko-KR" sz="2500" b="1">
                <a:solidFill>
                  <a:srgbClr val="123462"/>
                </a:solidFill>
                <a:latin typeface="Aptos"/>
                <a:ea typeface="Noto Sans CJK KR"/>
              </a:rPr>
              <a:t>항목 3 | 제너레이터와 공통 기능</a:t>
            </a:r>
            <a:endParaRPr lang="ko-KR" sz="2500"/>
          </a:p>
        </p:txBody>
      </p:sp>
      <p:sp>
        <p:nvSpPr>
          <p:cNvPr id="3" name="Subtitle"/>
          <p:cNvSpPr txBox="1"/>
          <p:nvPr/>
        </p:nvSpPr>
        <p:spPr>
          <a:xfrm>
            <a:off x="680000" y="850000"/>
            <a:ext cx="110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20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1200" b="0">
                <a:solidFill>
                  <a:srgbClr val="5C6673"/>
                </a:solidFill>
                <a:latin typeface="Aptos"/>
                <a:ea typeface="Noto Sans CJK KR"/>
              </a:rPr>
              <a:t>메모리 특성을 구분해 설명</a:t>
            </a:r>
            <a:endParaRPr lang="ko-KR" sz="1200"/>
          </a:p>
        </p:txBody>
      </p:sp>
      <p:sp>
        <p:nvSpPr>
          <p:cNvPr id="4" name="Content"/>
          <p:cNvSpPr txBox="1"/>
          <p:nvPr/>
        </p:nvSpPr>
        <p:spPr>
          <a:xfrm>
            <a:off x="720000" y="1350000"/>
            <a:ext cx="11000000" cy="50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구현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iter_all()은 JSONL을 한 줄씩 Transaction으로 변환해 yield: repository.py:52–55. list는 deque(maxlen=limit)로 최근 N건 보관: repository.py:76–82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search의 한계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search는 일치 결과를 리스트로 모아 최신순 yield: repository.py:84–92. CLI도 list(...)로 구체화: cli.py:85–101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왜 유리한가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파일 전체를 한 번에 거래 객체 리스트로 만들지 않고 순차 처리할 수 있습니다. list의 보관량은 limit으로 제한됩니다. search는 결과 수에 따라 메모리가 늘어납니다.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데코레이터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log_execution은 상태·시간을 기록: decorators.py:39–55. handle_errors는 오류/힌트와 종료 코드를 공통 처리: decorators.py:16–36. 명령마다 중복 구현을 줄입니다.</a:t>
            </a:r>
            <a:endParaRPr lang="ko-KR" sz="1420"/>
          </a:p>
        </p:txBody>
      </p:sp>
      <p:sp>
        <p:nvSpPr>
          <p:cNvPr id="5" name="Footer"/>
          <p:cNvSpPr txBox="1"/>
          <p:nvPr/>
        </p:nvSpPr>
        <p:spPr>
          <a:xfrm>
            <a:off x="720000" y="6500000"/>
            <a:ext cx="10500000" cy="25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85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850" b="0">
                <a:solidFill>
                  <a:srgbClr val="5C6673"/>
                </a:solidFill>
                <a:latin typeface="Aptos"/>
                <a:ea typeface="Noto Sans CJK KR"/>
              </a:rPr>
              <a:t>코드 인용 형식: 파일 경로:행 번호  |  평가자 답변 자료</a:t>
            </a:r>
            <a:endParaRPr lang="ko-KR"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2500" b="1">
                <a:solidFill>
                  <a:srgbClr val="123462"/>
                </a:solidFill>
                <a:latin typeface="Aptos"/>
                <a:ea typeface="Noto Sans CJK KR"/>
              </a:defRPr>
            </a:pPr>
            <a:r>
              <a:rPr lang="ko-KR" sz="2500" b="1">
                <a:solidFill>
                  <a:srgbClr val="123462"/>
                </a:solidFill>
                <a:latin typeface="Aptos"/>
                <a:ea typeface="Noto Sans CJK KR"/>
              </a:rPr>
              <a:t>항목 3 | 타입 힌트의 이점</a:t>
            </a:r>
            <a:endParaRPr lang="ko-KR" sz="2500"/>
          </a:p>
        </p:txBody>
      </p:sp>
      <p:sp>
        <p:nvSpPr>
          <p:cNvPr id="3" name="Subtitle"/>
          <p:cNvSpPr txBox="1"/>
          <p:nvPr/>
        </p:nvSpPr>
        <p:spPr>
          <a:xfrm>
            <a:off x="680000" y="850000"/>
            <a:ext cx="110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20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1200" b="0">
                <a:solidFill>
                  <a:srgbClr val="5C6673"/>
                </a:solidFill>
                <a:latin typeface="Aptos"/>
                <a:ea typeface="Noto Sans CJK KR"/>
              </a:rPr>
              <a:t>함수 입출력 계약을 코드로 읽을 수 있음</a:t>
            </a:r>
            <a:endParaRPr lang="ko-KR" sz="1200"/>
          </a:p>
        </p:txBody>
      </p:sp>
      <p:sp>
        <p:nvSpPr>
          <p:cNvPr id="4" name="Content"/>
          <p:cNvSpPr txBox="1"/>
          <p:nvPr/>
        </p:nvSpPr>
        <p:spPr>
          <a:xfrm>
            <a:off x="720000" y="1350000"/>
            <a:ext cx="11000000" cy="50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실제 예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“def validate_amount(amount_str: str) -&gt; int” — service.py:52–59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선택값 예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검색 조건은 str | None, 결과는 Iterator[Transaction]: service.py:134–142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데이터 모델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Transaction 필드 타입: models.py:13–19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왜 도움이 되나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호출자와 유지보수자가 입력 종류, 반환값, 선택 가능한 조건을 빠르게 파악하고 IDE/정적 분석 도구가 실수를 찾는 데 도움을 받습니다. 타입 힌트만으로 런타임 입력 검증이 수행되지는 않습니다.</a:t>
            </a:r>
            <a:endParaRPr lang="ko-KR" sz="1420"/>
          </a:p>
        </p:txBody>
      </p:sp>
      <p:sp>
        <p:nvSpPr>
          <p:cNvPr id="5" name="Footer"/>
          <p:cNvSpPr txBox="1"/>
          <p:nvPr/>
        </p:nvSpPr>
        <p:spPr>
          <a:xfrm>
            <a:off x="720000" y="6500000"/>
            <a:ext cx="10500000" cy="25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85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850" b="0">
                <a:solidFill>
                  <a:srgbClr val="5C6673"/>
                </a:solidFill>
                <a:latin typeface="Aptos"/>
                <a:ea typeface="Noto Sans CJK KR"/>
              </a:rPr>
              <a:t>코드 인용 형식: 파일 경로:행 번호  |  평가자 답변 자료</a:t>
            </a:r>
            <a:endParaRPr lang="ko-KR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2500" b="1">
                <a:solidFill>
                  <a:srgbClr val="123462"/>
                </a:solidFill>
                <a:latin typeface="Aptos"/>
                <a:ea typeface="Noto Sans CJK KR"/>
              </a:defRPr>
            </a:pPr>
            <a:r>
              <a:rPr lang="ko-KR" sz="2500" b="1">
                <a:solidFill>
                  <a:srgbClr val="123462"/>
                </a:solidFill>
                <a:latin typeface="Aptos"/>
                <a:ea typeface="Noto Sans CJK KR"/>
              </a:rPr>
              <a:t>항목 4 | JSONL을 택한 이유</a:t>
            </a:r>
            <a:endParaRPr lang="ko-KR" sz="2500"/>
          </a:p>
        </p:txBody>
      </p:sp>
      <p:sp>
        <p:nvSpPr>
          <p:cNvPr id="3" name="Subtitle"/>
          <p:cNvSpPr txBox="1"/>
          <p:nvPr/>
        </p:nvSpPr>
        <p:spPr>
          <a:xfrm>
            <a:off x="680000" y="850000"/>
            <a:ext cx="110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20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1200" b="0">
                <a:solidFill>
                  <a:srgbClr val="5C6673"/>
                </a:solidFill>
                <a:latin typeface="Aptos"/>
                <a:ea typeface="Noto Sans CJK KR"/>
              </a:rPr>
              <a:t>CSV와 비교해 내부 저장에 맞춘 선택</a:t>
            </a:r>
            <a:endParaRPr lang="ko-KR" sz="1200"/>
          </a:p>
        </p:txBody>
      </p:sp>
      <p:sp>
        <p:nvSpPr>
          <p:cNvPr id="4" name="Content"/>
          <p:cNvSpPr txBox="1"/>
          <p:nvPr/>
        </p:nvSpPr>
        <p:spPr>
          <a:xfrm>
            <a:off x="720000" y="1350000"/>
            <a:ext cx="11000000" cy="50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JSONL 장점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한 줄이 JSON 객체 하나라 표준 라이브러리로 읽고 쓰기 쉽고, 거래 한 건 추가는 append로 처리할 수 있습니다. 현재 구현: repository.py:19–27, 40–43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JSONL 단점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텍스트 기반이라 조건 검색/집계에 인덱스가 없고 파일 전체를 순회합니다. 수정·삭제는 전체 파일 재작성 비용이 듭니다.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CSV 비교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CSV는 스프레드시트와 호환성이 높고 행/열 데이터 교환에 적합합니다. 하지만 태그 같은 중첩/목록 표현과 내부 데이터 타입 관리가 번거롭습니다.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선택 이유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내부는 거래별 구조를 쉽게 보존하고 append할 수 있는 JSONL, 외부 교환은 널리 쓰이는 CSV로 역할을 나눴습니다. CSV 구현: service.py:260–324</a:t>
            </a:r>
            <a:endParaRPr lang="ko-KR" sz="1420"/>
          </a:p>
        </p:txBody>
      </p:sp>
      <p:sp>
        <p:nvSpPr>
          <p:cNvPr id="5" name="Footer"/>
          <p:cNvSpPr txBox="1"/>
          <p:nvPr/>
        </p:nvSpPr>
        <p:spPr>
          <a:xfrm>
            <a:off x="720000" y="6500000"/>
            <a:ext cx="10500000" cy="25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85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850" b="0">
                <a:solidFill>
                  <a:srgbClr val="5C6673"/>
                </a:solidFill>
                <a:latin typeface="Aptos"/>
                <a:ea typeface="Noto Sans CJK KR"/>
              </a:rPr>
              <a:t>코드 인용 형식: 파일 경로:행 번호  |  평가자 답변 자료</a:t>
            </a:r>
            <a:endParaRPr lang="ko-KR" sz="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2500" b="1">
                <a:solidFill>
                  <a:srgbClr val="123462"/>
                </a:solidFill>
                <a:latin typeface="Aptos"/>
                <a:ea typeface="Noto Sans CJK KR"/>
              </a:defRPr>
            </a:pPr>
            <a:r>
              <a:rPr lang="ko-KR" sz="2500" b="1">
                <a:solidFill>
                  <a:srgbClr val="123462"/>
                </a:solidFill>
                <a:latin typeface="Aptos"/>
                <a:ea typeface="Noto Sans CJK KR"/>
              </a:rPr>
              <a:t>항목 4 | 10만 건에서 병목과 개선</a:t>
            </a:r>
            <a:endParaRPr lang="ko-KR" sz="2500"/>
          </a:p>
        </p:txBody>
      </p:sp>
      <p:sp>
        <p:nvSpPr>
          <p:cNvPr id="3" name="Subtitle"/>
          <p:cNvSpPr txBox="1"/>
          <p:nvPr/>
        </p:nvSpPr>
        <p:spPr>
          <a:xfrm>
            <a:off x="680000" y="850000"/>
            <a:ext cx="110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20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1200" b="0">
                <a:solidFill>
                  <a:srgbClr val="5C6673"/>
                </a:solidFill>
                <a:latin typeface="Aptos"/>
                <a:ea typeface="Noto Sans CJK KR"/>
              </a:rPr>
              <a:t>현재 코드에서 예상되는 비용을 근거와 함께 설명</a:t>
            </a:r>
            <a:endParaRPr lang="ko-KR" sz="1200"/>
          </a:p>
        </p:txBody>
      </p:sp>
      <p:sp>
        <p:nvSpPr>
          <p:cNvPr id="4" name="Content"/>
          <p:cNvSpPr txBox="1"/>
          <p:nvPr/>
        </p:nvSpPr>
        <p:spPr>
          <a:xfrm>
            <a:off x="720000" y="1350000"/>
            <a:ext cx="11000000" cy="50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병목 1: ID 생성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next_id()가 매 거래 추가마다 전체 파일을 훑습니다: repository.py:57–65. import도 행마다 add_transaction을 호출: service.py:268–283. 대량 import는 반복 전체 스캔으로 비용이 커질 수 있습니다.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병목 2: 검색/내보내기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검색은 JSONL 전체 순회 + 일치 결과 메모리 보관: repository.py:84–92. export도 전체 선택 결과를 리스트로 생성: service.py:298–313. 요약도 전체 파일을 순회: service.py:224–258.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병목 3: 수정/삭제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전체 읽기 후 전체 재작성: repository.py:94–116. 거래가 많을수록 파일 I/O 비용이 큽니다.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개선 방향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ID는 증가 카운터/메타데이터로 관리하고, CSV import는 ID를 한번에 예약하거나 일괄 저장합니다. 날짜·카테고리 인덱스, 페이지 단위 조회를 도입하고, 질의가 더 복잡해지면 SQLite로 이전합니다.</a:t>
            </a:r>
            <a:endParaRPr lang="ko-KR" sz="1420"/>
          </a:p>
        </p:txBody>
      </p:sp>
      <p:sp>
        <p:nvSpPr>
          <p:cNvPr id="5" name="Footer"/>
          <p:cNvSpPr txBox="1"/>
          <p:nvPr/>
        </p:nvSpPr>
        <p:spPr>
          <a:xfrm>
            <a:off x="720000" y="6500000"/>
            <a:ext cx="10500000" cy="25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85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850" b="0">
                <a:solidFill>
                  <a:srgbClr val="5C6673"/>
                </a:solidFill>
                <a:latin typeface="Aptos"/>
                <a:ea typeface="Noto Sans CJK KR"/>
              </a:rPr>
              <a:t>코드 인용 형식: 파일 경로:행 번호  |  평가자 답변 자료</a:t>
            </a:r>
            <a:endParaRPr lang="ko-KR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2500" b="1">
                <a:solidFill>
                  <a:srgbClr val="123462"/>
                </a:solidFill>
                <a:latin typeface="Aptos"/>
                <a:ea typeface="Noto Sans CJK KR"/>
              </a:defRPr>
            </a:pPr>
            <a:r>
              <a:rPr lang="ko-KR" sz="2500" b="1">
                <a:solidFill>
                  <a:srgbClr val="123462"/>
                </a:solidFill>
                <a:latin typeface="Aptos"/>
                <a:ea typeface="Noto Sans CJK KR"/>
              </a:rPr>
              <a:t>항목 4 | 깨진 CSV 행과 사용자 신뢰</a:t>
            </a:r>
            <a:endParaRPr lang="ko-KR" sz="2500"/>
          </a:p>
        </p:txBody>
      </p:sp>
      <p:sp>
        <p:nvSpPr>
          <p:cNvPr id="3" name="Subtitle"/>
          <p:cNvSpPr txBox="1"/>
          <p:nvPr/>
        </p:nvSpPr>
        <p:spPr>
          <a:xfrm>
            <a:off x="680000" y="850000"/>
            <a:ext cx="110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20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1200" b="0">
                <a:solidFill>
                  <a:srgbClr val="5C6673"/>
                </a:solidFill>
                <a:latin typeface="Aptos"/>
                <a:ea typeface="Noto Sans CJK KR"/>
              </a:rPr>
              <a:t>현재 처리는 행 단위 부분 성공이며, 리포트 개선 여지가 있음</a:t>
            </a:r>
            <a:endParaRPr lang="ko-KR" sz="1200"/>
          </a:p>
        </p:txBody>
      </p:sp>
      <p:sp>
        <p:nvSpPr>
          <p:cNvPr id="4" name="Content"/>
          <p:cNvSpPr txBox="1"/>
          <p:nvPr/>
        </p:nvSpPr>
        <p:spPr>
          <a:xfrm>
            <a:off x="720000" y="1350000"/>
            <a:ext cx="11000000" cy="50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현재 코드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각 행의 검증 오류 AppError/KeyError는 건너뛰고 나머지를 계속 처리합니다: service.py:268–283. CLI는 imported/skipped 수를 출력: cli.py:199–203.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현재 정책과 주의점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정상 행은 즉시 저장되는 부분 성공입니다. 따라서 이후 치명적 CSV/인코딩 오류가 나면 앞서 저장된 행은 남을 수 있습니다. 현재 skipped는 오류 이유나 행 번호를 알려주지 않습니다.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신뢰 개선안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행 번호·필드·오류 이유를 리포트로 저장하고 성공/실패 건수를 출력합니다. 전체 롤백이 필요하면 먼저 모든 행을 임시 저장소에서 검증한 뒤 한 번에 반영합니다.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사용자 안내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부분 성공인지 전체 취소인지 사전에 명시하고, 실패 행을 고쳐 재가져오기 쉽게 리포트 파일을 제공합니다.</a:t>
            </a:r>
            <a:endParaRPr lang="ko-KR" sz="1420"/>
          </a:p>
        </p:txBody>
      </p:sp>
      <p:sp>
        <p:nvSpPr>
          <p:cNvPr id="5" name="Footer"/>
          <p:cNvSpPr txBox="1"/>
          <p:nvPr/>
        </p:nvSpPr>
        <p:spPr>
          <a:xfrm>
            <a:off x="720000" y="6500000"/>
            <a:ext cx="10500000" cy="25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85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850" b="0">
                <a:solidFill>
                  <a:srgbClr val="5C6673"/>
                </a:solidFill>
                <a:latin typeface="Aptos"/>
                <a:ea typeface="Noto Sans CJK KR"/>
              </a:rPr>
              <a:t>코드 인용 형식: 파일 경로:행 번호  |  평가자 답변 자료</a:t>
            </a:r>
            <a:endParaRPr lang="ko-KR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0000" y="3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2500" b="1">
                <a:solidFill>
                  <a:srgbClr val="123462"/>
                </a:solidFill>
                <a:latin typeface="Aptos"/>
                <a:ea typeface="Noto Sans CJK KR"/>
              </a:defRPr>
            </a:pPr>
            <a:r>
              <a:rPr lang="ko-KR" sz="2500" b="1">
                <a:solidFill>
                  <a:srgbClr val="123462"/>
                </a:solidFill>
                <a:latin typeface="Aptos"/>
                <a:ea typeface="Noto Sans CJK KR"/>
              </a:rPr>
              <a:t>마무리 | 평가 답변 한 문단</a:t>
            </a:r>
            <a:endParaRPr lang="ko-KR" sz="2500"/>
          </a:p>
        </p:txBody>
      </p:sp>
      <p:sp>
        <p:nvSpPr>
          <p:cNvPr id="3" name="Subtitle"/>
          <p:cNvSpPr txBox="1"/>
          <p:nvPr/>
        </p:nvSpPr>
        <p:spPr>
          <a:xfrm>
            <a:off x="680000" y="850000"/>
            <a:ext cx="110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20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1200" b="0">
                <a:solidFill>
                  <a:srgbClr val="5C6673"/>
                </a:solidFill>
                <a:latin typeface="Aptos"/>
                <a:ea typeface="Noto Sans CJK KR"/>
              </a:rPr>
              <a:t>구현 사실과 한계, 개선 계획을 분리해 말하기</a:t>
            </a:r>
            <a:endParaRPr lang="ko-KR" sz="1200"/>
          </a:p>
        </p:txBody>
      </p:sp>
      <p:sp>
        <p:nvSpPr>
          <p:cNvPr id="4" name="Content"/>
          <p:cNvSpPr txBox="1"/>
          <p:nvPr/>
        </p:nvSpPr>
        <p:spPr>
          <a:xfrm>
            <a:off x="720000" y="1350000"/>
            <a:ext cx="11000000" cy="50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요약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“JSONL로 거래·카테고리·예산을 저장하고, CLI/서비스/저장소/모델로 책임을 나눴습니다. 파일은 한 줄씩 읽고, 목록은 최근 N건만 보관합니다. 업데이트와 삭제는 임시 파일에 기록한 뒤 교체합니다.”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정직한 보충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“검색은 최신순을 위해 일치 결과를 모으고, import는 행 단위 부분 성공입니다. 10만 건 수준에서는 반복 전체 스캔과 재작성, 실패 행 상세 리포트를 개선하겠습니다.”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• 자료 근거</a:t>
            </a:r>
            <a:endParaRPr lang="ko-KR" sz="1420"/>
          </a:p>
          <a:p>
            <a:pPr marL="0" indent="0">
              <a:defRPr sz="1420" b="0">
                <a:solidFill>
                  <a:srgbClr val="222222"/>
                </a:solidFill>
                <a:latin typeface="Aptos"/>
                <a:ea typeface="Noto Sans CJK KR"/>
              </a:defRPr>
            </a:pPr>
            <a:r>
              <a:rPr lang="ko-KR" sz="1420" b="0">
                <a:solidFill>
                  <a:srgbClr val="222222"/>
                </a:solidFill>
                <a:latin typeface="Aptos"/>
                <a:ea typeface="Noto Sans CJK KR"/>
              </a:rPr>
              <a:t>코드 인용은 현재 소스 기준 행 번호입니다. 제출 실행결과는 제출/results/ 및 제출/02_실행결과.md에서 확인할 수 있습니다.</a:t>
            </a:r>
            <a:endParaRPr lang="ko-KR" sz="1420"/>
          </a:p>
        </p:txBody>
      </p:sp>
      <p:sp>
        <p:nvSpPr>
          <p:cNvPr id="5" name="Footer"/>
          <p:cNvSpPr txBox="1"/>
          <p:nvPr/>
        </p:nvSpPr>
        <p:spPr>
          <a:xfrm>
            <a:off x="720000" y="6500000"/>
            <a:ext cx="10500000" cy="25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defRPr sz="850" b="0">
                <a:solidFill>
                  <a:srgbClr val="5C6673"/>
                </a:solidFill>
                <a:latin typeface="Aptos"/>
                <a:ea typeface="Noto Sans CJK KR"/>
              </a:defRPr>
            </a:pPr>
            <a:r>
              <a:rPr lang="ko-KR" sz="850" b="0">
                <a:solidFill>
                  <a:srgbClr val="5C6673"/>
                </a:solidFill>
                <a:latin typeface="Aptos"/>
                <a:ea typeface="Noto Sans CJK KR"/>
              </a:rPr>
              <a:t>코드 인용 형식: 파일 경로:행 번호  |  평가자 답변 자료</a:t>
            </a:r>
            <a:endParaRPr lang="ko-KR"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462"/>
                </a:solidFill>
              </a:defRPr>
            </a:pPr>
            <a:r>
              <a:t>마무리: 짧게 설명하기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104698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664207"/>
            <a:ext cx="10067544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발표 요약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가계부 데이터는 거래·카테고리·예산 JSONL 파일로 저장합니다.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CLI, 서비스, 저장소, 모델로 책임을 나눴습니다.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파일은 제너레이터로 한 줄씩 읽고, 목록 조회는 최근 N건만 보관합니다.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수정·삭제는 임시 파일 작성 후 교체해 원본 손상 위험을 줄입니다.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공통 오류 처리와 실행 기록은 데코레이터로 적용했습니다.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11</ns0:Slides>
  <ns0:Notes>0</ns0:Notes>
  <ns0:HiddenSlides>11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